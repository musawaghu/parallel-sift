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3.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4.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7dd4df8-cbb9-997d-5976-178a57a6f145}">
          <p14:sldIdLst>
            <p14:sldId id="256"/>
            <p14:sldId id="257"/>
          </p14:sldIdLst>
        </p14:section>
        <p14:section name="Background" id="{c1b2ba21-9392-1441-8851-42c3435c2c9c}">
          <p14:sldIdLst>
            <p14:sldId id="258"/>
            <p14:sldId id="259"/>
            <p14:sldId id="260"/>
            <p14:sldId id="261"/>
            <p14:sldId id="262"/>
          </p14:sldIdLst>
        </p14:section>
        <p14:section name="The 2023 study" id="{915abd5d-76cd-e64e-a318-c27a2d8583be}">
          <p14:sldIdLst>
            <p14:sldId id="263"/>
            <p14:sldId id="264"/>
            <p14:sldId id="265"/>
            <p14:sldId id="266"/>
          </p14:sldIdLst>
        </p14:section>
        <p14:section name="Diagnosis" id="{bd35576f-dd56-c65f-5f78-54cf015d04ab}">
          <p14:sldIdLst>
            <p14:sldId id="267"/>
            <p14:sldId id="268"/>
            <p14:sldId id="269"/>
          </p14:sldIdLst>
        </p14:section>
        <p14:section name="The fix" id="{c1e50aa3-df0c-067f-c83a-574456d1671c}">
          <p14:sldIdLst>
            <p14:sldId id="270"/>
            <p14:sldId id="271"/>
            <p14:sldId id="272"/>
            <p14:sldId id="273"/>
            <p14:sldId id="274"/>
            <p14:sldId id="275"/>
            <p14:sldId id="276"/>
            <p14:sldId id="277"/>
          </p14:sldIdLst>
        </p14:section>
        <p14:section name="Conclusions" id="{9dbea07d-7f2a-b9a9-d29e-26801cede115}">
          <p14:sldIdLst>
            <p14:sldId id="278"/>
            <p14:sldId id="279"/>
            <p14:sldId id="280"/>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4 tiles (threads)</c:v>
                </c:pt>
              </c:strCache>
            </c:strRef>
          </c:tx>
          <c:spPr>
            <a:solidFill>
              <a:srgbClr val="9AA5AB"/>
            </a:solidFill>
            <a:effectLst/>
          </c:spPr>
          <c:invertIfNegative val="0"/>
          <c:dLbls>
            <c:numFmt formatCode="#,##0"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showLeaderLines val="0"/>
          </c:dLbls>
          <c:cat>
            <c:multiLvlStrRef>
              <c:f>Sheet1!$A$2:$A$37</c:f>
              <c:multiLvlStrCache>
                <c:ptCount val="36"/>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lvl>
              </c:multiLvlStrCache>
            </c:multiLvlStrRef>
          </c:cat>
          <c:val>
            <c:numRef>
              <c:f>Sheet1!$B$2:$B$37</c:f>
              <c:numCache>
                <c:formatCode>General</c:formatCode>
                <c:ptCount val="36"/>
                <c:pt idx="0">
                  <c:v>62.7</c:v>
                </c:pt>
                <c:pt idx="1">
                  <c:v>78.8</c:v>
                </c:pt>
                <c:pt idx="2">
                  <c:v>77.5</c:v>
                </c:pt>
                <c:pt idx="3">
                  <c:v>76</c:v>
                </c:pt>
                <c:pt idx="4">
                  <c:v>70.5</c:v>
                </c:pt>
                <c:pt idx="5">
                  <c:v>77.5</c:v>
                </c:pt>
                <c:pt idx="6">
                  <c:v>93.4</c:v>
                </c:pt>
                <c:pt idx="7">
                  <c:v>71.7</c:v>
                </c:pt>
                <c:pt idx="8">
                  <c:v>93.5</c:v>
                </c:pt>
                <c:pt idx="9">
                  <c:v>71</c:v>
                </c:pt>
                <c:pt idx="10">
                  <c:v>97.9</c:v>
                </c:pt>
                <c:pt idx="11">
                  <c:v>54.9</c:v>
                </c:pt>
                <c:pt idx="12">
                  <c:v>73.8</c:v>
                </c:pt>
                <c:pt idx="13">
                  <c:v>75.5</c:v>
                </c:pt>
                <c:pt idx="14">
                  <c:v>77.6</c:v>
                </c:pt>
                <c:pt idx="15">
                  <c:v>57.3</c:v>
                </c:pt>
                <c:pt idx="16">
                  <c:v>61.2</c:v>
                </c:pt>
                <c:pt idx="17">
                  <c:v>71</c:v>
                </c:pt>
                <c:pt idx="18">
                  <c:v>70.9</c:v>
                </c:pt>
                <c:pt idx="19">
                  <c:v>111</c:v>
                </c:pt>
                <c:pt idx="20">
                  <c:v>116.1</c:v>
                </c:pt>
                <c:pt idx="21">
                  <c:v>62.8</c:v>
                </c:pt>
                <c:pt idx="22">
                  <c:v>89.4</c:v>
                </c:pt>
                <c:pt idx="23">
                  <c:v>65.8</c:v>
                </c:pt>
                <c:pt idx="24">
                  <c:v>123.9</c:v>
                </c:pt>
                <c:pt idx="25">
                  <c:v>133.9</c:v>
                </c:pt>
                <c:pt idx="26">
                  <c:v>106</c:v>
                </c:pt>
                <c:pt idx="27">
                  <c:v>76.8</c:v>
                </c:pt>
                <c:pt idx="28">
                  <c:v>57.6</c:v>
                </c:pt>
                <c:pt idx="29">
                  <c:v>55.3</c:v>
                </c:pt>
                <c:pt idx="30">
                  <c:v>61.6</c:v>
                </c:pt>
                <c:pt idx="31">
                  <c:v>130.8</c:v>
                </c:pt>
                <c:pt idx="32">
                  <c:v>72.8</c:v>
                </c:pt>
                <c:pt idx="33">
                  <c:v>80.9</c:v>
                </c:pt>
                <c:pt idx="34">
                  <c:v>95.1</c:v>
                </c:pt>
                <c:pt idx="35">
                  <c:v>102.7</c:v>
                </c:pt>
              </c:numCache>
            </c:numRef>
          </c:val>
        </c:ser>
        <c:ser>
          <c:idx val="1"/>
          <c:order val="1"/>
          <c:tx>
            <c:strRef>
              <c:f>Sheet1!$C$1</c:f>
              <c:strCache>
                <c:ptCount val="1"/>
                <c:pt idx="0">
                  <c:v>16 tiles (threads)</c:v>
                </c:pt>
              </c:strCache>
            </c:strRef>
          </c:tx>
          <c:spPr>
            <a:solidFill>
              <a:srgbClr val="F2B830"/>
            </a:solidFill>
            <a:effectLst/>
          </c:spPr>
          <c:invertIfNegative val="0"/>
          <c:dLbls>
            <c:numFmt formatCode="#,##0"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showLeaderLines val="0"/>
          </c:dLbls>
          <c:cat>
            <c:multiLvlStrRef>
              <c:f>Sheet1!$A$2:$A$37</c:f>
              <c:multiLvlStrCache>
                <c:ptCount val="36"/>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lvl>
              </c:multiLvlStrCache>
            </c:multiLvlStrRef>
          </c:cat>
          <c:val>
            <c:numRef>
              <c:f>Sheet1!$C$2:$C$37</c:f>
              <c:numCache>
                <c:formatCode>General</c:formatCode>
                <c:ptCount val="36"/>
                <c:pt idx="0">
                  <c:v>56</c:v>
                </c:pt>
                <c:pt idx="1">
                  <c:v>74.5</c:v>
                </c:pt>
                <c:pt idx="2">
                  <c:v>72.5</c:v>
                </c:pt>
                <c:pt idx="3">
                  <c:v>71.6</c:v>
                </c:pt>
                <c:pt idx="4">
                  <c:v>65.2</c:v>
                </c:pt>
                <c:pt idx="5">
                  <c:v>74.1</c:v>
                </c:pt>
                <c:pt idx="6">
                  <c:v>89.8</c:v>
                </c:pt>
                <c:pt idx="7">
                  <c:v>70</c:v>
                </c:pt>
                <c:pt idx="8">
                  <c:v>90.1</c:v>
                </c:pt>
                <c:pt idx="9">
                  <c:v>69.4</c:v>
                </c:pt>
                <c:pt idx="10">
                  <c:v>94.5</c:v>
                </c:pt>
                <c:pt idx="11">
                  <c:v>53.6</c:v>
                </c:pt>
                <c:pt idx="12">
                  <c:v>74.1</c:v>
                </c:pt>
                <c:pt idx="13">
                  <c:v>74.9</c:v>
                </c:pt>
                <c:pt idx="14">
                  <c:v>76.6</c:v>
                </c:pt>
                <c:pt idx="15">
                  <c:v>58.4</c:v>
                </c:pt>
                <c:pt idx="16">
                  <c:v>60.4</c:v>
                </c:pt>
                <c:pt idx="17">
                  <c:v>71.9</c:v>
                </c:pt>
                <c:pt idx="18">
                  <c:v>71.5</c:v>
                </c:pt>
                <c:pt idx="19">
                  <c:v>111.5</c:v>
                </c:pt>
                <c:pt idx="20">
                  <c:v>115.6</c:v>
                </c:pt>
                <c:pt idx="21">
                  <c:v>62.1</c:v>
                </c:pt>
                <c:pt idx="22">
                  <c:v>89.4</c:v>
                </c:pt>
                <c:pt idx="23">
                  <c:v>66.2</c:v>
                </c:pt>
                <c:pt idx="24">
                  <c:v>126.3</c:v>
                </c:pt>
                <c:pt idx="25">
                  <c:v>134</c:v>
                </c:pt>
                <c:pt idx="26">
                  <c:v>105.9</c:v>
                </c:pt>
                <c:pt idx="27">
                  <c:v>77.6</c:v>
                </c:pt>
                <c:pt idx="28">
                  <c:v>57.6</c:v>
                </c:pt>
                <c:pt idx="29">
                  <c:v>54.5</c:v>
                </c:pt>
                <c:pt idx="30">
                  <c:v>61.1</c:v>
                </c:pt>
                <c:pt idx="31">
                  <c:v>129.9</c:v>
                </c:pt>
                <c:pt idx="32">
                  <c:v>72.2</c:v>
                </c:pt>
                <c:pt idx="33">
                  <c:v>82.6</c:v>
                </c:pt>
                <c:pt idx="34">
                  <c:v>95.5</c:v>
                </c:pt>
                <c:pt idx="35">
                  <c:v>103.6</c:v>
                </c:pt>
              </c:numCache>
            </c:numRef>
          </c:val>
        </c:ser>
        <c:dLbls>
          <c:numFmt formatCode="#,##0"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CFD8DC"/>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546E7A"/>
              </a:solidFill>
              <a:prstDash val="solid"/>
              <a:round/>
            </a:ln>
          </c:spPr>
        </c:majorGridlines>
        <c:title>
          <c:tx>
            <c:rich>
              <a:bodyPr/>
              <a:lstStyle/>
              <a:p>
                <a:pPr>
                  <a:defRPr sz="1100" b="0" i="0" u="none" strike="noStrike">
                    <a:solidFill>
                      <a:srgbClr val="CFD8DC"/>
                    </a:solidFill>
                    <a:latin typeface="+mn-lt"/>
                  </a:defRPr>
                </a:pPr>
                <a:r>
                  <a:rPr sz="1100" b="0" i="0" u="none" strike="noStrike">
                    <a:solidFill>
                      <a:srgbClr val="CFD8DC"/>
                    </a:solidFill>
                    <a:latin typeface="+mn-lt"/>
                  </a:rPr>
                  <a:t>Seconds per image</a:t>
                </a:r>
              </a:p>
            </c:rich>
          </c:tx>
          <c:layout/>
          <c:overlay val="0"/>
        </c:title>
        <c:numFmt formatCode="General" sourceLinked="0"/>
        <c:majorTickMark val="out"/>
        <c:minorTickMark val="none"/>
        <c:tickLblPos val="nextTo"/>
        <c:spPr>
          <a:ln w="12700" cap="flat">
            <a:noFill/>
            <a:prstDash val="solid"/>
            <a:round/>
          </a:ln>
        </c:spPr>
        <c:txPr>
          <a:bodyPr/>
          <a:lstStyle/>
          <a:p>
            <a:pPr>
              <a:defRPr sz="1100" b="0" i="0" u="none" strike="noStrike">
                <a:solidFill>
                  <a:srgbClr val="CFD8DC"/>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CFD8DC"/>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Serial (tiles)</c:v>
                </c:pt>
              </c:strCache>
            </c:strRef>
          </c:tx>
          <c:spPr>
            <a:solidFill>
              <a:srgbClr val="9AA5AB"/>
            </a:solidFill>
            <a:effectLst/>
          </c:spPr>
          <c:invertIfNegative val="0"/>
          <c:dLbls>
            <c:numFmt formatCode="0.0"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cat>
            <c:multiLvlStrRef>
              <c:f>Sheet1!$A$2:$A$3</c:f>
              <c:multiLvlStrCache>
                <c:ptCount val="2"/>
                <c:lvl>
                  <c:pt idx="0">
                    <c:v>4 tiles</c:v>
                  </c:pt>
                  <c:pt idx="1">
                    <c:v>16 tiles</c:v>
                  </c:pt>
                </c:lvl>
              </c:multiLvlStrCache>
            </c:multiLvlStrRef>
          </c:cat>
          <c:val>
            <c:numRef>
              <c:f>Sheet1!$B$2:$B$3</c:f>
              <c:numCache>
                <c:formatCode>General</c:formatCode>
                <c:ptCount val="2"/>
                <c:pt idx="0">
                  <c:v>1</c:v>
                </c:pt>
                <c:pt idx="1">
                  <c:v>1</c:v>
                </c:pt>
              </c:numCache>
            </c:numRef>
          </c:val>
        </c:ser>
        <c:ser>
          <c:idx val="1"/>
          <c:order val="1"/>
          <c:tx>
            <c:strRef>
              <c:f>Sheet1!$C$1</c:f>
              <c:strCache>
                <c:ptCount val="1"/>
                <c:pt idx="0">
                  <c:v>Threads (GIL)</c:v>
                </c:pt>
              </c:strCache>
            </c:strRef>
          </c:tx>
          <c:spPr>
            <a:solidFill>
              <a:srgbClr val="E8703A"/>
            </a:solidFill>
            <a:effectLst/>
          </c:spPr>
          <c:invertIfNegative val="0"/>
          <c:dLbls>
            <c:numFmt formatCode="0.0"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cat>
            <c:multiLvlStrRef>
              <c:f>Sheet1!$A$2:$A$3</c:f>
              <c:multiLvlStrCache>
                <c:ptCount val="2"/>
                <c:lvl>
                  <c:pt idx="0">
                    <c:v>4 tiles</c:v>
                  </c:pt>
                  <c:pt idx="1">
                    <c:v>16 tiles</c:v>
                  </c:pt>
                </c:lvl>
              </c:multiLvlStrCache>
            </c:multiLvlStrRef>
          </c:cat>
          <c:val>
            <c:numRef>
              <c:f>Sheet1!$C$2:$C$3</c:f>
              <c:numCache>
                <c:formatCode>General</c:formatCode>
                <c:ptCount val="2"/>
                <c:pt idx="0">
                  <c:v>1</c:v>
                </c:pt>
                <c:pt idx="1">
                  <c:v>1</c:v>
                </c:pt>
              </c:numCache>
            </c:numRef>
          </c:val>
        </c:ser>
        <c:ser>
          <c:idx val="2"/>
          <c:order val="2"/>
          <c:tx>
            <c:strRef>
              <c:f>Sheet1!$D$1</c:f>
              <c:strCache>
                <c:ptCount val="1"/>
                <c:pt idx="0">
                  <c:v>Processes</c:v>
                </c:pt>
              </c:strCache>
            </c:strRef>
          </c:tx>
          <c:spPr>
            <a:solidFill>
              <a:srgbClr val="3987E5"/>
            </a:solidFill>
            <a:effectLst/>
          </c:spPr>
          <c:invertIfNegative val="0"/>
          <c:dLbls>
            <c:numFmt formatCode="0.0"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cat>
            <c:multiLvlStrRef>
              <c:f>Sheet1!$A$2:$A$3</c:f>
              <c:multiLvlStrCache>
                <c:ptCount val="2"/>
                <c:lvl>
                  <c:pt idx="0">
                    <c:v>4 tiles</c:v>
                  </c:pt>
                  <c:pt idx="1">
                    <c:v>16 tiles</c:v>
                  </c:pt>
                </c:lvl>
              </c:multiLvlStrCache>
            </c:multiLvlStrRef>
          </c:cat>
          <c:val>
            <c:numRef>
              <c:f>Sheet1!$D$2:$D$3</c:f>
              <c:numCache>
                <c:formatCode>General</c:formatCode>
                <c:ptCount val="2"/>
                <c:pt idx="0">
                  <c:v>3.5</c:v>
                </c:pt>
                <c:pt idx="1">
                  <c:v>9.4</c:v>
                </c:pt>
              </c:numCache>
            </c:numRef>
          </c:val>
        </c:ser>
        <c:ser>
          <c:idx val="3"/>
          <c:order val="3"/>
          <c:tx>
            <c:strRef>
              <c:f>Sheet1!$E$1</c:f>
              <c:strCache>
                <c:ptCount val="1"/>
                <c:pt idx="0">
                  <c:v>No-GIL threads</c:v>
                </c:pt>
              </c:strCache>
            </c:strRef>
          </c:tx>
          <c:spPr>
            <a:solidFill>
              <a:srgbClr val="25B07F"/>
            </a:solidFill>
            <a:effectLst/>
          </c:spPr>
          <c:invertIfNegative val="0"/>
          <c:dLbls>
            <c:numFmt formatCode="0.0"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cat>
            <c:multiLvlStrRef>
              <c:f>Sheet1!$A$2:$A$3</c:f>
              <c:multiLvlStrCache>
                <c:ptCount val="2"/>
                <c:lvl>
                  <c:pt idx="0">
                    <c:v>4 tiles</c:v>
                  </c:pt>
                  <c:pt idx="1">
                    <c:v>16 tiles</c:v>
                  </c:pt>
                </c:lvl>
              </c:multiLvlStrCache>
            </c:multiLvlStrRef>
          </c:cat>
          <c:val>
            <c:numRef>
              <c:f>Sheet1!$E$2:$E$3</c:f>
              <c:numCache>
                <c:formatCode>General</c:formatCode>
                <c:ptCount val="2"/>
                <c:pt idx="0">
                  <c:v>3.5</c:v>
                </c:pt>
                <c:pt idx="1">
                  <c:v>9.7</c:v>
                </c:pt>
              </c:numCache>
            </c:numRef>
          </c:val>
        </c:ser>
        <c:dLbls>
          <c:numFmt formatCode="0.0"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CFD8DC"/>
                </a:solidFill>
                <a:latin typeface="+mn-lt"/>
              </a:defRPr>
            </a:pPr>
            <a:endParaRPr lang="en-US"/>
          </a:p>
        </c:txPr>
        <c:crossAx val="2094734552"/>
        <c:crosses val="autoZero"/>
        <c:auto val="1"/>
        <c:lblAlgn val="ctr"/>
        <c:noMultiLvlLbl val="1"/>
      </c:catAx>
      <c:valAx>
        <c:axId val="2094734552"/>
        <c:scaling>
          <c:orientation val="minMax"/>
          <c:max val="11"/>
          <c:min val="0"/>
        </c:scaling>
        <c:delete val="0"/>
        <c:axPos val="l"/>
        <c:majorGridlines>
          <c:spPr>
            <a:ln w="6350" cap="flat">
              <a:solidFill>
                <a:srgbClr val="546E7A"/>
              </a:solidFill>
              <a:prstDash val="solid"/>
              <a:round/>
            </a:ln>
          </c:spPr>
        </c:majorGridlines>
        <c:title>
          <c:tx>
            <c:rich>
              <a:bodyPr/>
              <a:lstStyle/>
              <a:p>
                <a:pPr>
                  <a:defRPr sz="1100" b="0" i="0" u="none" strike="noStrike">
                    <a:solidFill>
                      <a:srgbClr val="CFD8DC"/>
                    </a:solidFill>
                    <a:latin typeface="+mn-lt"/>
                  </a:defRPr>
                </a:pPr>
                <a:r>
                  <a:rPr sz="1100" b="0" i="0" u="none" strike="noStrike">
                    <a:solidFill>
                      <a:srgbClr val="CFD8DC"/>
                    </a:solidFill>
                    <a:latin typeface="+mn-lt"/>
                  </a:rPr>
                  <a:t>CPU cores busy (average)</a:t>
                </a:r>
              </a:p>
            </c:rich>
          </c:tx>
          <c:layout/>
          <c:overlay val="0"/>
        </c:title>
        <c:numFmt formatCode="General" sourceLinked="0"/>
        <c:majorTickMark val="out"/>
        <c:minorTickMark val="none"/>
        <c:tickLblPos val="nextTo"/>
        <c:spPr>
          <a:ln w="12700" cap="flat">
            <a:noFill/>
            <a:prstDash val="solid"/>
            <a:round/>
          </a:ln>
        </c:spPr>
        <c:txPr>
          <a:bodyPr/>
          <a:lstStyle/>
          <a:p>
            <a:pPr>
              <a:defRPr sz="1100" b="0" i="0" u="none" strike="noStrike">
                <a:solidFill>
                  <a:srgbClr val="CFD8DC"/>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CFD8DC"/>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Serial (tiles)</c:v>
                </c:pt>
              </c:strCache>
            </c:strRef>
          </c:tx>
          <c:spPr>
            <a:solidFill>
              <a:srgbClr val="9AA5AB"/>
            </a:solidFill>
            <a:effectLst/>
          </c:spPr>
          <c:invertIfNegative val="0"/>
          <c:dLbls>
            <c:numFmt formatCode="0.0&quot;×&quot;"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cat>
            <c:multiLvlStrRef>
              <c:f>Sheet1!$A$2:$A$3</c:f>
              <c:multiLvlStrCache>
                <c:ptCount val="2"/>
                <c:lvl>
                  <c:pt idx="0">
                    <c:v>4 tiles</c:v>
                  </c:pt>
                  <c:pt idx="1">
                    <c:v>16 tiles</c:v>
                  </c:pt>
                </c:lvl>
              </c:multiLvlStrCache>
            </c:multiLvlStrRef>
          </c:cat>
          <c:val>
            <c:numRef>
              <c:f>Sheet1!$B$2:$B$3</c:f>
              <c:numCache>
                <c:formatCode>General</c:formatCode>
                <c:ptCount val="2"/>
                <c:pt idx="0">
                  <c:v>1.05</c:v>
                </c:pt>
                <c:pt idx="1">
                  <c:v>1.14</c:v>
                </c:pt>
              </c:numCache>
            </c:numRef>
          </c:val>
        </c:ser>
        <c:ser>
          <c:idx val="1"/>
          <c:order val="1"/>
          <c:tx>
            <c:strRef>
              <c:f>Sheet1!$C$1</c:f>
              <c:strCache>
                <c:ptCount val="1"/>
                <c:pt idx="0">
                  <c:v>Threads (GIL)</c:v>
                </c:pt>
              </c:strCache>
            </c:strRef>
          </c:tx>
          <c:spPr>
            <a:solidFill>
              <a:srgbClr val="E8703A"/>
            </a:solidFill>
            <a:effectLst/>
          </c:spPr>
          <c:invertIfNegative val="0"/>
          <c:dLbls>
            <c:numFmt formatCode="0.0&quot;×&quot;"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cat>
            <c:multiLvlStrRef>
              <c:f>Sheet1!$A$2:$A$3</c:f>
              <c:multiLvlStrCache>
                <c:ptCount val="2"/>
                <c:lvl>
                  <c:pt idx="0">
                    <c:v>4 tiles</c:v>
                  </c:pt>
                  <c:pt idx="1">
                    <c:v>16 tiles</c:v>
                  </c:pt>
                </c:lvl>
              </c:multiLvlStrCache>
            </c:multiLvlStrRef>
          </c:cat>
          <c:val>
            <c:numRef>
              <c:f>Sheet1!$C$2:$C$3</c:f>
              <c:numCache>
                <c:formatCode>General</c:formatCode>
                <c:ptCount val="2"/>
                <c:pt idx="0">
                  <c:v>1.04</c:v>
                </c:pt>
                <c:pt idx="1">
                  <c:v>1.13</c:v>
                </c:pt>
              </c:numCache>
            </c:numRef>
          </c:val>
        </c:ser>
        <c:ser>
          <c:idx val="2"/>
          <c:order val="2"/>
          <c:tx>
            <c:strRef>
              <c:f>Sheet1!$D$1</c:f>
              <c:strCache>
                <c:ptCount val="1"/>
                <c:pt idx="0">
                  <c:v>Processes</c:v>
                </c:pt>
              </c:strCache>
            </c:strRef>
          </c:tx>
          <c:spPr>
            <a:solidFill>
              <a:srgbClr val="3987E5"/>
            </a:solidFill>
            <a:effectLst/>
          </c:spPr>
          <c:invertIfNegative val="0"/>
          <c:dLbls>
            <c:numFmt formatCode="0.0&quot;×&quot;"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cat>
            <c:multiLvlStrRef>
              <c:f>Sheet1!$A$2:$A$3</c:f>
              <c:multiLvlStrCache>
                <c:ptCount val="2"/>
                <c:lvl>
                  <c:pt idx="0">
                    <c:v>4 tiles</c:v>
                  </c:pt>
                  <c:pt idx="1">
                    <c:v>16 tiles</c:v>
                  </c:pt>
                </c:lvl>
              </c:multiLvlStrCache>
            </c:multiLvlStrRef>
          </c:cat>
          <c:val>
            <c:numRef>
              <c:f>Sheet1!$D$2:$D$3</c:f>
              <c:numCache>
                <c:formatCode>General</c:formatCode>
                <c:ptCount val="2"/>
                <c:pt idx="0">
                  <c:v>3.42</c:v>
                </c:pt>
                <c:pt idx="1">
                  <c:v>6.65</c:v>
                </c:pt>
              </c:numCache>
            </c:numRef>
          </c:val>
        </c:ser>
        <c:ser>
          <c:idx val="3"/>
          <c:order val="3"/>
          <c:tx>
            <c:strRef>
              <c:f>Sheet1!$E$1</c:f>
              <c:strCache>
                <c:ptCount val="1"/>
                <c:pt idx="0">
                  <c:v>No-GIL threads</c:v>
                </c:pt>
              </c:strCache>
            </c:strRef>
          </c:tx>
          <c:spPr>
            <a:solidFill>
              <a:srgbClr val="25B07F"/>
            </a:solidFill>
            <a:effectLst/>
          </c:spPr>
          <c:invertIfNegative val="0"/>
          <c:dLbls>
            <c:numFmt formatCode="0.0&quot;×&quot;"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cat>
            <c:multiLvlStrRef>
              <c:f>Sheet1!$A$2:$A$3</c:f>
              <c:multiLvlStrCache>
                <c:ptCount val="2"/>
                <c:lvl>
                  <c:pt idx="0">
                    <c:v>4 tiles</c:v>
                  </c:pt>
                  <c:pt idx="1">
                    <c:v>16 tiles</c:v>
                  </c:pt>
                </c:lvl>
              </c:multiLvlStrCache>
            </c:multiLvlStrRef>
          </c:cat>
          <c:val>
            <c:numRef>
              <c:f>Sheet1!$E$2:$E$3</c:f>
              <c:numCache>
                <c:formatCode>General</c:formatCode>
                <c:ptCount val="2"/>
                <c:pt idx="0">
                  <c:v>3.3</c:v>
                </c:pt>
                <c:pt idx="1">
                  <c:v>5.82</c:v>
                </c:pt>
              </c:numCache>
            </c:numRef>
          </c:val>
        </c:ser>
        <c:dLbls>
          <c:numFmt formatCode="0.0&quot;×&quot;"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CFD8DC"/>
                </a:solidFill>
                <a:latin typeface="+mn-lt"/>
              </a:defRPr>
            </a:pPr>
            <a:endParaRPr lang="en-US"/>
          </a:p>
        </c:txPr>
        <c:crossAx val="2094734552"/>
        <c:crosses val="autoZero"/>
        <c:auto val="1"/>
        <c:lblAlgn val="ctr"/>
        <c:noMultiLvlLbl val="1"/>
      </c:catAx>
      <c:valAx>
        <c:axId val="2094734552"/>
        <c:scaling>
          <c:orientation val="minMax"/>
          <c:max val="8"/>
          <c:min val="0"/>
        </c:scaling>
        <c:delete val="0"/>
        <c:axPos val="l"/>
        <c:majorGridlines>
          <c:spPr>
            <a:ln w="6350" cap="flat">
              <a:solidFill>
                <a:srgbClr val="546E7A"/>
              </a:solidFill>
              <a:prstDash val="solid"/>
              <a:round/>
            </a:ln>
          </c:spPr>
        </c:majorGridlines>
        <c:title>
          <c:tx>
            <c:rich>
              <a:bodyPr/>
              <a:lstStyle/>
              <a:p>
                <a:pPr>
                  <a:defRPr sz="1100" b="0" i="0" u="none" strike="noStrike">
                    <a:solidFill>
                      <a:srgbClr val="CFD8DC"/>
                    </a:solidFill>
                    <a:latin typeface="+mn-lt"/>
                  </a:defRPr>
                </a:pPr>
                <a:r>
                  <a:rPr sz="1100" b="0" i="0" u="none" strike="noStrike">
                    <a:solidFill>
                      <a:srgbClr val="CFD8DC"/>
                    </a:solidFill>
                    <a:latin typeface="+mn-lt"/>
                  </a:rPr>
                  <a:t>Speedup vs serial whole image</a:t>
                </a:r>
              </a:p>
            </c:rich>
          </c:tx>
          <c:layout/>
          <c:overlay val="0"/>
        </c:title>
        <c:numFmt formatCode="General" sourceLinked="0"/>
        <c:majorTickMark val="out"/>
        <c:minorTickMark val="none"/>
        <c:tickLblPos val="nextTo"/>
        <c:spPr>
          <a:ln w="12700" cap="flat">
            <a:noFill/>
            <a:prstDash val="solid"/>
            <a:round/>
          </a:ln>
        </c:spPr>
        <c:txPr>
          <a:bodyPr/>
          <a:lstStyle/>
          <a:p>
            <a:pPr>
              <a:defRPr sz="1100" b="0" i="0" u="none" strike="noStrike">
                <a:solidFill>
                  <a:srgbClr val="CFD8DC"/>
                </a:solidFill>
                <a:latin typeface="+mn-lt"/>
              </a:defRPr>
            </a:pPr>
            <a:endParaRPr lang="en-US"/>
          </a:p>
        </c:txPr>
        <c:crossAx val="2094734554"/>
        <c:crosses val="autoZero"/>
        <c:crossBetween val="between"/>
        <c:majorUnit val="2"/>
      </c:valAx>
      <c:spPr>
        <a:noFill/>
        <a:ln>
          <a:noFill/>
        </a:ln>
        <a:effectLst/>
      </c:spPr>
    </c:plotArea>
    <c:legend>
      <c:legendPos val="t"/>
      <c:overlay val="0"/>
      <c:txPr>
        <a:bodyPr/>
        <a:lstStyle/>
        <a:p>
          <a:pPr>
            <a:defRPr sz="1100">
              <a:solidFill>
                <a:srgbClr val="CFD8DC"/>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Serial, whole image</c:v>
                </c:pt>
              </c:strCache>
            </c:strRef>
          </c:tx>
          <c:spPr>
            <a:solidFill>
              <a:srgbClr val="9AA5AB"/>
            </a:solidFill>
            <a:ln w="25400" cap="flat">
              <a:solidFill>
                <a:srgbClr val="9AA5AB"/>
              </a:solidFill>
              <a:prstDash val="solid"/>
              <a:round/>
            </a:ln>
            <a:effectLst/>
          </c:spPr>
          <c:invertIfNegative val="0"/>
          <c:dLbls>
            <c:numFmt formatCode="#,##0"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showLeaderLines val="0"/>
          </c:dLbls>
          <c:marker>
            <c:symbol val="none"/>
            <c:size val="6"/>
            <c:spPr>
              <a:solidFill>
                <a:srgbClr val="9AA5AB"/>
              </a:solidFill>
              <a:ln w="9525" cap="flat">
                <a:solidFill>
                  <a:srgbClr val="9AA5AB"/>
                </a:solidFill>
                <a:prstDash val="solid"/>
                <a:round/>
              </a:ln>
              <a:effectLst/>
            </c:spPr>
          </c:marker>
          <c:cat>
            <c:multiLvlStrRef>
              <c:f>Sheet1!$A$2:$A$51</c:f>
              <c:multiLvlStrCache>
                <c:ptCount val="5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lvl>
              </c:multiLvlStrCache>
            </c:multiLvlStrRef>
          </c:cat>
          <c:val>
            <c:numRef>
              <c:f>Sheet1!$B$2:$B$51</c:f>
              <c:numCache>
                <c:formatCode>General</c:formatCode>
                <c:ptCount val="50"/>
                <c:pt idx="0">
                  <c:v>52.3</c:v>
                </c:pt>
                <c:pt idx="1">
                  <c:v>69.2</c:v>
                </c:pt>
                <c:pt idx="2">
                  <c:v>66.7</c:v>
                </c:pt>
                <c:pt idx="3">
                  <c:v>69.7</c:v>
                </c:pt>
                <c:pt idx="4">
                  <c:v>62.2</c:v>
                </c:pt>
                <c:pt idx="5">
                  <c:v>67</c:v>
                </c:pt>
                <c:pt idx="6">
                  <c:v>84.5</c:v>
                </c:pt>
                <c:pt idx="7">
                  <c:v>64.6</c:v>
                </c:pt>
                <c:pt idx="8">
                  <c:v>82.1</c:v>
                </c:pt>
                <c:pt idx="9">
                  <c:v>62.8</c:v>
                </c:pt>
                <c:pt idx="10">
                  <c:v>86</c:v>
                </c:pt>
                <c:pt idx="11">
                  <c:v>48.2</c:v>
                </c:pt>
                <c:pt idx="12">
                  <c:v>67</c:v>
                </c:pt>
                <c:pt idx="13">
                  <c:v>68.7</c:v>
                </c:pt>
                <c:pt idx="14">
                  <c:v>69.8</c:v>
                </c:pt>
                <c:pt idx="15">
                  <c:v>49</c:v>
                </c:pt>
                <c:pt idx="16">
                  <c:v>54.2</c:v>
                </c:pt>
                <c:pt idx="17">
                  <c:v>58.7</c:v>
                </c:pt>
                <c:pt idx="18">
                  <c:v>61.2</c:v>
                </c:pt>
                <c:pt idx="19">
                  <c:v>99.2</c:v>
                </c:pt>
                <c:pt idx="20">
                  <c:v>99.4</c:v>
                </c:pt>
                <c:pt idx="21">
                  <c:v>53.6</c:v>
                </c:pt>
                <c:pt idx="22">
                  <c:v>74.1</c:v>
                </c:pt>
                <c:pt idx="23">
                  <c:v>55.5</c:v>
                </c:pt>
                <c:pt idx="24">
                  <c:v>103</c:v>
                </c:pt>
                <c:pt idx="25">
                  <c:v>118.1</c:v>
                </c:pt>
                <c:pt idx="26">
                  <c:v>88.9</c:v>
                </c:pt>
                <c:pt idx="27">
                  <c:v>67.5</c:v>
                </c:pt>
                <c:pt idx="28">
                  <c:v>48.9</c:v>
                </c:pt>
                <c:pt idx="29">
                  <c:v>46.4</c:v>
                </c:pt>
                <c:pt idx="30">
                  <c:v>52.9</c:v>
                </c:pt>
                <c:pt idx="31">
                  <c:v>109.1</c:v>
                </c:pt>
                <c:pt idx="32">
                  <c:v>61.3</c:v>
                </c:pt>
                <c:pt idx="33">
                  <c:v>68.1</c:v>
                </c:pt>
                <c:pt idx="34">
                  <c:v>79</c:v>
                </c:pt>
                <c:pt idx="35">
                  <c:v>85.8</c:v>
                </c:pt>
                <c:pt idx="36">
                  <c:v>52.1</c:v>
                </c:pt>
                <c:pt idx="37">
                  <c:v>107.1</c:v>
                </c:pt>
                <c:pt idx="38">
                  <c:v>42.3</c:v>
                </c:pt>
                <c:pt idx="39">
                  <c:v>73.2</c:v>
                </c:pt>
                <c:pt idx="40">
                  <c:v>68.9</c:v>
                </c:pt>
                <c:pt idx="41">
                  <c:v>84.5</c:v>
                </c:pt>
                <c:pt idx="42">
                  <c:v>74.5</c:v>
                </c:pt>
                <c:pt idx="43">
                  <c:v>68.6</c:v>
                </c:pt>
                <c:pt idx="44">
                  <c:v>96.3</c:v>
                </c:pt>
                <c:pt idx="45">
                  <c:v>55.8</c:v>
                </c:pt>
                <c:pt idx="46">
                  <c:v>82.2</c:v>
                </c:pt>
                <c:pt idx="47">
                  <c:v>85.5</c:v>
                </c:pt>
                <c:pt idx="48">
                  <c:v>55.5</c:v>
                </c:pt>
                <c:pt idx="49">
                  <c:v>74.9</c:v>
                </c:pt>
              </c:numCache>
            </c:numRef>
          </c:val>
          <c:smooth val="0"/>
        </c:ser>
        <c:ser>
          <c:idx val="1"/>
          <c:order val="1"/>
          <c:tx>
            <c:strRef>
              <c:f>Sheet1!$C$1</c:f>
              <c:strCache>
                <c:ptCount val="1"/>
                <c:pt idx="0">
                  <c:v>Threads, 16 tiles (GIL)</c:v>
                </c:pt>
              </c:strCache>
            </c:strRef>
          </c:tx>
          <c:spPr>
            <a:solidFill>
              <a:srgbClr val="E8703A"/>
            </a:solidFill>
            <a:ln w="25400" cap="flat">
              <a:solidFill>
                <a:srgbClr val="E8703A"/>
              </a:solidFill>
              <a:prstDash val="solid"/>
              <a:round/>
            </a:ln>
            <a:effectLst/>
          </c:spPr>
          <c:invertIfNegative val="0"/>
          <c:dLbls>
            <c:numFmt formatCode="#,##0"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showLeaderLines val="0"/>
          </c:dLbls>
          <c:marker>
            <c:symbol val="none"/>
            <c:size val="6"/>
            <c:spPr>
              <a:solidFill>
                <a:srgbClr val="E8703A"/>
              </a:solidFill>
              <a:ln w="9525" cap="flat">
                <a:solidFill>
                  <a:srgbClr val="E8703A"/>
                </a:solidFill>
                <a:prstDash val="solid"/>
                <a:round/>
              </a:ln>
              <a:effectLst/>
            </c:spPr>
          </c:marker>
          <c:cat>
            <c:multiLvlStrRef>
              <c:f>Sheet1!$A$2:$A$51</c:f>
              <c:multiLvlStrCache>
                <c:ptCount val="5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lvl>
              </c:multiLvlStrCache>
            </c:multiLvlStrRef>
          </c:cat>
          <c:val>
            <c:numRef>
              <c:f>Sheet1!$C$2:$C$51</c:f>
              <c:numCache>
                <c:formatCode>General</c:formatCode>
                <c:ptCount val="50"/>
                <c:pt idx="0">
                  <c:v>46.5</c:v>
                </c:pt>
                <c:pt idx="1">
                  <c:v>61.8</c:v>
                </c:pt>
                <c:pt idx="2">
                  <c:v>58</c:v>
                </c:pt>
                <c:pt idx="3">
                  <c:v>60.5</c:v>
                </c:pt>
                <c:pt idx="4">
                  <c:v>53.1</c:v>
                </c:pt>
                <c:pt idx="5">
                  <c:v>61.4</c:v>
                </c:pt>
                <c:pt idx="6">
                  <c:v>73.3</c:v>
                </c:pt>
                <c:pt idx="7">
                  <c:v>55</c:v>
                </c:pt>
                <c:pt idx="8">
                  <c:v>68.7</c:v>
                </c:pt>
                <c:pt idx="9">
                  <c:v>55.6</c:v>
                </c:pt>
                <c:pt idx="10">
                  <c:v>76.6</c:v>
                </c:pt>
                <c:pt idx="11">
                  <c:v>43.3</c:v>
                </c:pt>
                <c:pt idx="12">
                  <c:v>59</c:v>
                </c:pt>
                <c:pt idx="13">
                  <c:v>60.4</c:v>
                </c:pt>
                <c:pt idx="14">
                  <c:v>60.6</c:v>
                </c:pt>
                <c:pt idx="15">
                  <c:v>43.5</c:v>
                </c:pt>
                <c:pt idx="16">
                  <c:v>47.7</c:v>
                </c:pt>
                <c:pt idx="17">
                  <c:v>55.2</c:v>
                </c:pt>
                <c:pt idx="18">
                  <c:v>54.1</c:v>
                </c:pt>
                <c:pt idx="19">
                  <c:v>86.7</c:v>
                </c:pt>
                <c:pt idx="20">
                  <c:v>88.2</c:v>
                </c:pt>
                <c:pt idx="21">
                  <c:v>45.7</c:v>
                </c:pt>
                <c:pt idx="22">
                  <c:v>68.8</c:v>
                </c:pt>
                <c:pt idx="23">
                  <c:v>50.5</c:v>
                </c:pt>
                <c:pt idx="24">
                  <c:v>92.3</c:v>
                </c:pt>
                <c:pt idx="25">
                  <c:v>100.8</c:v>
                </c:pt>
                <c:pt idx="26">
                  <c:v>78.9</c:v>
                </c:pt>
                <c:pt idx="27">
                  <c:v>57.4</c:v>
                </c:pt>
                <c:pt idx="28">
                  <c:v>43.8</c:v>
                </c:pt>
                <c:pt idx="29">
                  <c:v>41.1</c:v>
                </c:pt>
                <c:pt idx="30">
                  <c:v>45.6</c:v>
                </c:pt>
                <c:pt idx="31">
                  <c:v>96.8</c:v>
                </c:pt>
                <c:pt idx="32">
                  <c:v>54</c:v>
                </c:pt>
                <c:pt idx="33">
                  <c:v>61</c:v>
                </c:pt>
                <c:pt idx="34">
                  <c:v>70.6</c:v>
                </c:pt>
                <c:pt idx="35">
                  <c:v>77</c:v>
                </c:pt>
                <c:pt idx="36">
                  <c:v>47.7</c:v>
                </c:pt>
                <c:pt idx="37">
                  <c:v>98.3</c:v>
                </c:pt>
                <c:pt idx="38">
                  <c:v>36.7</c:v>
                </c:pt>
                <c:pt idx="39">
                  <c:v>65.4</c:v>
                </c:pt>
                <c:pt idx="40">
                  <c:v>60.5</c:v>
                </c:pt>
                <c:pt idx="41">
                  <c:v>75</c:v>
                </c:pt>
                <c:pt idx="42">
                  <c:v>65.5</c:v>
                </c:pt>
                <c:pt idx="43">
                  <c:v>61</c:v>
                </c:pt>
                <c:pt idx="44">
                  <c:v>88.1</c:v>
                </c:pt>
                <c:pt idx="45">
                  <c:v>49.4</c:v>
                </c:pt>
                <c:pt idx="46">
                  <c:v>73.7</c:v>
                </c:pt>
                <c:pt idx="47">
                  <c:v>77.4</c:v>
                </c:pt>
                <c:pt idx="48">
                  <c:v>48.1</c:v>
                </c:pt>
                <c:pt idx="49">
                  <c:v>64.8</c:v>
                </c:pt>
              </c:numCache>
            </c:numRef>
          </c:val>
          <c:smooth val="0"/>
        </c:ser>
        <c:ser>
          <c:idx val="2"/>
          <c:order val="2"/>
          <c:tx>
            <c:strRef>
              <c:f>Sheet1!$D$1</c:f>
              <c:strCache>
                <c:ptCount val="1"/>
                <c:pt idx="0">
                  <c:v>Processes, 16 tiles</c:v>
                </c:pt>
              </c:strCache>
            </c:strRef>
          </c:tx>
          <c:spPr>
            <a:solidFill>
              <a:srgbClr val="3987E5"/>
            </a:solidFill>
            <a:ln w="25400" cap="flat">
              <a:solidFill>
                <a:srgbClr val="3987E5"/>
              </a:solidFill>
              <a:prstDash val="solid"/>
              <a:round/>
            </a:ln>
            <a:effectLst/>
          </c:spPr>
          <c:invertIfNegative val="0"/>
          <c:dLbls>
            <c:numFmt formatCode="#,##0"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showLeaderLines val="0"/>
          </c:dLbls>
          <c:marker>
            <c:symbol val="none"/>
            <c:size val="6"/>
            <c:spPr>
              <a:solidFill>
                <a:srgbClr val="3987E5"/>
              </a:solidFill>
              <a:ln w="9525" cap="flat">
                <a:solidFill>
                  <a:srgbClr val="3987E5"/>
                </a:solidFill>
                <a:prstDash val="solid"/>
                <a:round/>
              </a:ln>
              <a:effectLst/>
            </c:spPr>
          </c:marker>
          <c:cat>
            <c:multiLvlStrRef>
              <c:f>Sheet1!$A$2:$A$51</c:f>
              <c:multiLvlStrCache>
                <c:ptCount val="5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lvl>
              </c:multiLvlStrCache>
            </c:multiLvlStrRef>
          </c:cat>
          <c:val>
            <c:numRef>
              <c:f>Sheet1!$D$2:$D$51</c:f>
              <c:numCache>
                <c:formatCode>General</c:formatCode>
                <c:ptCount val="50"/>
                <c:pt idx="0">
                  <c:v>10.2</c:v>
                </c:pt>
                <c:pt idx="1">
                  <c:v>10.5</c:v>
                </c:pt>
                <c:pt idx="2">
                  <c:v>10.8</c:v>
                </c:pt>
                <c:pt idx="3">
                  <c:v>10.5</c:v>
                </c:pt>
                <c:pt idx="4">
                  <c:v>9.3</c:v>
                </c:pt>
                <c:pt idx="5">
                  <c:v>11.3</c:v>
                </c:pt>
                <c:pt idx="6">
                  <c:v>12</c:v>
                </c:pt>
                <c:pt idx="7">
                  <c:v>11.5</c:v>
                </c:pt>
                <c:pt idx="8">
                  <c:v>9.8</c:v>
                </c:pt>
                <c:pt idx="9">
                  <c:v>9.3</c:v>
                </c:pt>
                <c:pt idx="10">
                  <c:v>12</c:v>
                </c:pt>
                <c:pt idx="11">
                  <c:v>7.7</c:v>
                </c:pt>
                <c:pt idx="12">
                  <c:v>11.5</c:v>
                </c:pt>
                <c:pt idx="13">
                  <c:v>11.1</c:v>
                </c:pt>
                <c:pt idx="14">
                  <c:v>12</c:v>
                </c:pt>
                <c:pt idx="15">
                  <c:v>7.8</c:v>
                </c:pt>
                <c:pt idx="16">
                  <c:v>8.2</c:v>
                </c:pt>
                <c:pt idx="17">
                  <c:v>9.7</c:v>
                </c:pt>
                <c:pt idx="18">
                  <c:v>9.5</c:v>
                </c:pt>
                <c:pt idx="19">
                  <c:v>14.3</c:v>
                </c:pt>
                <c:pt idx="20">
                  <c:v>13</c:v>
                </c:pt>
                <c:pt idx="21">
                  <c:v>9.2</c:v>
                </c:pt>
                <c:pt idx="22">
                  <c:v>10.8</c:v>
                </c:pt>
                <c:pt idx="23">
                  <c:v>9.3</c:v>
                </c:pt>
                <c:pt idx="24">
                  <c:v>12.9</c:v>
                </c:pt>
                <c:pt idx="25">
                  <c:v>16.2</c:v>
                </c:pt>
                <c:pt idx="26">
                  <c:v>11.1</c:v>
                </c:pt>
                <c:pt idx="27">
                  <c:v>10.6</c:v>
                </c:pt>
                <c:pt idx="28">
                  <c:v>8.9</c:v>
                </c:pt>
                <c:pt idx="29">
                  <c:v>8.3</c:v>
                </c:pt>
                <c:pt idx="30">
                  <c:v>7.5</c:v>
                </c:pt>
                <c:pt idx="31">
                  <c:v>13.3</c:v>
                </c:pt>
                <c:pt idx="32">
                  <c:v>9.8</c:v>
                </c:pt>
                <c:pt idx="33">
                  <c:v>12.3</c:v>
                </c:pt>
                <c:pt idx="34">
                  <c:v>10.5</c:v>
                </c:pt>
                <c:pt idx="35">
                  <c:v>11.3</c:v>
                </c:pt>
                <c:pt idx="36">
                  <c:v>7.8</c:v>
                </c:pt>
                <c:pt idx="37">
                  <c:v>14.5</c:v>
                </c:pt>
                <c:pt idx="38">
                  <c:v>8.1</c:v>
                </c:pt>
                <c:pt idx="39">
                  <c:v>10.3</c:v>
                </c:pt>
                <c:pt idx="40">
                  <c:v>9.8</c:v>
                </c:pt>
                <c:pt idx="41">
                  <c:v>11</c:v>
                </c:pt>
                <c:pt idx="42">
                  <c:v>10.4</c:v>
                </c:pt>
                <c:pt idx="43">
                  <c:v>10.1</c:v>
                </c:pt>
                <c:pt idx="44">
                  <c:v>15.5</c:v>
                </c:pt>
                <c:pt idx="45">
                  <c:v>9.2</c:v>
                </c:pt>
                <c:pt idx="46">
                  <c:v>10.6</c:v>
                </c:pt>
                <c:pt idx="47">
                  <c:v>11.6</c:v>
                </c:pt>
                <c:pt idx="48">
                  <c:v>7.9</c:v>
                </c:pt>
                <c:pt idx="49">
                  <c:v>9.9</c:v>
                </c:pt>
              </c:numCache>
            </c:numRef>
          </c:val>
          <c:smooth val="0"/>
        </c:ser>
        <c:ser>
          <c:idx val="3"/>
          <c:order val="3"/>
          <c:tx>
            <c:strRef>
              <c:f>Sheet1!$E$1</c:f>
              <c:strCache>
                <c:ptCount val="1"/>
                <c:pt idx="0">
                  <c:v>No-GIL threads, 16 tiles</c:v>
                </c:pt>
              </c:strCache>
            </c:strRef>
          </c:tx>
          <c:spPr>
            <a:solidFill>
              <a:srgbClr val="25B07F"/>
            </a:solidFill>
            <a:ln w="25400" cap="flat">
              <a:solidFill>
                <a:srgbClr val="25B07F"/>
              </a:solidFill>
              <a:prstDash val="solid"/>
              <a:round/>
            </a:ln>
            <a:effectLst/>
          </c:spPr>
          <c:invertIfNegative val="0"/>
          <c:dLbls>
            <c:numFmt formatCode="#,##0"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showLeaderLines val="0"/>
          </c:dLbls>
          <c:marker>
            <c:symbol val="none"/>
            <c:size val="6"/>
            <c:spPr>
              <a:solidFill>
                <a:srgbClr val="25B07F"/>
              </a:solidFill>
              <a:ln w="9525" cap="flat">
                <a:solidFill>
                  <a:srgbClr val="25B07F"/>
                </a:solidFill>
                <a:prstDash val="solid"/>
                <a:round/>
              </a:ln>
              <a:effectLst/>
            </c:spPr>
          </c:marker>
          <c:cat>
            <c:multiLvlStrRef>
              <c:f>Sheet1!$A$2:$A$51</c:f>
              <c:multiLvlStrCache>
                <c:ptCount val="5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lvl>
              </c:multiLvlStrCache>
            </c:multiLvlStrRef>
          </c:cat>
          <c:val>
            <c:numRef>
              <c:f>Sheet1!$E$2:$E$51</c:f>
              <c:numCache>
                <c:formatCode>General</c:formatCode>
                <c:ptCount val="50"/>
                <c:pt idx="0">
                  <c:v>11.2</c:v>
                </c:pt>
                <c:pt idx="1">
                  <c:v>12.5</c:v>
                </c:pt>
                <c:pt idx="2">
                  <c:v>12.4</c:v>
                </c:pt>
                <c:pt idx="3">
                  <c:v>12.1</c:v>
                </c:pt>
                <c:pt idx="4">
                  <c:v>10.8</c:v>
                </c:pt>
                <c:pt idx="5">
                  <c:v>15</c:v>
                </c:pt>
                <c:pt idx="6">
                  <c:v>16.4</c:v>
                </c:pt>
                <c:pt idx="7">
                  <c:v>13.7</c:v>
                </c:pt>
                <c:pt idx="8">
                  <c:v>13.7</c:v>
                </c:pt>
                <c:pt idx="9">
                  <c:v>11.1</c:v>
                </c:pt>
                <c:pt idx="10">
                  <c:v>14.5</c:v>
                </c:pt>
                <c:pt idx="11">
                  <c:v>9.2</c:v>
                </c:pt>
                <c:pt idx="12">
                  <c:v>13.5</c:v>
                </c:pt>
                <c:pt idx="13">
                  <c:v>13.1</c:v>
                </c:pt>
                <c:pt idx="14">
                  <c:v>13.4</c:v>
                </c:pt>
                <c:pt idx="15">
                  <c:v>10</c:v>
                </c:pt>
                <c:pt idx="16">
                  <c:v>9.6</c:v>
                </c:pt>
                <c:pt idx="17">
                  <c:v>12.8</c:v>
                </c:pt>
                <c:pt idx="18">
                  <c:v>11.9</c:v>
                </c:pt>
                <c:pt idx="19">
                  <c:v>17.3</c:v>
                </c:pt>
                <c:pt idx="20">
                  <c:v>17.8</c:v>
                </c:pt>
                <c:pt idx="21">
                  <c:v>12.1</c:v>
                </c:pt>
                <c:pt idx="22">
                  <c:v>14.1</c:v>
                </c:pt>
                <c:pt idx="23">
                  <c:v>12</c:v>
                </c:pt>
                <c:pt idx="24">
                  <c:v>18.5</c:v>
                </c:pt>
                <c:pt idx="25">
                  <c:v>22</c:v>
                </c:pt>
                <c:pt idx="26">
                  <c:v>15.5</c:v>
                </c:pt>
                <c:pt idx="27">
                  <c:v>14.2</c:v>
                </c:pt>
                <c:pt idx="28">
                  <c:v>11.6</c:v>
                </c:pt>
                <c:pt idx="29">
                  <c:v>10.9</c:v>
                </c:pt>
                <c:pt idx="30">
                  <c:v>10.2</c:v>
                </c:pt>
                <c:pt idx="31">
                  <c:v>18.9</c:v>
                </c:pt>
                <c:pt idx="32">
                  <c:v>12.3</c:v>
                </c:pt>
                <c:pt idx="33">
                  <c:v>15.6</c:v>
                </c:pt>
                <c:pt idx="34">
                  <c:v>13.8</c:v>
                </c:pt>
                <c:pt idx="35">
                  <c:v>14.8</c:v>
                </c:pt>
                <c:pt idx="36">
                  <c:v>9.8</c:v>
                </c:pt>
                <c:pt idx="37">
                  <c:v>18.8</c:v>
                </c:pt>
                <c:pt idx="38">
                  <c:v>9.8</c:v>
                </c:pt>
                <c:pt idx="39">
                  <c:v>13.5</c:v>
                </c:pt>
                <c:pt idx="40">
                  <c:v>12.4</c:v>
                </c:pt>
                <c:pt idx="41">
                  <c:v>14.1</c:v>
                </c:pt>
                <c:pt idx="42">
                  <c:v>13.6</c:v>
                </c:pt>
                <c:pt idx="43">
                  <c:v>12.5</c:v>
                </c:pt>
                <c:pt idx="44">
                  <c:v>19.7</c:v>
                </c:pt>
                <c:pt idx="45">
                  <c:v>11.7</c:v>
                </c:pt>
                <c:pt idx="46">
                  <c:v>13.9</c:v>
                </c:pt>
                <c:pt idx="47">
                  <c:v>15.4</c:v>
                </c:pt>
                <c:pt idx="48">
                  <c:v>10</c:v>
                </c:pt>
                <c:pt idx="49">
                  <c:v>13</c:v>
                </c:pt>
              </c:numCache>
            </c:numRef>
          </c:val>
          <c:smooth val="0"/>
        </c:ser>
        <c:dLbls>
          <c:numFmt formatCode="#,##0"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CFD8DC"/>
                    </a:solidFill>
                    <a:latin typeface="+mn-lt"/>
                  </a:defRPr>
                </a:pPr>
                <a:r>
                  <a:rPr sz="1100" b="0" i="0" u="none" strike="noStrike">
                    <a:solidFill>
                      <a:srgbClr val="CFD8DC"/>
                    </a:solidFill>
                    <a:latin typeface="+mn-lt"/>
                  </a:rPr>
                  <a:t>Image (Oxford 102 Flowers, 1 to 50)</a:t>
                </a:r>
              </a:p>
            </c:rich>
          </c:tx>
          <c:layout/>
          <c:overlay val="0"/>
        </c:title>
        <c:numFmt formatCode="General" sourceLinked="1"/>
        <c:majorTickMark val="out"/>
        <c:minorTickMark val="none"/>
        <c:tickLblPos val="low"/>
        <c:spPr>
          <a:ln w="12700" cap="flat">
            <a:noFill/>
            <a:prstDash val="solid"/>
            <a:round/>
          </a:ln>
        </c:spPr>
        <c:txPr>
          <a:bodyPr/>
          <a:lstStyle/>
          <a:p>
            <a:pPr>
              <a:defRPr sz="900" b="0" i="0" u="none" strike="noStrike">
                <a:solidFill>
                  <a:srgbClr val="CFD8DC"/>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546E7A"/>
              </a:solidFill>
              <a:prstDash val="solid"/>
              <a:round/>
            </a:ln>
          </c:spPr>
        </c:majorGridlines>
        <c:title>
          <c:tx>
            <c:rich>
              <a:bodyPr/>
              <a:lstStyle/>
              <a:p>
                <a:pPr>
                  <a:defRPr sz="1100" b="0" i="0" u="none" strike="noStrike">
                    <a:solidFill>
                      <a:srgbClr val="CFD8DC"/>
                    </a:solidFill>
                    <a:latin typeface="+mn-lt"/>
                  </a:defRPr>
                </a:pPr>
                <a:r>
                  <a:rPr sz="1100" b="0" i="0" u="none" strike="noStrike">
                    <a:solidFill>
                      <a:srgbClr val="CFD8DC"/>
                    </a:solidFill>
                    <a:latin typeface="+mn-lt"/>
                  </a:rPr>
                  <a:t>Seconds per image</a:t>
                </a:r>
              </a:p>
            </c:rich>
          </c:tx>
          <c:layout/>
          <c:overlay val="0"/>
        </c:title>
        <c:numFmt formatCode="General" sourceLinked="0"/>
        <c:majorTickMark val="out"/>
        <c:minorTickMark val="none"/>
        <c:tickLblPos val="nextTo"/>
        <c:spPr>
          <a:ln w="12700" cap="flat">
            <a:noFill/>
            <a:prstDash val="solid"/>
            <a:round/>
          </a:ln>
        </c:spPr>
        <c:txPr>
          <a:bodyPr/>
          <a:lstStyle/>
          <a:p>
            <a:pPr>
              <a:defRPr sz="1100" b="0" i="0" u="none" strike="noStrike">
                <a:solidFill>
                  <a:srgbClr val="CFD8DC"/>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CFD8DC"/>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asked whether splitting images into tiles and processing them in parallel could speed up SIFT feature extraction for image retrieval. The short answer: not with threads, because of Python's GIL. With processes, yes: 6.65 times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numbers tell the story. The 2023 experiment found almost no difference. Measuring CPU use showed why: threads only ever kept one core busy. Switching to processes gave a 6.65x speedup. And splitting images has a cost: keypoints are lost at tile borders.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background on content-based image retrieval and the SIFT algorithm.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Text-based retrieval depends on people tagging images, which is slow and subjective. Content-based retrieval compares the images themselves, but every image has to go through feature extraction, which is computationally heavy. With data volumes like 97 zettabytes a year, speed is the bottleneck.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SIFT works in four stages: find extrema across scales using Differences of Gaussians, refine them and reject weak or edge points, assign an orientation, and build a 128-dimensional descriptor. The result is keypoints that can be matched even when scale and viewpoint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DoG pyramid approximates the Laplacian of Gaussian at several scales. A pixel is a candidate keypoint if it is larger or smaller than all 26 neighbours in space and scale. The descriptor is a 4 by 4 grid of 8-bin gradient histograms. All of this is pixel-by-pixel work, which in this implementation means Python loops.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NMS-SIFT adds non-maximum suppression: keypoints are sorted by strength and anything within 10 pixels of a stronger keypoint is dropped. The idea comes from object detection, where it removes overlapping bounding boxes.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experiment and its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SIFT works on local neighbourhoods, so an image can be cut into tiles and each tile processed independently. The hypothesis was that 16 tiles, each on its own thread, would beat 4 tiles.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is the Oxford 102 Flowers set, the first 50 images. The CPU is an 8-core Ryzen 7 3700X, and the rerun used the same CPU model, so the times are directly comparable.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2023 result: 4-tile vs 16-tile threaded times for each image. 16 tiles won on 24 of 36 images, by 1.4 percent on average. Not significant. 16 tiles also produced about 5 percent fewer keypoints. The question became: why didn't threading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threads didn't speed anything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CPython has a Global Interpreter Lock: only one thread can execute Python bytecode at a time. Threads help with I/O, but this SIFT code is nested Python loops, so the threads just take turns on a single core. Processes each have their own interpreter and GIL, so they really run in parallel.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makes the GIL visible. Each worker records the CPU time its own thread used. Divide total CPU time by wall time and you get how many cores were busy. Threads with the GIL: exactly 1.0, the same as serial. Processes and no-GIL threads: over 9 at 16 tiles.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Rerunning the experiment with a proper control and the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rerun adds a control: the same tiles processed one at a time. That separates the effect of tiling from the effect of parallelism. Keypoint counts reproduce the 2023 slides, which confirms it's the same images and the same algorithm.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Geometric-mean speedup over 50 images. Threads with the GIL get 1.04x and 1.13x, and serial code on the same tiles gets the same, so that small gain is from tiling, not threading. Processes get 3.4x at 4 tiles and 6.65x at 16. With real parallelism, 16 tiles do beat 4, so the original idea was right; the GIL was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pattern holds on all 50 images: threaded runs track the serial time, while processes and no-GIL threads finish in about a sixth of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actual times behind the speedups. Serial takes about 72 seconds per image, an hour for all 50. Threads with the GIL barely change that. Processes bring it down to about 11 seconds per image, under 9 minutes for the whole set. No-GIL threads land at 13.5 seconds, even though the free-threaded interpreter is about 11 percent slower single-threaded.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3.14 officially supports a free-threaded build with no GIL. Plain threads then reach 5.8x at 16 tiles, close to processes. The interpreter is about 11 percent slower single-threaded, which explains most of the gap. The catch today is the ecosystem: OpenCV has no free-threaded build, so I reimplemented the four OpenCV calls SIFT needs in NumPy.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Splitting the image isn't free. Each tile is processed as if it were a whole image, so a strip along every cut gets no keypoints. 4 tiles lose 3 percent of keypoints and 16 tiles lose 8 percent on average, up to 12 percent. That is also why serial code on 16 tiles is slightly faster: less descriptor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Rebuilding the code turned up three bugs. The most interesting is a race: each thread appended its result when it finished, but the merge assumed submission order, so keypoints could be shifted into the wrong quadrant. Timings and counts weren't affected.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learned and what I'd do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conclusions. The 2023 null result was caused by the GIL, not by the tiling idea. The small gain 16 tiles showed came from losing keypoints, not from parallelism. And with real parallelism, either processes or Python without the GIL, the speedup is large and 16 tiles do beat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steps. First, get further around the GIL by compiling the hot loops so they release it. Second, move SIFT to a GPU, since nearly every stage is data-parallel, batching images so transfer costs don't dominate. Third, stop losing keypoints with overlapping tiles. Fourth, measure whether lost keypoints hurt retrieval. And for perspective: compiled SIFT is about 600 times faster than this pure-Python version, so per-core speed matters even more than core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to Sairaj Jadhav and Dr. John Korah for the original NMS-SIFT code. Everything, including the raw timings and the notebook, is in the GitHub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26323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834640"/>
            <a:ext cx="8046720" cy="548640"/>
          </a:xfrm>
          <a:prstGeom prst="rect">
            <a:avLst/>
          </a:prstGeom>
          <a:noFill/>
          <a:ln/>
        </p:spPr>
        <p:txBody>
          <a:bodyPr wrap="square" rtlCol="0"/>
          <a:lstStyle>
            <a:lvl1pPr indent="0" marL="0">
              <a:buNone/>
              <a:defRPr lang="en-US" sz="2000" dirty="0">
                <a:solidFill>
                  <a:schemeClr val="accent1"/>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26323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8046720" cy="10972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nvSpPr>
        <p:spPr>
          <a:xfrm>
            <a:off x="457200" y="4754880"/>
            <a:ext cx="4572000" cy="274320"/>
          </a:xfrm>
          <a:prstGeom prst="rect">
            <a:avLst/>
          </a:prstGeom>
          <a:noFill/>
          <a:ln/>
        </p:spPr>
        <p:txBody>
          <a:bodyPr wrap="square" rtlCol="0" anchor="ctr"/>
          <a:lstStyle/>
          <a:p>
            <a:pPr indent="0" marL="0">
              <a:buNone/>
            </a:pPr>
            <a:r>
              <a:rPr lang="en-US" sz="1000" dirty="0">
                <a:solidFill>
                  <a:schemeClr val="bg2"/>
                </a:solidFill>
                <a:latin typeface="Cambria" pitchFamily="34" charset="0"/>
                <a:ea typeface="Cambria" pitchFamily="34" charset="-122"/>
                <a:cs typeface="Cambria" pitchFamily="34" charset="-120"/>
              </a:rPr>
              <a:t>Parallel NMS-SIFT  |  Musa Waghu</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37474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3" name="Text 0"/>
          <p:cNvSpPr/>
          <p:nvPr/>
        </p:nvSpPr>
        <p:spPr>
          <a:xfrm>
            <a:off x="457200" y="4754880"/>
            <a:ext cx="4572000" cy="274320"/>
          </a:xfrm>
          <a:prstGeom prst="rect">
            <a:avLst/>
          </a:prstGeom>
          <a:noFill/>
          <a:ln/>
        </p:spPr>
        <p:txBody>
          <a:bodyPr wrap="square" rtlCol="0" anchor="ctr"/>
          <a:lstStyle/>
          <a:p>
            <a:pPr indent="0" marL="0">
              <a:buNone/>
            </a:pPr>
            <a:r>
              <a:rPr lang="en-US" sz="1000" dirty="0">
                <a:solidFill>
                  <a:schemeClr val="bg2"/>
                </a:solidFill>
                <a:latin typeface="Cambria" pitchFamily="34" charset="0"/>
                <a:ea typeface="Cambria" pitchFamily="34" charset="-122"/>
                <a:cs typeface="Cambria" pitchFamily="34" charset="-120"/>
              </a:rPr>
              <a:t>Parallel NMS-SIFT  |  Musa Waghu</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4.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4.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4.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463040"/>
          </a:xfrm>
          <a:prstGeom prst="rect">
            <a:avLst/>
          </a:prstGeom>
          <a:noFill/>
          <a:ln/>
        </p:spPr>
        <p:txBody>
          <a:bodyPr wrap="square" lIns="0" tIns="0" rIns="0" bIns="0" rtlCol="0" anchor="b"/>
          <a:lstStyle/>
          <a:p>
            <a:pPr algn="l" indent="0" marL="0">
              <a:buNone/>
            </a:pPr>
            <a:r>
              <a:rPr lang="en-US" sz="4000" b="1" dirty="0">
                <a:solidFill>
                  <a:schemeClr val="bg1"/>
                </a:solidFill>
              </a:rPr>
              <a:t>Parallel NMS-SIFT for</a:t>
            </a:r>
            <a:endParaRPr lang="en-US" sz="4000" dirty="0"/>
          </a:p>
          <a:p>
            <a:pPr algn="l" indent="0" marL="0">
              <a:buNone/>
            </a:pPr>
            <a:r>
              <a:rPr lang="en-US" sz="4000" b="1" dirty="0">
                <a:solidFill>
                  <a:schemeClr val="bg1"/>
                </a:solidFill>
              </a:rPr>
              <a:t>Content-Based Image Retrieval</a:t>
            </a:r>
            <a:endParaRPr lang="en-US" sz="4000" dirty="0"/>
          </a:p>
        </p:txBody>
      </p:sp>
      <p:sp>
        <p:nvSpPr>
          <p:cNvPr id="3" name="Text 0"/>
          <p:cNvSpPr/>
          <p:nvPr>
            <p:ph idx="101" type="body" hasCustomPrompt="1"/>
          </p:nvPr>
        </p:nvSpPr>
        <p:spPr>
          <a:xfrm>
            <a:off x="548640" y="2834640"/>
            <a:ext cx="8046720" cy="548640"/>
          </a:xfrm>
          <a:prstGeom prst="rect">
            <a:avLst/>
          </a:prstGeom>
          <a:noFill/>
          <a:ln/>
        </p:spPr>
        <p:txBody>
          <a:bodyPr wrap="square" lIns="0" tIns="0" rIns="0" bIns="0" rtlCol="0"/>
          <a:lstStyle/>
          <a:p>
            <a:pPr indent="0" marL="0">
              <a:buNone/>
            </a:pPr>
            <a:r>
              <a:rPr lang="en-US" sz="2000" dirty="0">
                <a:solidFill>
                  <a:schemeClr val="accent1"/>
                </a:solidFill>
              </a:rPr>
              <a:t>Why more threads didn't help, and what did</a:t>
            </a:r>
            <a:endParaRPr lang="en-US" sz="2000" dirty="0"/>
          </a:p>
        </p:txBody>
      </p:sp>
      <p:sp>
        <p:nvSpPr>
          <p:cNvPr id="4" name="text-1"/>
          <p:cNvSpPr txBox="1"/>
          <p:nvPr/>
        </p:nvSpPr>
        <p:spPr>
          <a:xfrm>
            <a:off x="548640" y="3931920"/>
            <a:ext cx="8046720" cy="365760"/>
          </a:xfrm>
          <a:prstGeom prst="rect">
            <a:avLst/>
          </a:prstGeom>
          <a:noFill/>
          <a:ln/>
        </p:spPr>
        <p:txBody>
          <a:bodyPr wrap="square" lIns="0" tIns="0" rIns="0" bIns="0" rtlCol="0" anchor="ctr"/>
          <a:lstStyle/>
          <a:p>
            <a:pPr indent="0" marL="0">
              <a:buNone/>
            </a:pPr>
            <a:r>
              <a:rPr lang="en-US" sz="1400" dirty="0">
                <a:solidFill>
                  <a:schemeClr val="bg2"/>
                </a:solidFill>
                <a:latin typeface="Cambria" pitchFamily="34" charset="0"/>
                <a:ea typeface="Cambria" pitchFamily="34" charset="-122"/>
                <a:cs typeface="Cambria" pitchFamily="34" charset="-120"/>
              </a:rPr>
              <a:t>Musa Waghu  |  Senior research project in parallel processing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bg1"/>
                </a:solidFill>
              </a:rPr>
              <a:t>The project in four numbers</a:t>
            </a:r>
            <a:endParaRPr lang="en-US" sz="3000" dirty="0"/>
          </a:p>
        </p:txBody>
      </p:sp>
      <p:sp>
        <p:nvSpPr>
          <p:cNvPr id="3" name="card-2"/>
          <p:cNvSpPr/>
          <p:nvPr/>
        </p:nvSpPr>
        <p:spPr>
          <a:xfrm>
            <a:off x="457200" y="1371600"/>
            <a:ext cx="1920240" cy="2468880"/>
          </a:xfrm>
          <a:prstGeom prst="roundRect">
            <a:avLst>
              <a:gd name="adj" fmla="val 3810"/>
            </a:avLst>
          </a:prstGeom>
          <a:solidFill>
            <a:schemeClr val="accent6"/>
          </a:solidFill>
          <a:ln/>
        </p:spPr>
      </p:sp>
      <p:sp>
        <p:nvSpPr>
          <p:cNvPr id="4" name="text-3"/>
          <p:cNvSpPr txBox="1"/>
          <p:nvPr/>
        </p:nvSpPr>
        <p:spPr>
          <a:xfrm>
            <a:off x="640080" y="1600200"/>
            <a:ext cx="1554480" cy="822960"/>
          </a:xfrm>
          <a:prstGeom prst="rect">
            <a:avLst/>
          </a:prstGeom>
          <a:noFill/>
          <a:ln/>
        </p:spPr>
        <p:txBody>
          <a:bodyPr wrap="square" lIns="0" tIns="0" rIns="0" bIns="0" rtlCol="0" anchor="ctr"/>
          <a:lstStyle/>
          <a:p>
            <a:pPr indent="0" marL="0">
              <a:buNone/>
            </a:pPr>
            <a:r>
              <a:rPr lang="en-US" sz="4000" b="1" dirty="0">
                <a:solidFill>
                  <a:schemeClr val="accent1"/>
                </a:solidFill>
                <a:latin typeface="Bahnschrift" pitchFamily="34" charset="0"/>
                <a:ea typeface="Bahnschrift" pitchFamily="34" charset="-122"/>
                <a:cs typeface="Bahnschrift" pitchFamily="34" charset="-120"/>
              </a:rPr>
              <a:t>1.4%</a:t>
            </a:r>
            <a:endParaRPr lang="en-US" sz="4000" dirty="0"/>
          </a:p>
        </p:txBody>
      </p:sp>
      <p:sp>
        <p:nvSpPr>
          <p:cNvPr id="5" name="text-4"/>
          <p:cNvSpPr txBox="1"/>
          <p:nvPr/>
        </p:nvSpPr>
        <p:spPr>
          <a:xfrm>
            <a:off x="640080" y="2560320"/>
            <a:ext cx="1554480" cy="1463040"/>
          </a:xfrm>
          <a:prstGeom prst="rect">
            <a:avLst/>
          </a:prstGeom>
          <a:noFill/>
          <a:ln/>
        </p:spPr>
        <p:txBody>
          <a:bodyPr wrap="square" lIns="0" tIns="0" rIns="0" bIns="0" rtlCol="0" anchor="t"/>
          <a:lstStyle/>
          <a:p>
            <a:pPr indent="0" marL="0">
              <a:buNone/>
            </a:pPr>
            <a:r>
              <a:rPr lang="en-US" sz="1400" dirty="0">
                <a:solidFill>
                  <a:schemeClr val="bg1"/>
                </a:solidFill>
                <a:latin typeface="Cambria" pitchFamily="34" charset="0"/>
                <a:ea typeface="Cambria" pitchFamily="34" charset="-122"/>
                <a:cs typeface="Cambria" pitchFamily="34" charset="-120"/>
              </a:rPr>
              <a:t>average gain from 16 threaded tiles over 4 in 2023: not significant</a:t>
            </a:r>
            <a:endParaRPr lang="en-US" sz="1400" dirty="0"/>
          </a:p>
        </p:txBody>
      </p:sp>
      <p:sp>
        <p:nvSpPr>
          <p:cNvPr id="6" name="card-5"/>
          <p:cNvSpPr/>
          <p:nvPr/>
        </p:nvSpPr>
        <p:spPr>
          <a:xfrm>
            <a:off x="2560320" y="1371600"/>
            <a:ext cx="1920240" cy="2468880"/>
          </a:xfrm>
          <a:prstGeom prst="roundRect">
            <a:avLst>
              <a:gd name="adj" fmla="val 3810"/>
            </a:avLst>
          </a:prstGeom>
          <a:solidFill>
            <a:schemeClr val="accent6"/>
          </a:solidFill>
          <a:ln/>
        </p:spPr>
      </p:sp>
      <p:sp>
        <p:nvSpPr>
          <p:cNvPr id="7" name="text-6"/>
          <p:cNvSpPr txBox="1"/>
          <p:nvPr/>
        </p:nvSpPr>
        <p:spPr>
          <a:xfrm>
            <a:off x="2743200" y="1600200"/>
            <a:ext cx="1554480" cy="822960"/>
          </a:xfrm>
          <a:prstGeom prst="rect">
            <a:avLst/>
          </a:prstGeom>
          <a:noFill/>
          <a:ln/>
        </p:spPr>
        <p:txBody>
          <a:bodyPr wrap="square" lIns="0" tIns="0" rIns="0" bIns="0" rtlCol="0" anchor="ctr"/>
          <a:lstStyle/>
          <a:p>
            <a:pPr indent="0" marL="0">
              <a:buNone/>
            </a:pPr>
            <a:r>
              <a:rPr lang="en-US" sz="4000" b="1" dirty="0">
                <a:solidFill>
                  <a:schemeClr val="accent1"/>
                </a:solidFill>
                <a:latin typeface="Bahnschrift" pitchFamily="34" charset="0"/>
                <a:ea typeface="Bahnschrift" pitchFamily="34" charset="-122"/>
                <a:cs typeface="Bahnschrift" pitchFamily="34" charset="-120"/>
              </a:rPr>
              <a:t>1.0</a:t>
            </a:r>
            <a:endParaRPr lang="en-US" sz="4000" dirty="0"/>
          </a:p>
        </p:txBody>
      </p:sp>
      <p:sp>
        <p:nvSpPr>
          <p:cNvPr id="8" name="text-7"/>
          <p:cNvSpPr txBox="1"/>
          <p:nvPr/>
        </p:nvSpPr>
        <p:spPr>
          <a:xfrm>
            <a:off x="2743200" y="2560320"/>
            <a:ext cx="1554480" cy="1463040"/>
          </a:xfrm>
          <a:prstGeom prst="rect">
            <a:avLst/>
          </a:prstGeom>
          <a:noFill/>
          <a:ln/>
        </p:spPr>
        <p:txBody>
          <a:bodyPr wrap="square" lIns="0" tIns="0" rIns="0" bIns="0" rtlCol="0" anchor="t"/>
          <a:lstStyle/>
          <a:p>
            <a:pPr indent="0" marL="0">
              <a:buNone/>
            </a:pPr>
            <a:r>
              <a:rPr lang="en-US" sz="1400" dirty="0">
                <a:solidFill>
                  <a:schemeClr val="bg1"/>
                </a:solidFill>
                <a:latin typeface="Cambria" pitchFamily="34" charset="0"/>
                <a:ea typeface="Cambria" pitchFamily="34" charset="-122"/>
                <a:cs typeface="Cambria" pitchFamily="34" charset="-120"/>
              </a:rPr>
              <a:t>CPU cores actually busy with threads, on an 8-core CPU</a:t>
            </a:r>
            <a:endParaRPr lang="en-US" sz="1400" dirty="0"/>
          </a:p>
        </p:txBody>
      </p:sp>
      <p:sp>
        <p:nvSpPr>
          <p:cNvPr id="9" name="card-8"/>
          <p:cNvSpPr/>
          <p:nvPr/>
        </p:nvSpPr>
        <p:spPr>
          <a:xfrm>
            <a:off x="4663440" y="1371600"/>
            <a:ext cx="1920240" cy="2468880"/>
          </a:xfrm>
          <a:prstGeom prst="roundRect">
            <a:avLst>
              <a:gd name="adj" fmla="val 3810"/>
            </a:avLst>
          </a:prstGeom>
          <a:solidFill>
            <a:schemeClr val="accent6"/>
          </a:solidFill>
          <a:ln/>
        </p:spPr>
      </p:sp>
      <p:sp>
        <p:nvSpPr>
          <p:cNvPr id="10" name="text-9"/>
          <p:cNvSpPr txBox="1"/>
          <p:nvPr/>
        </p:nvSpPr>
        <p:spPr>
          <a:xfrm>
            <a:off x="4846320" y="1600200"/>
            <a:ext cx="1554480" cy="822960"/>
          </a:xfrm>
          <a:prstGeom prst="rect">
            <a:avLst/>
          </a:prstGeom>
          <a:noFill/>
          <a:ln/>
        </p:spPr>
        <p:txBody>
          <a:bodyPr wrap="square" lIns="0" tIns="0" rIns="0" bIns="0" rtlCol="0" anchor="ctr"/>
          <a:lstStyle/>
          <a:p>
            <a:pPr indent="0" marL="0">
              <a:buNone/>
            </a:pPr>
            <a:r>
              <a:rPr lang="en-US" sz="4000" b="1" dirty="0">
                <a:solidFill>
                  <a:schemeClr val="accent1"/>
                </a:solidFill>
                <a:latin typeface="Bahnschrift" pitchFamily="34" charset="0"/>
                <a:ea typeface="Bahnschrift" pitchFamily="34" charset="-122"/>
                <a:cs typeface="Bahnschrift" pitchFamily="34" charset="-120"/>
              </a:rPr>
              <a:t>6.65×</a:t>
            </a:r>
            <a:endParaRPr lang="en-US" sz="4000" dirty="0"/>
          </a:p>
        </p:txBody>
      </p:sp>
      <p:sp>
        <p:nvSpPr>
          <p:cNvPr id="11" name="text-10"/>
          <p:cNvSpPr txBox="1"/>
          <p:nvPr/>
        </p:nvSpPr>
        <p:spPr>
          <a:xfrm>
            <a:off x="4846320" y="2560320"/>
            <a:ext cx="1554480" cy="1463040"/>
          </a:xfrm>
          <a:prstGeom prst="rect">
            <a:avLst/>
          </a:prstGeom>
          <a:noFill/>
          <a:ln/>
        </p:spPr>
        <p:txBody>
          <a:bodyPr wrap="square" lIns="0" tIns="0" rIns="0" bIns="0" rtlCol="0" anchor="t"/>
          <a:lstStyle/>
          <a:p>
            <a:pPr indent="0" marL="0">
              <a:buNone/>
            </a:pPr>
            <a:r>
              <a:rPr lang="en-US" sz="1400" dirty="0">
                <a:solidFill>
                  <a:schemeClr val="bg1"/>
                </a:solidFill>
                <a:latin typeface="Cambria" pitchFamily="34" charset="0"/>
                <a:ea typeface="Cambria" pitchFamily="34" charset="-122"/>
                <a:cs typeface="Cambria" pitchFamily="34" charset="-120"/>
              </a:rPr>
              <a:t>speedup with processes at 16 tiles, the fix</a:t>
            </a:r>
            <a:endParaRPr lang="en-US" sz="1400" dirty="0"/>
          </a:p>
        </p:txBody>
      </p:sp>
      <p:sp>
        <p:nvSpPr>
          <p:cNvPr id="12" name="card-11"/>
          <p:cNvSpPr/>
          <p:nvPr/>
        </p:nvSpPr>
        <p:spPr>
          <a:xfrm>
            <a:off x="6766560" y="1371600"/>
            <a:ext cx="1920240" cy="2468880"/>
          </a:xfrm>
          <a:prstGeom prst="roundRect">
            <a:avLst>
              <a:gd name="adj" fmla="val 3810"/>
            </a:avLst>
          </a:prstGeom>
          <a:solidFill>
            <a:schemeClr val="accent6"/>
          </a:solidFill>
          <a:ln/>
        </p:spPr>
      </p:sp>
      <p:sp>
        <p:nvSpPr>
          <p:cNvPr id="13" name="text-12"/>
          <p:cNvSpPr txBox="1"/>
          <p:nvPr/>
        </p:nvSpPr>
        <p:spPr>
          <a:xfrm>
            <a:off x="6949440" y="1600200"/>
            <a:ext cx="1554480" cy="822960"/>
          </a:xfrm>
          <a:prstGeom prst="rect">
            <a:avLst/>
          </a:prstGeom>
          <a:noFill/>
          <a:ln/>
        </p:spPr>
        <p:txBody>
          <a:bodyPr wrap="square" lIns="0" tIns="0" rIns="0" bIns="0" rtlCol="0" anchor="ctr"/>
          <a:lstStyle/>
          <a:p>
            <a:pPr indent="0" marL="0">
              <a:buNone/>
            </a:pPr>
            <a:r>
              <a:rPr lang="en-US" sz="4000" b="1" dirty="0">
                <a:solidFill>
                  <a:schemeClr val="accent1"/>
                </a:solidFill>
                <a:latin typeface="Bahnschrift" pitchFamily="34" charset="0"/>
                <a:ea typeface="Bahnschrift" pitchFamily="34" charset="-122"/>
                <a:cs typeface="Bahnschrift" pitchFamily="34" charset="-120"/>
              </a:rPr>
              <a:t>−7.9%</a:t>
            </a:r>
            <a:endParaRPr lang="en-US" sz="4000" dirty="0"/>
          </a:p>
        </p:txBody>
      </p:sp>
      <p:sp>
        <p:nvSpPr>
          <p:cNvPr id="14" name="text-13"/>
          <p:cNvSpPr txBox="1"/>
          <p:nvPr/>
        </p:nvSpPr>
        <p:spPr>
          <a:xfrm>
            <a:off x="6949440" y="2560320"/>
            <a:ext cx="1554480" cy="1463040"/>
          </a:xfrm>
          <a:prstGeom prst="rect">
            <a:avLst/>
          </a:prstGeom>
          <a:noFill/>
          <a:ln/>
        </p:spPr>
        <p:txBody>
          <a:bodyPr wrap="square" lIns="0" tIns="0" rIns="0" bIns="0" rtlCol="0" anchor="t"/>
          <a:lstStyle/>
          <a:p>
            <a:pPr indent="0" marL="0">
              <a:buNone/>
            </a:pPr>
            <a:r>
              <a:rPr lang="en-US" sz="1400" dirty="0">
                <a:solidFill>
                  <a:schemeClr val="bg1"/>
                </a:solidFill>
                <a:latin typeface="Cambria" pitchFamily="34" charset="0"/>
                <a:ea typeface="Cambria" pitchFamily="34" charset="-122"/>
                <a:cs typeface="Cambria" pitchFamily="34" charset="-120"/>
              </a:rPr>
              <a:t>keypoints lost at tile borders with 16 tiles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14"/>
          <p:cNvSpPr txBox="1"/>
          <p:nvPr/>
        </p:nvSpPr>
        <p:spPr>
          <a:xfrm>
            <a:off x="548640" y="1554480"/>
            <a:ext cx="8046720" cy="411480"/>
          </a:xfrm>
          <a:prstGeom prst="rect">
            <a:avLst/>
          </a:prstGeom>
          <a:noFill/>
          <a:ln/>
        </p:spPr>
        <p:txBody>
          <a:bodyPr wrap="square" lIns="0" tIns="0" rIns="0" bIns="0" rtlCol="0" anchor="ctr"/>
          <a:lstStyle/>
          <a:p>
            <a:pPr indent="0" marL="0">
              <a:buNone/>
            </a:pPr>
            <a:r>
              <a:rPr lang="en-US" sz="1800" dirty="0">
                <a:solidFill>
                  <a:schemeClr val="accent1"/>
                </a:solidFill>
                <a:latin typeface="Cambria" pitchFamily="34" charset="0"/>
                <a:ea typeface="Cambria" pitchFamily="34" charset="-122"/>
                <a:cs typeface="Cambria" pitchFamily="34" charset="-120"/>
              </a:rPr>
              <a:t>Part 1</a:t>
            </a:r>
            <a:endParaRPr lang="en-US" sz="1800" dirty="0"/>
          </a:p>
        </p:txBody>
      </p:sp>
      <p:sp>
        <p:nvSpPr>
          <p:cNvPr id="3" name="Text 0"/>
          <p:cNvSpPr/>
          <p:nvPr>
            <p:ph idx="100" type="title" hasCustomPrompt="1"/>
          </p:nvPr>
        </p:nvSpPr>
        <p:spPr>
          <a:xfrm>
            <a:off x="548640" y="2011680"/>
            <a:ext cx="8046720" cy="1097280"/>
          </a:xfrm>
          <a:prstGeom prst="rect">
            <a:avLst/>
          </a:prstGeom>
          <a:noFill/>
          <a:ln/>
        </p:spPr>
        <p:txBody>
          <a:bodyPr wrap="square" lIns="0" tIns="0" rIns="0" bIns="0" rtlCol="0" anchor="t"/>
          <a:lstStyle/>
          <a:p>
            <a:pPr algn="l" indent="0" marL="0">
              <a:buNone/>
            </a:pPr>
            <a:r>
              <a:rPr lang="en-US" sz="4000" b="1" dirty="0">
                <a:solidFill>
                  <a:schemeClr val="bg1"/>
                </a:solidFill>
              </a:rPr>
              <a:t>Background: image retrieval and SIFT</a:t>
            </a:r>
            <a:endParaRPr lang="en-US" sz="4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bg1"/>
                </a:solidFill>
              </a:rPr>
              <a:t>Why content-based image retrieval</a:t>
            </a:r>
            <a:endParaRPr lang="en-US" sz="3000" dirty="0"/>
          </a:p>
        </p:txBody>
      </p:sp>
      <p:sp>
        <p:nvSpPr>
          <p:cNvPr id="3" name="card-15"/>
          <p:cNvSpPr/>
          <p:nvPr/>
        </p:nvSpPr>
        <p:spPr>
          <a:xfrm>
            <a:off x="457200" y="1188720"/>
            <a:ext cx="3977640" cy="2514600"/>
          </a:xfrm>
          <a:prstGeom prst="roundRect">
            <a:avLst>
              <a:gd name="adj" fmla="val 2909"/>
            </a:avLst>
          </a:prstGeom>
          <a:solidFill>
            <a:schemeClr val="accent6"/>
          </a:solidFill>
          <a:ln/>
        </p:spPr>
      </p:sp>
      <p:sp>
        <p:nvSpPr>
          <p:cNvPr id="4" name="card-16"/>
          <p:cNvSpPr/>
          <p:nvPr/>
        </p:nvSpPr>
        <p:spPr>
          <a:xfrm>
            <a:off x="4709160" y="1188720"/>
            <a:ext cx="3977640" cy="2514600"/>
          </a:xfrm>
          <a:prstGeom prst="roundRect">
            <a:avLst>
              <a:gd name="adj" fmla="val 2909"/>
            </a:avLst>
          </a:prstGeom>
          <a:solidFill>
            <a:schemeClr val="accent6"/>
          </a:solidFill>
          <a:ln/>
        </p:spPr>
      </p:sp>
      <p:sp>
        <p:nvSpPr>
          <p:cNvPr id="5" name="icon-bg-17"/>
          <p:cNvSpPr/>
          <p:nvPr/>
        </p:nvSpPr>
        <p:spPr>
          <a:xfrm>
            <a:off x="685800" y="1417320"/>
            <a:ext cx="457200" cy="457200"/>
          </a:xfrm>
          <a:prstGeom prst="ellipse">
            <a:avLst/>
          </a:prstGeom>
          <a:solidFill>
            <a:schemeClr val="accent1"/>
          </a:solidFill>
          <a:ln/>
        </p:spPr>
      </p:sp>
      <p:pic>
        <p:nvPicPr>
          <p:cNvPr id="6" name="icon-18" descr="preencoded.png">    </p:cNvPr>
          <p:cNvPicPr>
            <a:picLocks noChangeAspect="1"/>
          </p:cNvPicPr>
          <p:nvPr/>
        </p:nvPicPr>
        <p:blipFill>
          <a:blip r:embed="rId1"/>
          <a:stretch>
            <a:fillRect/>
          </a:stretch>
        </p:blipFill>
        <p:spPr>
          <a:xfrm>
            <a:off x="786384" y="1517904"/>
            <a:ext cx="256032" cy="256032"/>
          </a:xfrm>
          <a:prstGeom prst="rect">
            <a:avLst/>
          </a:prstGeom>
        </p:spPr>
      </p:pic>
      <p:sp>
        <p:nvSpPr>
          <p:cNvPr id="7" name="icon-bg-19"/>
          <p:cNvSpPr/>
          <p:nvPr/>
        </p:nvSpPr>
        <p:spPr>
          <a:xfrm>
            <a:off x="4937760" y="1417320"/>
            <a:ext cx="457200" cy="457200"/>
          </a:xfrm>
          <a:prstGeom prst="ellipse">
            <a:avLst/>
          </a:prstGeom>
          <a:solidFill>
            <a:schemeClr val="accent1"/>
          </a:solidFill>
          <a:ln/>
        </p:spPr>
      </p:sp>
      <p:pic>
        <p:nvPicPr>
          <p:cNvPr id="8" name="icon-20" descr="preencoded.png">    </p:cNvPr>
          <p:cNvPicPr>
            <a:picLocks noChangeAspect="1"/>
          </p:cNvPicPr>
          <p:nvPr/>
        </p:nvPicPr>
        <p:blipFill>
          <a:blip r:embed="rId2"/>
          <a:stretch>
            <a:fillRect/>
          </a:stretch>
        </p:blipFill>
        <p:spPr>
          <a:xfrm>
            <a:off x="5038344" y="1517904"/>
            <a:ext cx="256032" cy="256032"/>
          </a:xfrm>
          <a:prstGeom prst="rect">
            <a:avLst/>
          </a:prstGeom>
        </p:spPr>
      </p:pic>
      <p:sp>
        <p:nvSpPr>
          <p:cNvPr id="9" name="text-21"/>
          <p:cNvSpPr txBox="1"/>
          <p:nvPr/>
        </p:nvSpPr>
        <p:spPr>
          <a:xfrm>
            <a:off x="1280160" y="1463040"/>
            <a:ext cx="3017520" cy="365760"/>
          </a:xfrm>
          <a:prstGeom prst="rect">
            <a:avLst/>
          </a:prstGeom>
          <a:noFill/>
          <a:ln/>
        </p:spPr>
        <p:txBody>
          <a:bodyPr wrap="square" lIns="0" tIns="0" rIns="0" bIns="0" rtlCol="0" anchor="ctr"/>
          <a:lstStyle/>
          <a:p>
            <a:pPr indent="0" marL="0">
              <a:buNone/>
            </a:pPr>
            <a:r>
              <a:rPr lang="en-US" sz="2000" b="1" dirty="0">
                <a:solidFill>
                  <a:schemeClr val="bg1"/>
                </a:solidFill>
                <a:latin typeface="Bahnschrift" pitchFamily="34" charset="0"/>
                <a:ea typeface="Bahnschrift" pitchFamily="34" charset="-122"/>
                <a:cs typeface="Bahnschrift" pitchFamily="34" charset="-120"/>
              </a:rPr>
              <a:t>Text-based (TBIR)</a:t>
            </a:r>
            <a:endParaRPr lang="en-US" sz="2000" dirty="0"/>
          </a:p>
        </p:txBody>
      </p:sp>
      <p:sp>
        <p:nvSpPr>
          <p:cNvPr id="10" name="text-22"/>
          <p:cNvSpPr txBox="1"/>
          <p:nvPr/>
        </p:nvSpPr>
        <p:spPr>
          <a:xfrm>
            <a:off x="5532120" y="1463040"/>
            <a:ext cx="3017520" cy="365760"/>
          </a:xfrm>
          <a:prstGeom prst="rect">
            <a:avLst/>
          </a:prstGeom>
          <a:noFill/>
          <a:ln/>
        </p:spPr>
        <p:txBody>
          <a:bodyPr wrap="square" lIns="0" tIns="0" rIns="0" bIns="0" rtlCol="0" anchor="ctr"/>
          <a:lstStyle/>
          <a:p>
            <a:pPr indent="0" marL="0">
              <a:buNone/>
            </a:pPr>
            <a:r>
              <a:rPr lang="en-US" sz="2000" b="1" dirty="0">
                <a:solidFill>
                  <a:schemeClr val="bg1"/>
                </a:solidFill>
                <a:latin typeface="Bahnschrift" pitchFamily="34" charset="0"/>
                <a:ea typeface="Bahnschrift" pitchFamily="34" charset="-122"/>
                <a:cs typeface="Bahnschrift" pitchFamily="34" charset="-120"/>
              </a:rPr>
              <a:t>Content-based (CBIR)</a:t>
            </a:r>
            <a:endParaRPr lang="en-US" sz="2000" dirty="0"/>
          </a:p>
        </p:txBody>
      </p:sp>
      <p:sp>
        <p:nvSpPr>
          <p:cNvPr id="11" name="text-23"/>
          <p:cNvSpPr txBox="1"/>
          <p:nvPr/>
        </p:nvSpPr>
        <p:spPr>
          <a:xfrm>
            <a:off x="685800" y="2057400"/>
            <a:ext cx="3566160" cy="14630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bg1"/>
                </a:solidFill>
                <a:latin typeface="Cambria" pitchFamily="34" charset="0"/>
                <a:ea typeface="Cambria" pitchFamily="34" charset="-122"/>
                <a:cs typeface="Cambria" pitchFamily="34" charset="-120"/>
              </a:rPr>
              <a:t>Experts tag images by hand</a:t>
            </a:r>
            <a:endParaRPr lang="en-US" sz="1500" dirty="0"/>
          </a:p>
          <a:p>
            <a:pPr marL="342900" indent="-342900">
              <a:spcAft>
                <a:spcPts val="600"/>
              </a:spcAft>
              <a:buSzPct val="100000"/>
              <a:buChar char="•"/>
            </a:pPr>
            <a:r>
              <a:rPr lang="en-US" sz="1500" dirty="0">
                <a:solidFill>
                  <a:schemeClr val="bg1"/>
                </a:solidFill>
                <a:latin typeface="Cambria" pitchFamily="34" charset="0"/>
                <a:ea typeface="Cambria" pitchFamily="34" charset="-122"/>
                <a:cs typeface="Cambria" pitchFamily="34" charset="-120"/>
              </a:rPr>
              <a:t>Slow to annotate</a:t>
            </a:r>
            <a:endParaRPr lang="en-US" sz="1500" dirty="0"/>
          </a:p>
          <a:p>
            <a:pPr marL="342900" indent="-342900">
              <a:spcAft>
                <a:spcPts val="600"/>
              </a:spcAft>
              <a:buSzPct val="100000"/>
              <a:buChar char="•"/>
            </a:pPr>
            <a:r>
              <a:rPr lang="en-US" sz="1500" dirty="0">
                <a:solidFill>
                  <a:schemeClr val="bg1"/>
                </a:solidFill>
                <a:latin typeface="Cambria" pitchFamily="34" charset="0"/>
                <a:ea typeface="Cambria" pitchFamily="34" charset="-122"/>
                <a:cs typeface="Cambria" pitchFamily="34" charset="-120"/>
              </a:rPr>
              <a:t>Tags are subjective and inconsistent</a:t>
            </a:r>
            <a:endParaRPr lang="en-US" sz="1500" dirty="0"/>
          </a:p>
        </p:txBody>
      </p:sp>
      <p:sp>
        <p:nvSpPr>
          <p:cNvPr id="12" name="text-24"/>
          <p:cNvSpPr txBox="1"/>
          <p:nvPr/>
        </p:nvSpPr>
        <p:spPr>
          <a:xfrm>
            <a:off x="4937760" y="2057400"/>
            <a:ext cx="3566160" cy="14630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bg1"/>
                </a:solidFill>
                <a:latin typeface="Cambria" pitchFamily="34" charset="0"/>
                <a:ea typeface="Cambria" pitchFamily="34" charset="-122"/>
                <a:cs typeface="Cambria" pitchFamily="34" charset="-120"/>
              </a:rPr>
              <a:t>Query with an image, compare visual features</a:t>
            </a:r>
            <a:endParaRPr lang="en-US" sz="1500" dirty="0"/>
          </a:p>
          <a:p>
            <a:pPr marL="342900" indent="-342900">
              <a:spcAft>
                <a:spcPts val="600"/>
              </a:spcAft>
              <a:buSzPct val="100000"/>
              <a:buChar char="•"/>
            </a:pPr>
            <a:r>
              <a:rPr lang="en-US" sz="1500" dirty="0">
                <a:solidFill>
                  <a:schemeClr val="bg1"/>
                </a:solidFill>
                <a:latin typeface="Cambria" pitchFamily="34" charset="0"/>
                <a:ea typeface="Cambria" pitchFamily="34" charset="-122"/>
                <a:cs typeface="Cambria" pitchFamily="34" charset="-120"/>
              </a:rPr>
              <a:t>No manual labelling</a:t>
            </a:r>
            <a:endParaRPr lang="en-US" sz="1500" dirty="0"/>
          </a:p>
          <a:p>
            <a:pPr marL="342900" indent="-342900">
              <a:spcAft>
                <a:spcPts val="600"/>
              </a:spcAft>
              <a:buSzPct val="100000"/>
              <a:buChar char="•"/>
            </a:pPr>
            <a:r>
              <a:rPr lang="en-US" sz="1500" dirty="0">
                <a:solidFill>
                  <a:schemeClr val="bg1"/>
                </a:solidFill>
                <a:latin typeface="Cambria" pitchFamily="34" charset="0"/>
                <a:ea typeface="Cambria" pitchFamily="34" charset="-122"/>
                <a:cs typeface="Cambria" pitchFamily="34" charset="-120"/>
              </a:rPr>
              <a:t>Cost: feature extraction for every image</a:t>
            </a:r>
            <a:endParaRPr lang="en-US" sz="1500" dirty="0"/>
          </a:p>
        </p:txBody>
      </p:sp>
      <p:sp>
        <p:nvSpPr>
          <p:cNvPr id="13" name="text-25"/>
          <p:cNvSpPr txBox="1"/>
          <p:nvPr/>
        </p:nvSpPr>
        <p:spPr>
          <a:xfrm>
            <a:off x="457200" y="3977640"/>
            <a:ext cx="8229600" cy="457200"/>
          </a:xfrm>
          <a:prstGeom prst="rect">
            <a:avLst/>
          </a:prstGeom>
          <a:noFill/>
          <a:ln/>
        </p:spPr>
        <p:txBody>
          <a:bodyPr wrap="square" lIns="0" tIns="0" rIns="0" bIns="0" rtlCol="0" anchor="ctr"/>
          <a:lstStyle/>
          <a:p>
            <a:pPr indent="0" marL="0">
              <a:buNone/>
            </a:pPr>
            <a:r>
              <a:rPr lang="en-US" sz="1500" b="1" dirty="0">
                <a:solidFill>
                  <a:schemeClr val="accent1"/>
                </a:solidFill>
                <a:latin typeface="Cambria" pitchFamily="34" charset="0"/>
                <a:ea typeface="Cambria" pitchFamily="34" charset="-122"/>
                <a:cs typeface="Cambria" pitchFamily="34" charset="-120"/>
              </a:rPr>
              <a:t>97 zettabytes </a:t>
            </a:r>
            <a:pPr indent="0" marL="0">
              <a:buNone/>
            </a:pPr>
            <a:r>
              <a:rPr lang="en-US" sz="1500" dirty="0">
                <a:solidFill>
                  <a:schemeClr val="bg1"/>
                </a:solidFill>
                <a:latin typeface="Cambria" pitchFamily="34" charset="0"/>
                <a:ea typeface="Cambria" pitchFamily="34" charset="-122"/>
                <a:cs typeface="Cambria" pitchFamily="34" charset="-120"/>
              </a:rPr>
              <a:t>of data were created in 2022 [1]. Feature extraction speed decides whether CBIR scales.</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bg1"/>
                </a:solidFill>
              </a:rPr>
              <a:t>SIFT: keypoints that survive scale and rotation</a:t>
            </a:r>
            <a:endParaRPr lang="en-US" sz="3000" dirty="0"/>
          </a:p>
        </p:txBody>
      </p:sp>
      <p:sp>
        <p:nvSpPr>
          <p:cNvPr id="3" name="step-26"/>
          <p:cNvSpPr/>
          <p:nvPr/>
        </p:nvSpPr>
        <p:spPr>
          <a:xfrm>
            <a:off x="457200" y="1188720"/>
            <a:ext cx="457200" cy="457200"/>
          </a:xfrm>
          <a:prstGeom prst="ellipse">
            <a:avLst/>
          </a:prstGeom>
          <a:solidFill>
            <a:schemeClr val="accent1"/>
          </a:solidFill>
          <a:ln/>
        </p:spPr>
      </p:sp>
      <p:sp>
        <p:nvSpPr>
          <p:cNvPr id="4" name="text-27"/>
          <p:cNvSpPr txBox="1"/>
          <p:nvPr/>
        </p:nvSpPr>
        <p:spPr>
          <a:xfrm>
            <a:off x="457200" y="1188720"/>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latin typeface="Bahnschrift" pitchFamily="34" charset="0"/>
                <a:ea typeface="Bahnschrift" pitchFamily="34" charset="-122"/>
                <a:cs typeface="Bahnschrift" pitchFamily="34" charset="-120"/>
              </a:rPr>
              <a:t>1</a:t>
            </a:r>
            <a:endParaRPr lang="en-US" sz="1800" dirty="0"/>
          </a:p>
        </p:txBody>
      </p:sp>
      <p:sp>
        <p:nvSpPr>
          <p:cNvPr id="5" name="text-28"/>
          <p:cNvSpPr txBox="1"/>
          <p:nvPr/>
        </p:nvSpPr>
        <p:spPr>
          <a:xfrm>
            <a:off x="1097280" y="1143000"/>
            <a:ext cx="3291840" cy="320040"/>
          </a:xfrm>
          <a:prstGeom prst="rect">
            <a:avLst/>
          </a:prstGeom>
          <a:noFill/>
          <a:ln/>
        </p:spPr>
        <p:txBody>
          <a:bodyPr wrap="square" lIns="0" tIns="0" rIns="0" bIns="0" rtlCol="0" anchor="ctr"/>
          <a:lstStyle/>
          <a:p>
            <a:pPr indent="0" marL="0">
              <a:buNone/>
            </a:pPr>
            <a:r>
              <a:rPr lang="en-US" sz="1700" b="1" dirty="0">
                <a:solidFill>
                  <a:schemeClr val="bg1"/>
                </a:solidFill>
                <a:latin typeface="Bahnschrift" pitchFamily="34" charset="0"/>
                <a:ea typeface="Bahnschrift" pitchFamily="34" charset="-122"/>
                <a:cs typeface="Bahnschrift" pitchFamily="34" charset="-120"/>
              </a:rPr>
              <a:t>Scale-space extrema</a:t>
            </a:r>
            <a:endParaRPr lang="en-US" sz="1700" dirty="0"/>
          </a:p>
        </p:txBody>
      </p:sp>
      <p:sp>
        <p:nvSpPr>
          <p:cNvPr id="6" name="text-29"/>
          <p:cNvSpPr txBox="1"/>
          <p:nvPr/>
        </p:nvSpPr>
        <p:spPr>
          <a:xfrm>
            <a:off x="1097280" y="1463040"/>
            <a:ext cx="3291840" cy="320040"/>
          </a:xfrm>
          <a:prstGeom prst="rect">
            <a:avLst/>
          </a:prstGeom>
          <a:noFill/>
          <a:ln/>
        </p:spPr>
        <p:txBody>
          <a:bodyPr wrap="square" lIns="0" tIns="0" rIns="0" bIns="0" rtlCol="0" anchor="ctr"/>
          <a:lstStyle/>
          <a:p>
            <a:pPr indent="0" marL="0">
              <a:buNone/>
            </a:pPr>
            <a:r>
              <a:rPr lang="en-US" sz="1400" dirty="0">
                <a:solidFill>
                  <a:schemeClr val="bg2"/>
                </a:solidFill>
                <a:latin typeface="Cambria" pitchFamily="34" charset="0"/>
                <a:ea typeface="Cambria" pitchFamily="34" charset="-122"/>
                <a:cs typeface="Cambria" pitchFamily="34" charset="-120"/>
              </a:rPr>
              <a:t>Gaussian pyramid, Difference of Gaussians</a:t>
            </a:r>
            <a:endParaRPr lang="en-US" sz="1400" dirty="0"/>
          </a:p>
        </p:txBody>
      </p:sp>
      <p:sp>
        <p:nvSpPr>
          <p:cNvPr id="7" name="step-30"/>
          <p:cNvSpPr/>
          <p:nvPr/>
        </p:nvSpPr>
        <p:spPr>
          <a:xfrm>
            <a:off x="457200" y="2029968"/>
            <a:ext cx="457200" cy="457200"/>
          </a:xfrm>
          <a:prstGeom prst="ellipse">
            <a:avLst/>
          </a:prstGeom>
          <a:solidFill>
            <a:schemeClr val="accent1"/>
          </a:solidFill>
          <a:ln/>
        </p:spPr>
      </p:sp>
      <p:sp>
        <p:nvSpPr>
          <p:cNvPr id="8" name="text-31"/>
          <p:cNvSpPr txBox="1"/>
          <p:nvPr/>
        </p:nvSpPr>
        <p:spPr>
          <a:xfrm>
            <a:off x="457200" y="2029968"/>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latin typeface="Bahnschrift" pitchFamily="34" charset="0"/>
                <a:ea typeface="Bahnschrift" pitchFamily="34" charset="-122"/>
                <a:cs typeface="Bahnschrift" pitchFamily="34" charset="-120"/>
              </a:rPr>
              <a:t>2</a:t>
            </a:r>
            <a:endParaRPr lang="en-US" sz="1800" dirty="0"/>
          </a:p>
        </p:txBody>
      </p:sp>
      <p:sp>
        <p:nvSpPr>
          <p:cNvPr id="9" name="text-32"/>
          <p:cNvSpPr txBox="1"/>
          <p:nvPr/>
        </p:nvSpPr>
        <p:spPr>
          <a:xfrm>
            <a:off x="1097280" y="1984248"/>
            <a:ext cx="3291840" cy="320040"/>
          </a:xfrm>
          <a:prstGeom prst="rect">
            <a:avLst/>
          </a:prstGeom>
          <a:noFill/>
          <a:ln/>
        </p:spPr>
        <p:txBody>
          <a:bodyPr wrap="square" lIns="0" tIns="0" rIns="0" bIns="0" rtlCol="0" anchor="ctr"/>
          <a:lstStyle/>
          <a:p>
            <a:pPr indent="0" marL="0">
              <a:buNone/>
            </a:pPr>
            <a:r>
              <a:rPr lang="en-US" sz="1700" b="1" dirty="0">
                <a:solidFill>
                  <a:schemeClr val="bg1"/>
                </a:solidFill>
                <a:latin typeface="Bahnschrift" pitchFamily="34" charset="0"/>
                <a:ea typeface="Bahnschrift" pitchFamily="34" charset="-122"/>
                <a:cs typeface="Bahnschrift" pitchFamily="34" charset="-120"/>
              </a:rPr>
              <a:t>Keypoint localisation</a:t>
            </a:r>
            <a:endParaRPr lang="en-US" sz="1700" dirty="0"/>
          </a:p>
        </p:txBody>
      </p:sp>
      <p:sp>
        <p:nvSpPr>
          <p:cNvPr id="10" name="text-33"/>
          <p:cNvSpPr txBox="1"/>
          <p:nvPr/>
        </p:nvSpPr>
        <p:spPr>
          <a:xfrm>
            <a:off x="1097280" y="2304288"/>
            <a:ext cx="3291840" cy="320040"/>
          </a:xfrm>
          <a:prstGeom prst="rect">
            <a:avLst/>
          </a:prstGeom>
          <a:noFill/>
          <a:ln/>
        </p:spPr>
        <p:txBody>
          <a:bodyPr wrap="square" lIns="0" tIns="0" rIns="0" bIns="0" rtlCol="0" anchor="ctr"/>
          <a:lstStyle/>
          <a:p>
            <a:pPr indent="0" marL="0">
              <a:buNone/>
            </a:pPr>
            <a:r>
              <a:rPr lang="en-US" sz="1400" dirty="0">
                <a:solidFill>
                  <a:schemeClr val="bg2"/>
                </a:solidFill>
                <a:latin typeface="Cambria" pitchFamily="34" charset="0"/>
                <a:ea typeface="Cambria" pitchFamily="34" charset="-122"/>
                <a:cs typeface="Cambria" pitchFamily="34" charset="-120"/>
              </a:rPr>
              <a:t>Reject low contrast and edges</a:t>
            </a:r>
            <a:endParaRPr lang="en-US" sz="1400" dirty="0"/>
          </a:p>
        </p:txBody>
      </p:sp>
      <p:sp>
        <p:nvSpPr>
          <p:cNvPr id="11" name="step-34"/>
          <p:cNvSpPr/>
          <p:nvPr/>
        </p:nvSpPr>
        <p:spPr>
          <a:xfrm>
            <a:off x="457200" y="2871216"/>
            <a:ext cx="457200" cy="457200"/>
          </a:xfrm>
          <a:prstGeom prst="ellipse">
            <a:avLst/>
          </a:prstGeom>
          <a:solidFill>
            <a:schemeClr val="accent1"/>
          </a:solidFill>
          <a:ln/>
        </p:spPr>
      </p:sp>
      <p:sp>
        <p:nvSpPr>
          <p:cNvPr id="12" name="text-35"/>
          <p:cNvSpPr txBox="1"/>
          <p:nvPr/>
        </p:nvSpPr>
        <p:spPr>
          <a:xfrm>
            <a:off x="457200" y="2871216"/>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latin typeface="Bahnschrift" pitchFamily="34" charset="0"/>
                <a:ea typeface="Bahnschrift" pitchFamily="34" charset="-122"/>
                <a:cs typeface="Bahnschrift" pitchFamily="34" charset="-120"/>
              </a:rPr>
              <a:t>3</a:t>
            </a:r>
            <a:endParaRPr lang="en-US" sz="1800" dirty="0"/>
          </a:p>
        </p:txBody>
      </p:sp>
      <p:sp>
        <p:nvSpPr>
          <p:cNvPr id="13" name="text-36"/>
          <p:cNvSpPr txBox="1"/>
          <p:nvPr/>
        </p:nvSpPr>
        <p:spPr>
          <a:xfrm>
            <a:off x="1097280" y="2825496"/>
            <a:ext cx="3291840" cy="320040"/>
          </a:xfrm>
          <a:prstGeom prst="rect">
            <a:avLst/>
          </a:prstGeom>
          <a:noFill/>
          <a:ln/>
        </p:spPr>
        <p:txBody>
          <a:bodyPr wrap="square" lIns="0" tIns="0" rIns="0" bIns="0" rtlCol="0" anchor="ctr"/>
          <a:lstStyle/>
          <a:p>
            <a:pPr indent="0" marL="0">
              <a:buNone/>
            </a:pPr>
            <a:r>
              <a:rPr lang="en-US" sz="1700" b="1" dirty="0">
                <a:solidFill>
                  <a:schemeClr val="bg1"/>
                </a:solidFill>
                <a:latin typeface="Bahnschrift" pitchFamily="34" charset="0"/>
                <a:ea typeface="Bahnschrift" pitchFamily="34" charset="-122"/>
                <a:cs typeface="Bahnschrift" pitchFamily="34" charset="-120"/>
              </a:rPr>
              <a:t>Orientation</a:t>
            </a:r>
            <a:endParaRPr lang="en-US" sz="1700" dirty="0"/>
          </a:p>
        </p:txBody>
      </p:sp>
      <p:sp>
        <p:nvSpPr>
          <p:cNvPr id="14" name="text-37"/>
          <p:cNvSpPr txBox="1"/>
          <p:nvPr/>
        </p:nvSpPr>
        <p:spPr>
          <a:xfrm>
            <a:off x="1097280" y="3145536"/>
            <a:ext cx="3291840" cy="320040"/>
          </a:xfrm>
          <a:prstGeom prst="rect">
            <a:avLst/>
          </a:prstGeom>
          <a:noFill/>
          <a:ln/>
        </p:spPr>
        <p:txBody>
          <a:bodyPr wrap="square" lIns="0" tIns="0" rIns="0" bIns="0" rtlCol="0" anchor="ctr"/>
          <a:lstStyle/>
          <a:p>
            <a:pPr indent="0" marL="0">
              <a:buNone/>
            </a:pPr>
            <a:r>
              <a:rPr lang="en-US" sz="1400" dirty="0">
                <a:solidFill>
                  <a:schemeClr val="bg2"/>
                </a:solidFill>
                <a:latin typeface="Cambria" pitchFamily="34" charset="0"/>
                <a:ea typeface="Cambria" pitchFamily="34" charset="-122"/>
                <a:cs typeface="Cambria" pitchFamily="34" charset="-120"/>
              </a:rPr>
              <a:t>Dominant gradient direction</a:t>
            </a:r>
            <a:endParaRPr lang="en-US" sz="1400" dirty="0"/>
          </a:p>
        </p:txBody>
      </p:sp>
      <p:sp>
        <p:nvSpPr>
          <p:cNvPr id="15" name="step-38"/>
          <p:cNvSpPr/>
          <p:nvPr/>
        </p:nvSpPr>
        <p:spPr>
          <a:xfrm>
            <a:off x="457200" y="3712464"/>
            <a:ext cx="457200" cy="457200"/>
          </a:xfrm>
          <a:prstGeom prst="ellipse">
            <a:avLst/>
          </a:prstGeom>
          <a:solidFill>
            <a:schemeClr val="accent1"/>
          </a:solidFill>
          <a:ln/>
        </p:spPr>
      </p:sp>
      <p:sp>
        <p:nvSpPr>
          <p:cNvPr id="16" name="text-39"/>
          <p:cNvSpPr txBox="1"/>
          <p:nvPr/>
        </p:nvSpPr>
        <p:spPr>
          <a:xfrm>
            <a:off x="457200" y="3712464"/>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latin typeface="Bahnschrift" pitchFamily="34" charset="0"/>
                <a:ea typeface="Bahnschrift" pitchFamily="34" charset="-122"/>
                <a:cs typeface="Bahnschrift" pitchFamily="34" charset="-120"/>
              </a:rPr>
              <a:t>4</a:t>
            </a:r>
            <a:endParaRPr lang="en-US" sz="1800" dirty="0"/>
          </a:p>
        </p:txBody>
      </p:sp>
      <p:sp>
        <p:nvSpPr>
          <p:cNvPr id="17" name="text-40"/>
          <p:cNvSpPr txBox="1"/>
          <p:nvPr/>
        </p:nvSpPr>
        <p:spPr>
          <a:xfrm>
            <a:off x="1097280" y="3666744"/>
            <a:ext cx="3291840" cy="320040"/>
          </a:xfrm>
          <a:prstGeom prst="rect">
            <a:avLst/>
          </a:prstGeom>
          <a:noFill/>
          <a:ln/>
        </p:spPr>
        <p:txBody>
          <a:bodyPr wrap="square" lIns="0" tIns="0" rIns="0" bIns="0" rtlCol="0" anchor="ctr"/>
          <a:lstStyle/>
          <a:p>
            <a:pPr indent="0" marL="0">
              <a:buNone/>
            </a:pPr>
            <a:r>
              <a:rPr lang="en-US" sz="1700" b="1" dirty="0">
                <a:solidFill>
                  <a:schemeClr val="bg1"/>
                </a:solidFill>
                <a:latin typeface="Bahnschrift" pitchFamily="34" charset="0"/>
                <a:ea typeface="Bahnschrift" pitchFamily="34" charset="-122"/>
                <a:cs typeface="Bahnschrift" pitchFamily="34" charset="-120"/>
              </a:rPr>
              <a:t>Descriptor</a:t>
            </a:r>
            <a:endParaRPr lang="en-US" sz="1700" dirty="0"/>
          </a:p>
        </p:txBody>
      </p:sp>
      <p:sp>
        <p:nvSpPr>
          <p:cNvPr id="18" name="text-41"/>
          <p:cNvSpPr txBox="1"/>
          <p:nvPr/>
        </p:nvSpPr>
        <p:spPr>
          <a:xfrm>
            <a:off x="1097280" y="3986784"/>
            <a:ext cx="3291840" cy="320040"/>
          </a:xfrm>
          <a:prstGeom prst="rect">
            <a:avLst/>
          </a:prstGeom>
          <a:noFill/>
          <a:ln/>
        </p:spPr>
        <p:txBody>
          <a:bodyPr wrap="square" lIns="0" tIns="0" rIns="0" bIns="0" rtlCol="0" anchor="ctr"/>
          <a:lstStyle/>
          <a:p>
            <a:pPr indent="0" marL="0">
              <a:buNone/>
            </a:pPr>
            <a:r>
              <a:rPr lang="en-US" sz="1400" dirty="0">
                <a:solidFill>
                  <a:schemeClr val="bg2"/>
                </a:solidFill>
                <a:latin typeface="Cambria" pitchFamily="34" charset="0"/>
                <a:ea typeface="Cambria" pitchFamily="34" charset="-122"/>
                <a:cs typeface="Cambria" pitchFamily="34" charset="-120"/>
              </a:rPr>
              <a:t>128-d gradient histogram</a:t>
            </a:r>
            <a:endParaRPr lang="en-US" sz="1400" dirty="0"/>
          </a:p>
        </p:txBody>
      </p:sp>
      <p:sp>
        <p:nvSpPr>
          <p:cNvPr id="19" name="frame-42"/>
          <p:cNvSpPr/>
          <p:nvPr/>
        </p:nvSpPr>
        <p:spPr>
          <a:xfrm>
            <a:off x="4572000" y="1354796"/>
            <a:ext cx="4114800" cy="2411048"/>
          </a:xfrm>
          <a:prstGeom prst="roundRect">
            <a:avLst>
              <a:gd name="adj" fmla="val 2276"/>
            </a:avLst>
          </a:prstGeom>
          <a:solidFill>
            <a:srgbClr val="FFFFFF"/>
          </a:solidFill>
          <a:ln/>
        </p:spPr>
      </p:sp>
      <p:pic>
        <p:nvPicPr>
          <p:cNvPr id="20" name="image-43" descr="C:\Users\Musa Waghu\.claude\jobs\3cc2589d\tmp\deck\orig\p08_0.png">    </p:cNvPr>
          <p:cNvPicPr>
            <a:picLocks noChangeAspect="1"/>
          </p:cNvPicPr>
          <p:nvPr/>
        </p:nvPicPr>
        <p:blipFill>
          <a:blip r:embed="rId1"/>
          <a:stretch>
            <a:fillRect/>
          </a:stretch>
        </p:blipFill>
        <p:spPr>
          <a:xfrm>
            <a:off x="4645152" y="1427948"/>
            <a:ext cx="3968496" cy="2264744"/>
          </a:xfrm>
          <a:prstGeom prst="rect">
            <a:avLst/>
          </a:prstGeom>
        </p:spPr>
      </p:pic>
      <p:sp>
        <p:nvSpPr>
          <p:cNvPr id="21" name="text-44"/>
          <p:cNvSpPr txBox="1"/>
          <p:nvPr/>
        </p:nvSpPr>
        <p:spPr>
          <a:xfrm>
            <a:off x="4572000" y="3977640"/>
            <a:ext cx="4114800" cy="457200"/>
          </a:xfrm>
          <a:prstGeom prst="rect">
            <a:avLst/>
          </a:prstGeom>
          <a:noFill/>
          <a:ln/>
        </p:spPr>
        <p:txBody>
          <a:bodyPr wrap="square" lIns="0" tIns="0" rIns="0" bIns="0" rtlCol="0" anchor="ctr"/>
          <a:lstStyle/>
          <a:p>
            <a:pPr algn="ctr" indent="0" marL="0">
              <a:buNone/>
            </a:pPr>
            <a:r>
              <a:rPr lang="en-US" sz="1200" dirty="0">
                <a:solidFill>
                  <a:schemeClr val="bg2"/>
                </a:solidFill>
                <a:latin typeface="Cambria" pitchFamily="34" charset="0"/>
                <a:ea typeface="Cambria" pitchFamily="34" charset="-122"/>
                <a:cs typeface="Cambria" pitchFamily="34" charset="-120"/>
              </a:rPr>
              <a:t>SIFT matches the same landmark across scale and viewpoint (Lowe, 1999 [4])</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bg1"/>
                </a:solidFill>
              </a:rPr>
              <a:t>Inside SIFT</a:t>
            </a:r>
            <a:endParaRPr lang="en-US" sz="3000" dirty="0"/>
          </a:p>
        </p:txBody>
      </p:sp>
      <p:sp>
        <p:nvSpPr>
          <p:cNvPr id="3" name="frame-45"/>
          <p:cNvSpPr/>
          <p:nvPr/>
        </p:nvSpPr>
        <p:spPr>
          <a:xfrm>
            <a:off x="457200" y="1453538"/>
            <a:ext cx="2606040" cy="1939244"/>
          </a:xfrm>
          <a:prstGeom prst="roundRect">
            <a:avLst>
              <a:gd name="adj" fmla="val 2829"/>
            </a:avLst>
          </a:prstGeom>
          <a:solidFill>
            <a:srgbClr val="FFFFFF"/>
          </a:solidFill>
          <a:ln/>
        </p:spPr>
      </p:sp>
      <p:pic>
        <p:nvPicPr>
          <p:cNvPr id="4" name="image-46" descr="C:\Users\Musa Waghu\.claude\jobs\3cc2589d\tmp\deck\orig\p10_0.png">    </p:cNvPr>
          <p:cNvPicPr>
            <a:picLocks noChangeAspect="1"/>
          </p:cNvPicPr>
          <p:nvPr/>
        </p:nvPicPr>
        <p:blipFill>
          <a:blip r:embed="rId1"/>
          <a:stretch>
            <a:fillRect/>
          </a:stretch>
        </p:blipFill>
        <p:spPr>
          <a:xfrm>
            <a:off x="530352" y="1526690"/>
            <a:ext cx="2459736" cy="1792940"/>
          </a:xfrm>
          <a:prstGeom prst="rect">
            <a:avLst/>
          </a:prstGeom>
        </p:spPr>
      </p:pic>
      <p:sp>
        <p:nvSpPr>
          <p:cNvPr id="5" name="text-47"/>
          <p:cNvSpPr txBox="1"/>
          <p:nvPr/>
        </p:nvSpPr>
        <p:spPr>
          <a:xfrm>
            <a:off x="457200" y="3749040"/>
            <a:ext cx="2606040" cy="548640"/>
          </a:xfrm>
          <a:prstGeom prst="rect">
            <a:avLst/>
          </a:prstGeom>
          <a:noFill/>
          <a:ln/>
        </p:spPr>
        <p:txBody>
          <a:bodyPr wrap="square" lIns="0" tIns="0" rIns="0" bIns="0" rtlCol="0" anchor="t"/>
          <a:lstStyle/>
          <a:p>
            <a:pPr algn="ctr" indent="0" marL="0">
              <a:buNone/>
            </a:pPr>
            <a:r>
              <a:rPr lang="en-US" sz="1400" dirty="0">
                <a:solidFill>
                  <a:schemeClr val="bg1"/>
                </a:solidFill>
                <a:latin typeface="Cambria" pitchFamily="34" charset="0"/>
                <a:ea typeface="Cambria" pitchFamily="34" charset="-122"/>
                <a:cs typeface="Cambria" pitchFamily="34" charset="-120"/>
              </a:rPr>
              <a:t>Difference of Gaussians across scales</a:t>
            </a:r>
            <a:endParaRPr lang="en-US" sz="1400" dirty="0"/>
          </a:p>
        </p:txBody>
      </p:sp>
      <p:sp>
        <p:nvSpPr>
          <p:cNvPr id="6" name="frame-48"/>
          <p:cNvSpPr/>
          <p:nvPr/>
        </p:nvSpPr>
        <p:spPr>
          <a:xfrm>
            <a:off x="3246120" y="1358584"/>
            <a:ext cx="2606040" cy="2129152"/>
          </a:xfrm>
          <a:prstGeom prst="roundRect">
            <a:avLst>
              <a:gd name="adj" fmla="val 2577"/>
            </a:avLst>
          </a:prstGeom>
          <a:solidFill>
            <a:srgbClr val="FFFFFF"/>
          </a:solidFill>
          <a:ln/>
        </p:spPr>
      </p:sp>
      <p:pic>
        <p:nvPicPr>
          <p:cNvPr id="7" name="image-49" descr="C:\Users\Musa Waghu\.claude\jobs\3cc2589d\tmp\deck\orig\p11_0.png">    </p:cNvPr>
          <p:cNvPicPr>
            <a:picLocks noChangeAspect="1"/>
          </p:cNvPicPr>
          <p:nvPr/>
        </p:nvPicPr>
        <p:blipFill>
          <a:blip r:embed="rId2"/>
          <a:stretch>
            <a:fillRect/>
          </a:stretch>
        </p:blipFill>
        <p:spPr>
          <a:xfrm>
            <a:off x="3319272" y="1431736"/>
            <a:ext cx="2459736" cy="1982848"/>
          </a:xfrm>
          <a:prstGeom prst="rect">
            <a:avLst/>
          </a:prstGeom>
        </p:spPr>
      </p:pic>
      <p:sp>
        <p:nvSpPr>
          <p:cNvPr id="8" name="text-50"/>
          <p:cNvSpPr txBox="1"/>
          <p:nvPr/>
        </p:nvSpPr>
        <p:spPr>
          <a:xfrm>
            <a:off x="3246120" y="3749040"/>
            <a:ext cx="2606040" cy="548640"/>
          </a:xfrm>
          <a:prstGeom prst="rect">
            <a:avLst/>
          </a:prstGeom>
          <a:noFill/>
          <a:ln/>
        </p:spPr>
        <p:txBody>
          <a:bodyPr wrap="square" lIns="0" tIns="0" rIns="0" bIns="0" rtlCol="0" anchor="t"/>
          <a:lstStyle/>
          <a:p>
            <a:pPr algn="ctr" indent="0" marL="0">
              <a:buNone/>
            </a:pPr>
            <a:r>
              <a:rPr lang="en-US" sz="1400" dirty="0">
                <a:solidFill>
                  <a:schemeClr val="bg1"/>
                </a:solidFill>
                <a:latin typeface="Cambria" pitchFamily="34" charset="0"/>
                <a:ea typeface="Cambria" pitchFamily="34" charset="-122"/>
                <a:cs typeface="Cambria" pitchFamily="34" charset="-120"/>
              </a:rPr>
              <a:t>Each pixel checked against 26 neighbours</a:t>
            </a:r>
            <a:endParaRPr lang="en-US" sz="1400" dirty="0"/>
          </a:p>
        </p:txBody>
      </p:sp>
      <p:sp>
        <p:nvSpPr>
          <p:cNvPr id="9" name="frame-51"/>
          <p:cNvSpPr/>
          <p:nvPr/>
        </p:nvSpPr>
        <p:spPr>
          <a:xfrm>
            <a:off x="6035040" y="1755087"/>
            <a:ext cx="2606040" cy="1336147"/>
          </a:xfrm>
          <a:prstGeom prst="roundRect">
            <a:avLst>
              <a:gd name="adj" fmla="val 4106"/>
            </a:avLst>
          </a:prstGeom>
          <a:solidFill>
            <a:srgbClr val="FFFFFF"/>
          </a:solidFill>
          <a:ln/>
        </p:spPr>
      </p:sp>
      <p:pic>
        <p:nvPicPr>
          <p:cNvPr id="10" name="image-52" descr="C:\Users\Musa Waghu\.claude\jobs\3cc2589d\tmp\deck\orig\p14_0.png">    </p:cNvPr>
          <p:cNvPicPr>
            <a:picLocks noChangeAspect="1"/>
          </p:cNvPicPr>
          <p:nvPr/>
        </p:nvPicPr>
        <p:blipFill>
          <a:blip r:embed="rId3"/>
          <a:stretch>
            <a:fillRect/>
          </a:stretch>
        </p:blipFill>
        <p:spPr>
          <a:xfrm>
            <a:off x="6108192" y="1828239"/>
            <a:ext cx="2459736" cy="1189843"/>
          </a:xfrm>
          <a:prstGeom prst="rect">
            <a:avLst/>
          </a:prstGeom>
        </p:spPr>
      </p:pic>
      <p:sp>
        <p:nvSpPr>
          <p:cNvPr id="11" name="text-53"/>
          <p:cNvSpPr txBox="1"/>
          <p:nvPr/>
        </p:nvSpPr>
        <p:spPr>
          <a:xfrm>
            <a:off x="6035040" y="3749040"/>
            <a:ext cx="2606040" cy="548640"/>
          </a:xfrm>
          <a:prstGeom prst="rect">
            <a:avLst/>
          </a:prstGeom>
          <a:noFill/>
          <a:ln/>
        </p:spPr>
        <p:txBody>
          <a:bodyPr wrap="square" lIns="0" tIns="0" rIns="0" bIns="0" rtlCol="0" anchor="t"/>
          <a:lstStyle/>
          <a:p>
            <a:pPr algn="ctr" indent="0" marL="0">
              <a:buNone/>
            </a:pPr>
            <a:r>
              <a:rPr lang="en-US" sz="1400" dirty="0">
                <a:solidFill>
                  <a:schemeClr val="bg1"/>
                </a:solidFill>
                <a:latin typeface="Cambria" pitchFamily="34" charset="0"/>
                <a:ea typeface="Cambria" pitchFamily="34" charset="-122"/>
                <a:cs typeface="Cambria" pitchFamily="34" charset="-120"/>
              </a:rPr>
              <a:t>16×16 window becomes a 128-d descriptor</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bg1"/>
                </a:solidFill>
              </a:rPr>
              <a:t>NMS-SIFT: keep the strongest keypoint nearby</a:t>
            </a:r>
            <a:endParaRPr lang="en-US" sz="3000" dirty="0"/>
          </a:p>
        </p:txBody>
      </p:sp>
      <p:sp>
        <p:nvSpPr>
          <p:cNvPr id="3" name="text-54"/>
          <p:cNvSpPr txBox="1"/>
          <p:nvPr/>
        </p:nvSpPr>
        <p:spPr>
          <a:xfrm>
            <a:off x="457200" y="1371600"/>
            <a:ext cx="3840480" cy="20116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bg1"/>
                </a:solidFill>
                <a:latin typeface="Cambria" pitchFamily="34" charset="0"/>
                <a:ea typeface="Cambria" pitchFamily="34" charset="-122"/>
                <a:cs typeface="Cambria" pitchFamily="34" charset="-120"/>
              </a:rPr>
              <a:t>Sort keypoints by response strength</a:t>
            </a:r>
            <a:endParaRPr lang="en-US" sz="1600" dirty="0"/>
          </a:p>
          <a:p>
            <a:pPr marL="342900" indent="-342900">
              <a:spcAft>
                <a:spcPts val="600"/>
              </a:spcAft>
              <a:buSzPct val="100000"/>
              <a:buChar char="•"/>
            </a:pPr>
            <a:r>
              <a:rPr lang="en-US" sz="1600" dirty="0">
                <a:solidFill>
                  <a:schemeClr val="bg1"/>
                </a:solidFill>
                <a:latin typeface="Cambria" pitchFamily="34" charset="0"/>
                <a:ea typeface="Cambria" pitchFamily="34" charset="-122"/>
                <a:cs typeface="Cambria" pitchFamily="34" charset="-120"/>
              </a:rPr>
              <a:t>Drop any keypoint within 10 px of a stronger one</a:t>
            </a:r>
            <a:endParaRPr lang="en-US" sz="1600" dirty="0"/>
          </a:p>
          <a:p>
            <a:pPr marL="342900" indent="-342900">
              <a:spcAft>
                <a:spcPts val="600"/>
              </a:spcAft>
              <a:buSzPct val="100000"/>
              <a:buChar char="•"/>
            </a:pPr>
            <a:r>
              <a:rPr lang="en-US" sz="1600" dirty="0">
                <a:solidFill>
                  <a:schemeClr val="bg1"/>
                </a:solidFill>
                <a:latin typeface="Cambria" pitchFamily="34" charset="0"/>
                <a:ea typeface="Cambria" pitchFamily="34" charset="-122"/>
                <a:cs typeface="Cambria" pitchFamily="34" charset="-120"/>
              </a:rPr>
              <a:t>Fewer, more distinctive keypoints for matching</a:t>
            </a:r>
            <a:endParaRPr lang="en-US" sz="1600" dirty="0"/>
          </a:p>
        </p:txBody>
      </p:sp>
      <p:sp>
        <p:nvSpPr>
          <p:cNvPr id="4" name="text-55"/>
          <p:cNvSpPr txBox="1"/>
          <p:nvPr/>
        </p:nvSpPr>
        <p:spPr>
          <a:xfrm>
            <a:off x="457200" y="3383280"/>
            <a:ext cx="3840480" cy="731520"/>
          </a:xfrm>
          <a:prstGeom prst="rect">
            <a:avLst/>
          </a:prstGeom>
          <a:noFill/>
          <a:ln/>
        </p:spPr>
        <p:txBody>
          <a:bodyPr wrap="square" lIns="0" tIns="0" rIns="0" bIns="0" rtlCol="0" anchor="ctr"/>
          <a:lstStyle/>
          <a:p>
            <a:pPr indent="0" marL="0">
              <a:buNone/>
            </a:pPr>
            <a:r>
              <a:rPr lang="en-US" sz="1400" dirty="0">
                <a:solidFill>
                  <a:schemeClr val="bg2"/>
                </a:solidFill>
                <a:latin typeface="Cambria" pitchFamily="34" charset="0"/>
                <a:ea typeface="Cambria" pitchFamily="34" charset="-122"/>
                <a:cs typeface="Cambria" pitchFamily="34" charset="-120"/>
              </a:rPr>
              <a:t>Non-maximum suppression is borrowed from object detection, where it removes overlapping boxes [5].</a:t>
            </a:r>
            <a:endParaRPr lang="en-US" sz="1400" dirty="0"/>
          </a:p>
        </p:txBody>
      </p:sp>
      <p:sp>
        <p:nvSpPr>
          <p:cNvPr id="5" name="frame-56"/>
          <p:cNvSpPr/>
          <p:nvPr/>
        </p:nvSpPr>
        <p:spPr>
          <a:xfrm>
            <a:off x="4572000" y="1472715"/>
            <a:ext cx="4114800" cy="1626570"/>
          </a:xfrm>
          <a:prstGeom prst="roundRect">
            <a:avLst>
              <a:gd name="adj" fmla="val 3373"/>
            </a:avLst>
          </a:prstGeom>
          <a:solidFill>
            <a:srgbClr val="FFFFFF"/>
          </a:solidFill>
          <a:ln/>
        </p:spPr>
      </p:sp>
      <p:pic>
        <p:nvPicPr>
          <p:cNvPr id="6" name="image-57" descr="C:\Users\Musa Waghu\.claude\jobs\3cc2589d\tmp\deck\orig\p16_0.png">    </p:cNvPr>
          <p:cNvPicPr>
            <a:picLocks noChangeAspect="1"/>
          </p:cNvPicPr>
          <p:nvPr/>
        </p:nvPicPr>
        <p:blipFill>
          <a:blip r:embed="rId1"/>
          <a:stretch>
            <a:fillRect/>
          </a:stretch>
        </p:blipFill>
        <p:spPr>
          <a:xfrm>
            <a:off x="4645152" y="1545867"/>
            <a:ext cx="3968496" cy="1480266"/>
          </a:xfrm>
          <a:prstGeom prst="rect">
            <a:avLst/>
          </a:prstGeom>
        </p:spPr>
      </p:pic>
      <p:sp>
        <p:nvSpPr>
          <p:cNvPr id="7" name="text-58"/>
          <p:cNvSpPr txBox="1"/>
          <p:nvPr/>
        </p:nvSpPr>
        <p:spPr>
          <a:xfrm>
            <a:off x="4572000" y="3291840"/>
            <a:ext cx="4114800" cy="365760"/>
          </a:xfrm>
          <a:prstGeom prst="rect">
            <a:avLst/>
          </a:prstGeom>
          <a:noFill/>
          <a:ln/>
        </p:spPr>
        <p:txBody>
          <a:bodyPr wrap="square" lIns="0" tIns="0" rIns="0" bIns="0" rtlCol="0" anchor="ctr"/>
          <a:lstStyle/>
          <a:p>
            <a:pPr algn="ctr" indent="0" marL="0">
              <a:buNone/>
            </a:pPr>
            <a:r>
              <a:rPr lang="en-US" sz="1200" dirty="0">
                <a:solidFill>
                  <a:schemeClr val="bg2"/>
                </a:solidFill>
                <a:latin typeface="Cambria" pitchFamily="34" charset="0"/>
                <a:ea typeface="Cambria" pitchFamily="34" charset="-122"/>
                <a:cs typeface="Cambria" pitchFamily="34" charset="-120"/>
              </a:rPr>
              <a:t>NMS in object detection. Image credit: learnopencv.com</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59"/>
          <p:cNvSpPr txBox="1"/>
          <p:nvPr/>
        </p:nvSpPr>
        <p:spPr>
          <a:xfrm>
            <a:off x="548640" y="1554480"/>
            <a:ext cx="8046720" cy="411480"/>
          </a:xfrm>
          <a:prstGeom prst="rect">
            <a:avLst/>
          </a:prstGeom>
          <a:noFill/>
          <a:ln/>
        </p:spPr>
        <p:txBody>
          <a:bodyPr wrap="square" lIns="0" tIns="0" rIns="0" bIns="0" rtlCol="0" anchor="ctr"/>
          <a:lstStyle/>
          <a:p>
            <a:pPr indent="0" marL="0">
              <a:buNone/>
            </a:pPr>
            <a:r>
              <a:rPr lang="en-US" sz="1800" dirty="0">
                <a:solidFill>
                  <a:schemeClr val="accent1"/>
                </a:solidFill>
                <a:latin typeface="Cambria" pitchFamily="34" charset="0"/>
                <a:ea typeface="Cambria" pitchFamily="34" charset="-122"/>
                <a:cs typeface="Cambria" pitchFamily="34" charset="-120"/>
              </a:rPr>
              <a:t>Part 2</a:t>
            </a:r>
            <a:endParaRPr lang="en-US" sz="1800" dirty="0"/>
          </a:p>
        </p:txBody>
      </p:sp>
      <p:sp>
        <p:nvSpPr>
          <p:cNvPr id="3" name="Text 0"/>
          <p:cNvSpPr/>
          <p:nvPr>
            <p:ph idx="100" type="title" hasCustomPrompt="1"/>
          </p:nvPr>
        </p:nvSpPr>
        <p:spPr>
          <a:xfrm>
            <a:off x="548640" y="2011680"/>
            <a:ext cx="8046720" cy="1097280"/>
          </a:xfrm>
          <a:prstGeom prst="rect">
            <a:avLst/>
          </a:prstGeom>
          <a:noFill/>
          <a:ln/>
        </p:spPr>
        <p:txBody>
          <a:bodyPr wrap="square" lIns="0" tIns="0" rIns="0" bIns="0" rtlCol="0" anchor="t"/>
          <a:lstStyle/>
          <a:p>
            <a:pPr algn="l" indent="0" marL="0">
              <a:buNone/>
            </a:pPr>
            <a:r>
              <a:rPr lang="en-US" sz="4000" b="1" dirty="0">
                <a:solidFill>
                  <a:schemeClr val="bg1"/>
                </a:solidFill>
              </a:rPr>
              <a:t>The 2023 study</a:t>
            </a:r>
            <a:endParaRPr lang="en-US" sz="4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bg1"/>
                </a:solidFill>
              </a:rPr>
              <a:t>Hypothesis: more tiles, more threads, faster</a:t>
            </a:r>
            <a:endParaRPr lang="en-US" sz="3000" dirty="0"/>
          </a:p>
        </p:txBody>
      </p:sp>
      <p:sp>
        <p:nvSpPr>
          <p:cNvPr id="3" name="frame-60"/>
          <p:cNvSpPr/>
          <p:nvPr/>
        </p:nvSpPr>
        <p:spPr>
          <a:xfrm>
            <a:off x="457200" y="1315846"/>
            <a:ext cx="2651760" cy="2260347"/>
          </a:xfrm>
          <a:prstGeom prst="roundRect">
            <a:avLst>
              <a:gd name="adj" fmla="val 2427"/>
            </a:avLst>
          </a:prstGeom>
          <a:solidFill>
            <a:srgbClr val="FFFFFF"/>
          </a:solidFill>
          <a:ln/>
        </p:spPr>
      </p:sp>
      <p:pic>
        <p:nvPicPr>
          <p:cNvPr id="4" name="image-61" descr="C:\Users\Musa Waghu\.claude\jobs\3cc2589d\tmp\deck\tiles4.png">    </p:cNvPr>
          <p:cNvPicPr>
            <a:picLocks noChangeAspect="1"/>
          </p:cNvPicPr>
          <p:nvPr/>
        </p:nvPicPr>
        <p:blipFill>
          <a:blip r:embed="rId1"/>
          <a:stretch>
            <a:fillRect/>
          </a:stretch>
        </p:blipFill>
        <p:spPr>
          <a:xfrm>
            <a:off x="512064" y="1370710"/>
            <a:ext cx="2542032" cy="2150619"/>
          </a:xfrm>
          <a:prstGeom prst="rect">
            <a:avLst/>
          </a:prstGeom>
        </p:spPr>
      </p:pic>
      <p:sp>
        <p:nvSpPr>
          <p:cNvPr id="5" name="frame-62"/>
          <p:cNvSpPr/>
          <p:nvPr/>
        </p:nvSpPr>
        <p:spPr>
          <a:xfrm>
            <a:off x="3246120" y="1315846"/>
            <a:ext cx="2651760" cy="2260347"/>
          </a:xfrm>
          <a:prstGeom prst="roundRect">
            <a:avLst>
              <a:gd name="adj" fmla="val 2427"/>
            </a:avLst>
          </a:prstGeom>
          <a:solidFill>
            <a:srgbClr val="FFFFFF"/>
          </a:solidFill>
          <a:ln/>
        </p:spPr>
      </p:sp>
      <p:pic>
        <p:nvPicPr>
          <p:cNvPr id="6" name="image-63" descr="C:\Users\Musa Waghu\.claude\jobs\3cc2589d\tmp\deck\tiles16.png">    </p:cNvPr>
          <p:cNvPicPr>
            <a:picLocks noChangeAspect="1"/>
          </p:cNvPicPr>
          <p:nvPr/>
        </p:nvPicPr>
        <p:blipFill>
          <a:blip r:embed="rId2"/>
          <a:stretch>
            <a:fillRect/>
          </a:stretch>
        </p:blipFill>
        <p:spPr>
          <a:xfrm>
            <a:off x="3300984" y="1370710"/>
            <a:ext cx="2542032" cy="2150619"/>
          </a:xfrm>
          <a:prstGeom prst="rect">
            <a:avLst/>
          </a:prstGeom>
        </p:spPr>
      </p:pic>
      <p:sp>
        <p:nvSpPr>
          <p:cNvPr id="7" name="text-64"/>
          <p:cNvSpPr txBox="1"/>
          <p:nvPr/>
        </p:nvSpPr>
        <p:spPr>
          <a:xfrm>
            <a:off x="457200" y="3794760"/>
            <a:ext cx="2651760" cy="365760"/>
          </a:xfrm>
          <a:prstGeom prst="rect">
            <a:avLst/>
          </a:prstGeom>
          <a:noFill/>
          <a:ln/>
        </p:spPr>
        <p:txBody>
          <a:bodyPr wrap="square" lIns="0" tIns="0" rIns="0" bIns="0" rtlCol="0" anchor="ctr"/>
          <a:lstStyle/>
          <a:p>
            <a:pPr algn="ctr" indent="0" marL="0">
              <a:buNone/>
            </a:pPr>
            <a:r>
              <a:rPr lang="en-US" sz="1500" dirty="0">
                <a:solidFill>
                  <a:schemeClr val="bg1"/>
                </a:solidFill>
                <a:latin typeface="Cambria" pitchFamily="34" charset="0"/>
                <a:ea typeface="Cambria" pitchFamily="34" charset="-122"/>
                <a:cs typeface="Cambria" pitchFamily="34" charset="-120"/>
              </a:rPr>
              <a:t>4 tiles, 4 threads</a:t>
            </a:r>
            <a:endParaRPr lang="en-US" sz="1500" dirty="0"/>
          </a:p>
        </p:txBody>
      </p:sp>
      <p:sp>
        <p:nvSpPr>
          <p:cNvPr id="8" name="text-65"/>
          <p:cNvSpPr txBox="1"/>
          <p:nvPr/>
        </p:nvSpPr>
        <p:spPr>
          <a:xfrm>
            <a:off x="3246120" y="3794760"/>
            <a:ext cx="2651760" cy="365760"/>
          </a:xfrm>
          <a:prstGeom prst="rect">
            <a:avLst/>
          </a:prstGeom>
          <a:noFill/>
          <a:ln/>
        </p:spPr>
        <p:txBody>
          <a:bodyPr wrap="square" lIns="0" tIns="0" rIns="0" bIns="0" rtlCol="0" anchor="ctr"/>
          <a:lstStyle/>
          <a:p>
            <a:pPr algn="ctr" indent="0" marL="0">
              <a:buNone/>
            </a:pPr>
            <a:r>
              <a:rPr lang="en-US" sz="1500" dirty="0">
                <a:solidFill>
                  <a:schemeClr val="bg1"/>
                </a:solidFill>
                <a:latin typeface="Cambria" pitchFamily="34" charset="0"/>
                <a:ea typeface="Cambria" pitchFamily="34" charset="-122"/>
                <a:cs typeface="Cambria" pitchFamily="34" charset="-120"/>
              </a:rPr>
              <a:t>16 tiles, 16 threads</a:t>
            </a:r>
            <a:endParaRPr lang="en-US" sz="1500" dirty="0"/>
          </a:p>
        </p:txBody>
      </p:sp>
      <p:sp>
        <p:nvSpPr>
          <p:cNvPr id="9" name="card-66"/>
          <p:cNvSpPr/>
          <p:nvPr/>
        </p:nvSpPr>
        <p:spPr>
          <a:xfrm>
            <a:off x="6172200" y="1188720"/>
            <a:ext cx="2514600" cy="2971800"/>
          </a:xfrm>
          <a:prstGeom prst="roundRect">
            <a:avLst>
              <a:gd name="adj" fmla="val 2909"/>
            </a:avLst>
          </a:prstGeom>
          <a:solidFill>
            <a:schemeClr val="accent6"/>
          </a:solidFill>
          <a:ln/>
        </p:spPr>
      </p:sp>
      <p:sp>
        <p:nvSpPr>
          <p:cNvPr id="10" name="text-67"/>
          <p:cNvSpPr txBox="1"/>
          <p:nvPr/>
        </p:nvSpPr>
        <p:spPr>
          <a:xfrm>
            <a:off x="6355080" y="1371600"/>
            <a:ext cx="2148840" cy="365760"/>
          </a:xfrm>
          <a:prstGeom prst="rect">
            <a:avLst/>
          </a:prstGeom>
          <a:noFill/>
          <a:ln/>
        </p:spPr>
        <p:txBody>
          <a:bodyPr wrap="square" lIns="0" tIns="0" rIns="0" bIns="0" rtlCol="0" anchor="ctr"/>
          <a:lstStyle/>
          <a:p>
            <a:pPr indent="0" marL="0">
              <a:buNone/>
            </a:pPr>
            <a:r>
              <a:rPr lang="en-US" sz="1800" b="1" dirty="0">
                <a:solidFill>
                  <a:schemeClr val="accent1"/>
                </a:solidFill>
                <a:latin typeface="Bahnschrift" pitchFamily="34" charset="0"/>
                <a:ea typeface="Bahnschrift" pitchFamily="34" charset="-122"/>
                <a:cs typeface="Bahnschrift" pitchFamily="34" charset="-120"/>
              </a:rPr>
              <a:t>Hypothesis</a:t>
            </a:r>
            <a:endParaRPr lang="en-US" sz="1800" dirty="0"/>
          </a:p>
        </p:txBody>
      </p:sp>
      <p:sp>
        <p:nvSpPr>
          <p:cNvPr id="11" name="text-68"/>
          <p:cNvSpPr txBox="1"/>
          <p:nvPr/>
        </p:nvSpPr>
        <p:spPr>
          <a:xfrm>
            <a:off x="6355080" y="1828800"/>
            <a:ext cx="2148840" cy="2194560"/>
          </a:xfrm>
          <a:prstGeom prst="rect">
            <a:avLst/>
          </a:prstGeom>
          <a:noFill/>
          <a:ln/>
        </p:spPr>
        <p:txBody>
          <a:bodyPr wrap="square" lIns="0" tIns="0" rIns="0" bIns="0" rtlCol="0" anchor="t"/>
          <a:lstStyle/>
          <a:p>
            <a:pPr indent="0" marL="0">
              <a:buNone/>
            </a:pPr>
            <a:r>
              <a:rPr lang="en-US" sz="1500" dirty="0">
                <a:solidFill>
                  <a:schemeClr val="bg1"/>
                </a:solidFill>
                <a:latin typeface="Cambria" pitchFamily="34" charset="0"/>
                <a:ea typeface="Cambria" pitchFamily="34" charset="-122"/>
                <a:cs typeface="Cambria" pitchFamily="34" charset="-120"/>
              </a:rPr>
              <a:t>SIFT's work is local, so each tile can be processed on its own thread. Splitting into 16 tiles should be faster than 4.</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bg1"/>
                </a:solidFill>
              </a:rPr>
              <a:t>Experimental setup</a:t>
            </a:r>
            <a:endParaRPr lang="en-US" sz="3000" dirty="0"/>
          </a:p>
        </p:txBody>
      </p:sp>
      <p:sp>
        <p:nvSpPr>
          <p:cNvPr id="3" name="card-69"/>
          <p:cNvSpPr/>
          <p:nvPr/>
        </p:nvSpPr>
        <p:spPr>
          <a:xfrm>
            <a:off x="457200" y="1234440"/>
            <a:ext cx="2606040" cy="3017520"/>
          </a:xfrm>
          <a:prstGeom prst="roundRect">
            <a:avLst>
              <a:gd name="adj" fmla="val 2807"/>
            </a:avLst>
          </a:prstGeom>
          <a:solidFill>
            <a:schemeClr val="accent6"/>
          </a:solidFill>
          <a:ln/>
        </p:spPr>
      </p:sp>
      <p:sp>
        <p:nvSpPr>
          <p:cNvPr id="4" name="icon-bg-70"/>
          <p:cNvSpPr/>
          <p:nvPr/>
        </p:nvSpPr>
        <p:spPr>
          <a:xfrm>
            <a:off x="685800" y="1463040"/>
            <a:ext cx="548640" cy="548640"/>
          </a:xfrm>
          <a:prstGeom prst="ellipse">
            <a:avLst/>
          </a:prstGeom>
          <a:solidFill>
            <a:schemeClr val="accent1"/>
          </a:solidFill>
          <a:ln/>
        </p:spPr>
      </p:sp>
      <p:pic>
        <p:nvPicPr>
          <p:cNvPr id="5" name="icon-71" descr="preencoded.png">    </p:cNvPr>
          <p:cNvPicPr>
            <a:picLocks noChangeAspect="1"/>
          </p:cNvPicPr>
          <p:nvPr/>
        </p:nvPicPr>
        <p:blipFill>
          <a:blip r:embed="rId1"/>
          <a:stretch>
            <a:fillRect/>
          </a:stretch>
        </p:blipFill>
        <p:spPr>
          <a:xfrm>
            <a:off x="806501" y="1583741"/>
            <a:ext cx="307238" cy="307238"/>
          </a:xfrm>
          <a:prstGeom prst="rect">
            <a:avLst/>
          </a:prstGeom>
        </p:spPr>
      </p:pic>
      <p:sp>
        <p:nvSpPr>
          <p:cNvPr id="6" name="text-72"/>
          <p:cNvSpPr txBox="1"/>
          <p:nvPr/>
        </p:nvSpPr>
        <p:spPr>
          <a:xfrm>
            <a:off x="685800" y="2194560"/>
            <a:ext cx="2148840" cy="411480"/>
          </a:xfrm>
          <a:prstGeom prst="rect">
            <a:avLst/>
          </a:prstGeom>
          <a:noFill/>
          <a:ln/>
        </p:spPr>
        <p:txBody>
          <a:bodyPr wrap="square" lIns="0" tIns="0" rIns="0" bIns="0" rtlCol="0" anchor="ctr"/>
          <a:lstStyle/>
          <a:p>
            <a:pPr indent="0" marL="0">
              <a:buNone/>
            </a:pPr>
            <a:r>
              <a:rPr lang="en-US" sz="2000" b="1" dirty="0">
                <a:solidFill>
                  <a:schemeClr val="bg1"/>
                </a:solidFill>
                <a:latin typeface="Bahnschrift" pitchFamily="34" charset="0"/>
                <a:ea typeface="Bahnschrift" pitchFamily="34" charset="-122"/>
                <a:cs typeface="Bahnschrift" pitchFamily="34" charset="-120"/>
              </a:rPr>
              <a:t>Dataset</a:t>
            </a:r>
            <a:endParaRPr lang="en-US" sz="2000" dirty="0"/>
          </a:p>
        </p:txBody>
      </p:sp>
      <p:sp>
        <p:nvSpPr>
          <p:cNvPr id="7" name="text-73"/>
          <p:cNvSpPr txBox="1"/>
          <p:nvPr/>
        </p:nvSpPr>
        <p:spPr>
          <a:xfrm>
            <a:off x="685800" y="2651760"/>
            <a:ext cx="2148840" cy="1463040"/>
          </a:xfrm>
          <a:prstGeom prst="rect">
            <a:avLst/>
          </a:prstGeom>
          <a:noFill/>
          <a:ln/>
        </p:spPr>
        <p:txBody>
          <a:bodyPr wrap="square" lIns="0" tIns="0" rIns="0" bIns="0" rtlCol="0" anchor="t"/>
          <a:lstStyle/>
          <a:p>
            <a:pPr indent="0" marL="0">
              <a:buNone/>
            </a:pPr>
            <a:r>
              <a:rPr lang="en-US" sz="1500" dirty="0">
                <a:solidFill>
                  <a:schemeClr val="bg1"/>
                </a:solidFill>
                <a:latin typeface="Cambria" pitchFamily="34" charset="0"/>
                <a:ea typeface="Cambria" pitchFamily="34" charset="-122"/>
                <a:cs typeface="Cambria" pitchFamily="34" charset="-120"/>
              </a:rPr>
              <a:t>Oxford 102 Category Flowers [6]: the first 50 images</a:t>
            </a:r>
            <a:endParaRPr lang="en-US" sz="1500" dirty="0"/>
          </a:p>
        </p:txBody>
      </p:sp>
      <p:sp>
        <p:nvSpPr>
          <p:cNvPr id="8" name="card-74"/>
          <p:cNvSpPr/>
          <p:nvPr/>
        </p:nvSpPr>
        <p:spPr>
          <a:xfrm>
            <a:off x="3246120" y="1234440"/>
            <a:ext cx="2606040" cy="3017520"/>
          </a:xfrm>
          <a:prstGeom prst="roundRect">
            <a:avLst>
              <a:gd name="adj" fmla="val 2807"/>
            </a:avLst>
          </a:prstGeom>
          <a:solidFill>
            <a:schemeClr val="accent6"/>
          </a:solidFill>
          <a:ln/>
        </p:spPr>
      </p:sp>
      <p:sp>
        <p:nvSpPr>
          <p:cNvPr id="9" name="icon-bg-75"/>
          <p:cNvSpPr/>
          <p:nvPr/>
        </p:nvSpPr>
        <p:spPr>
          <a:xfrm>
            <a:off x="3474720" y="1463040"/>
            <a:ext cx="548640" cy="548640"/>
          </a:xfrm>
          <a:prstGeom prst="ellipse">
            <a:avLst/>
          </a:prstGeom>
          <a:solidFill>
            <a:schemeClr val="accent1"/>
          </a:solidFill>
          <a:ln/>
        </p:spPr>
      </p:sp>
      <p:pic>
        <p:nvPicPr>
          <p:cNvPr id="10" name="icon-76" descr="preencoded.png">    </p:cNvPr>
          <p:cNvPicPr>
            <a:picLocks noChangeAspect="1"/>
          </p:cNvPicPr>
          <p:nvPr/>
        </p:nvPicPr>
        <p:blipFill>
          <a:blip r:embed="rId2"/>
          <a:stretch>
            <a:fillRect/>
          </a:stretch>
        </p:blipFill>
        <p:spPr>
          <a:xfrm>
            <a:off x="3595421" y="1583741"/>
            <a:ext cx="307238" cy="307238"/>
          </a:xfrm>
          <a:prstGeom prst="rect">
            <a:avLst/>
          </a:prstGeom>
        </p:spPr>
      </p:pic>
      <p:sp>
        <p:nvSpPr>
          <p:cNvPr id="11" name="text-77"/>
          <p:cNvSpPr txBox="1"/>
          <p:nvPr/>
        </p:nvSpPr>
        <p:spPr>
          <a:xfrm>
            <a:off x="3474720" y="2194560"/>
            <a:ext cx="2148840" cy="411480"/>
          </a:xfrm>
          <a:prstGeom prst="rect">
            <a:avLst/>
          </a:prstGeom>
          <a:noFill/>
          <a:ln/>
        </p:spPr>
        <p:txBody>
          <a:bodyPr wrap="square" lIns="0" tIns="0" rIns="0" bIns="0" rtlCol="0" anchor="ctr"/>
          <a:lstStyle/>
          <a:p>
            <a:pPr indent="0" marL="0">
              <a:buNone/>
            </a:pPr>
            <a:r>
              <a:rPr lang="en-US" sz="2000" b="1" dirty="0">
                <a:solidFill>
                  <a:schemeClr val="bg1"/>
                </a:solidFill>
                <a:latin typeface="Bahnschrift" pitchFamily="34" charset="0"/>
                <a:ea typeface="Bahnschrift" pitchFamily="34" charset="-122"/>
                <a:cs typeface="Bahnschrift" pitchFamily="34" charset="-120"/>
              </a:rPr>
              <a:t>Hardware</a:t>
            </a:r>
            <a:endParaRPr lang="en-US" sz="2000" dirty="0"/>
          </a:p>
        </p:txBody>
      </p:sp>
      <p:sp>
        <p:nvSpPr>
          <p:cNvPr id="12" name="text-78"/>
          <p:cNvSpPr txBox="1"/>
          <p:nvPr/>
        </p:nvSpPr>
        <p:spPr>
          <a:xfrm>
            <a:off x="3474720" y="2651760"/>
            <a:ext cx="2148840" cy="1463040"/>
          </a:xfrm>
          <a:prstGeom prst="rect">
            <a:avLst/>
          </a:prstGeom>
          <a:noFill/>
          <a:ln/>
        </p:spPr>
        <p:txBody>
          <a:bodyPr wrap="square" lIns="0" tIns="0" rIns="0" bIns="0" rtlCol="0" anchor="t"/>
          <a:lstStyle/>
          <a:p>
            <a:pPr indent="0" marL="0">
              <a:buNone/>
            </a:pPr>
            <a:r>
              <a:rPr lang="en-US" sz="1500" dirty="0">
                <a:solidFill>
                  <a:schemeClr val="bg1"/>
                </a:solidFill>
                <a:latin typeface="Cambria" pitchFamily="34" charset="0"/>
                <a:ea typeface="Cambria" pitchFamily="34" charset="-122"/>
                <a:cs typeface="Cambria" pitchFamily="34" charset="-120"/>
              </a:rPr>
              <a:t>AMD Ryzen 7 3700X, 8 cores / 16 threads. The 2026 rerun used the same CPU model.</a:t>
            </a:r>
            <a:endParaRPr lang="en-US" sz="1500" dirty="0"/>
          </a:p>
        </p:txBody>
      </p:sp>
      <p:sp>
        <p:nvSpPr>
          <p:cNvPr id="13" name="card-79"/>
          <p:cNvSpPr/>
          <p:nvPr/>
        </p:nvSpPr>
        <p:spPr>
          <a:xfrm>
            <a:off x="6035040" y="1234440"/>
            <a:ext cx="2606040" cy="3017520"/>
          </a:xfrm>
          <a:prstGeom prst="roundRect">
            <a:avLst>
              <a:gd name="adj" fmla="val 2807"/>
            </a:avLst>
          </a:prstGeom>
          <a:solidFill>
            <a:schemeClr val="accent6"/>
          </a:solidFill>
          <a:ln/>
        </p:spPr>
      </p:sp>
      <p:sp>
        <p:nvSpPr>
          <p:cNvPr id="14" name="icon-bg-80"/>
          <p:cNvSpPr/>
          <p:nvPr/>
        </p:nvSpPr>
        <p:spPr>
          <a:xfrm>
            <a:off x="6263640" y="1463040"/>
            <a:ext cx="548640" cy="548640"/>
          </a:xfrm>
          <a:prstGeom prst="ellipse">
            <a:avLst/>
          </a:prstGeom>
          <a:solidFill>
            <a:schemeClr val="accent1"/>
          </a:solidFill>
          <a:ln/>
        </p:spPr>
      </p:sp>
      <p:pic>
        <p:nvPicPr>
          <p:cNvPr id="15" name="icon-81" descr="preencoded.png">    </p:cNvPr>
          <p:cNvPicPr>
            <a:picLocks noChangeAspect="1"/>
          </p:cNvPicPr>
          <p:nvPr/>
        </p:nvPicPr>
        <p:blipFill>
          <a:blip r:embed="rId3"/>
          <a:stretch>
            <a:fillRect/>
          </a:stretch>
        </p:blipFill>
        <p:spPr>
          <a:xfrm>
            <a:off x="6384341" y="1583741"/>
            <a:ext cx="307238" cy="307238"/>
          </a:xfrm>
          <a:prstGeom prst="rect">
            <a:avLst/>
          </a:prstGeom>
        </p:spPr>
      </p:pic>
      <p:sp>
        <p:nvSpPr>
          <p:cNvPr id="16" name="text-82"/>
          <p:cNvSpPr txBox="1"/>
          <p:nvPr/>
        </p:nvSpPr>
        <p:spPr>
          <a:xfrm>
            <a:off x="6263640" y="2194560"/>
            <a:ext cx="2148840" cy="411480"/>
          </a:xfrm>
          <a:prstGeom prst="rect">
            <a:avLst/>
          </a:prstGeom>
          <a:noFill/>
          <a:ln/>
        </p:spPr>
        <p:txBody>
          <a:bodyPr wrap="square" lIns="0" tIns="0" rIns="0" bIns="0" rtlCol="0" anchor="ctr"/>
          <a:lstStyle/>
          <a:p>
            <a:pPr indent="0" marL="0">
              <a:buNone/>
            </a:pPr>
            <a:r>
              <a:rPr lang="en-US" sz="2000" b="1" dirty="0">
                <a:solidFill>
                  <a:schemeClr val="bg1"/>
                </a:solidFill>
                <a:latin typeface="Bahnschrift" pitchFamily="34" charset="0"/>
                <a:ea typeface="Bahnschrift" pitchFamily="34" charset="-122"/>
                <a:cs typeface="Bahnschrift" pitchFamily="34" charset="-120"/>
              </a:rPr>
              <a:t>Code</a:t>
            </a:r>
            <a:endParaRPr lang="en-US" sz="2000" dirty="0"/>
          </a:p>
        </p:txBody>
      </p:sp>
      <p:sp>
        <p:nvSpPr>
          <p:cNvPr id="17" name="text-83"/>
          <p:cNvSpPr txBox="1"/>
          <p:nvPr/>
        </p:nvSpPr>
        <p:spPr>
          <a:xfrm>
            <a:off x="6263640" y="2651760"/>
            <a:ext cx="2148840" cy="1463040"/>
          </a:xfrm>
          <a:prstGeom prst="rect">
            <a:avLst/>
          </a:prstGeom>
          <a:noFill/>
          <a:ln/>
        </p:spPr>
        <p:txBody>
          <a:bodyPr wrap="square" lIns="0" tIns="0" rIns="0" bIns="0" rtlCol="0" anchor="t"/>
          <a:lstStyle/>
          <a:p>
            <a:pPr indent="0" marL="0">
              <a:buNone/>
            </a:pPr>
            <a:r>
              <a:rPr lang="en-US" sz="1500" dirty="0">
                <a:solidFill>
                  <a:schemeClr val="bg1"/>
                </a:solidFill>
                <a:latin typeface="Cambria" pitchFamily="34" charset="0"/>
                <a:ea typeface="Cambria" pitchFamily="34" charset="-122"/>
                <a:cs typeface="Cambria" pitchFamily="34" charset="-120"/>
              </a:rPr>
              <a:t>Pure-Python NMS-SIFT by S. Jadhav and Dr. J. Korah, with tiling and threading added</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bg1"/>
                </a:solidFill>
              </a:rPr>
              <a:t>2023 result: no significant improvement</a:t>
            </a:r>
            <a:endParaRPr lang="en-US" sz="3000" dirty="0"/>
          </a:p>
        </p:txBody>
      </p:sp>
      <p:graphicFrame>
        <p:nvGraphicFramePr>
          <p:cNvPr id="3" name="chart-2023" descr=""/>
          <p:cNvGraphicFramePr/>
          <p:nvPr/>
        </p:nvGraphicFramePr>
        <p:xfrm>
          <a:off x="365760" y="1097280"/>
          <a:ext cx="5669280" cy="3520440"/>
        </p:xfrm>
        <a:graphic xmlns:a="http://schemas.openxmlformats.org/drawingml/2006/main">
          <a:graphicData uri="http://schemas.openxmlformats.org/drawingml/2006/chart">
            <c:chart xmlns:c="http://schemas.openxmlformats.org/drawingml/2006/chart" r:id="rId1"/>
          </a:graphicData>
        </a:graphic>
      </p:graphicFrame>
      <p:sp>
        <p:nvSpPr>
          <p:cNvPr id="4" name="card-84"/>
          <p:cNvSpPr/>
          <p:nvPr/>
        </p:nvSpPr>
        <p:spPr>
          <a:xfrm>
            <a:off x="6263640" y="1188720"/>
            <a:ext cx="2423160" cy="1005840"/>
          </a:xfrm>
          <a:prstGeom prst="roundRect">
            <a:avLst>
              <a:gd name="adj" fmla="val 7273"/>
            </a:avLst>
          </a:prstGeom>
          <a:solidFill>
            <a:schemeClr val="accent6"/>
          </a:solidFill>
          <a:ln/>
        </p:spPr>
      </p:sp>
      <p:sp>
        <p:nvSpPr>
          <p:cNvPr id="5" name="text-85"/>
          <p:cNvSpPr txBox="1"/>
          <p:nvPr/>
        </p:nvSpPr>
        <p:spPr>
          <a:xfrm>
            <a:off x="6400800" y="1280160"/>
            <a:ext cx="2148840" cy="457200"/>
          </a:xfrm>
          <a:prstGeom prst="rect">
            <a:avLst/>
          </a:prstGeom>
          <a:noFill/>
          <a:ln/>
        </p:spPr>
        <p:txBody>
          <a:bodyPr wrap="square" lIns="0" tIns="0" rIns="0" bIns="0" rtlCol="0" anchor="ctr"/>
          <a:lstStyle/>
          <a:p>
            <a:pPr indent="0" marL="0">
              <a:buNone/>
            </a:pPr>
            <a:r>
              <a:rPr lang="en-US" sz="2600" b="1" dirty="0">
                <a:solidFill>
                  <a:schemeClr val="accent1"/>
                </a:solidFill>
                <a:latin typeface="Bahnschrift" pitchFamily="34" charset="0"/>
                <a:ea typeface="Bahnschrift" pitchFamily="34" charset="-122"/>
                <a:cs typeface="Bahnschrift" pitchFamily="34" charset="-120"/>
              </a:rPr>
              <a:t>24 / 36</a:t>
            </a:r>
            <a:endParaRPr lang="en-US" sz="2600" dirty="0"/>
          </a:p>
        </p:txBody>
      </p:sp>
      <p:sp>
        <p:nvSpPr>
          <p:cNvPr id="6" name="text-86"/>
          <p:cNvSpPr txBox="1"/>
          <p:nvPr/>
        </p:nvSpPr>
        <p:spPr>
          <a:xfrm>
            <a:off x="6400800" y="1737360"/>
            <a:ext cx="2148840" cy="411480"/>
          </a:xfrm>
          <a:prstGeom prst="rect">
            <a:avLst/>
          </a:prstGeom>
          <a:noFill/>
          <a:ln/>
        </p:spPr>
        <p:txBody>
          <a:bodyPr wrap="square" lIns="0" tIns="0" rIns="0" bIns="0" rtlCol="0" anchor="ctr"/>
          <a:lstStyle/>
          <a:p>
            <a:pPr indent="0" marL="0">
              <a:buNone/>
            </a:pPr>
            <a:r>
              <a:rPr lang="en-US" sz="1200" dirty="0">
                <a:solidFill>
                  <a:schemeClr val="bg1"/>
                </a:solidFill>
                <a:latin typeface="Cambria" pitchFamily="34" charset="0"/>
                <a:ea typeface="Cambria" pitchFamily="34" charset="-122"/>
                <a:cs typeface="Cambria" pitchFamily="34" charset="-120"/>
              </a:rPr>
              <a:t>images faster with 16 tiles, the rest slower</a:t>
            </a:r>
            <a:endParaRPr lang="en-US" sz="1200" dirty="0"/>
          </a:p>
        </p:txBody>
      </p:sp>
      <p:sp>
        <p:nvSpPr>
          <p:cNvPr id="7" name="card-87"/>
          <p:cNvSpPr/>
          <p:nvPr/>
        </p:nvSpPr>
        <p:spPr>
          <a:xfrm>
            <a:off x="6263640" y="2331720"/>
            <a:ext cx="2423160" cy="1005840"/>
          </a:xfrm>
          <a:prstGeom prst="roundRect">
            <a:avLst>
              <a:gd name="adj" fmla="val 7273"/>
            </a:avLst>
          </a:prstGeom>
          <a:solidFill>
            <a:schemeClr val="accent6"/>
          </a:solidFill>
          <a:ln/>
        </p:spPr>
      </p:sp>
      <p:sp>
        <p:nvSpPr>
          <p:cNvPr id="8" name="text-88"/>
          <p:cNvSpPr txBox="1"/>
          <p:nvPr/>
        </p:nvSpPr>
        <p:spPr>
          <a:xfrm>
            <a:off x="6400800" y="2423160"/>
            <a:ext cx="2148840" cy="457200"/>
          </a:xfrm>
          <a:prstGeom prst="rect">
            <a:avLst/>
          </a:prstGeom>
          <a:noFill/>
          <a:ln/>
        </p:spPr>
        <p:txBody>
          <a:bodyPr wrap="square" lIns="0" tIns="0" rIns="0" bIns="0" rtlCol="0" anchor="ctr"/>
          <a:lstStyle/>
          <a:p>
            <a:pPr indent="0" marL="0">
              <a:buNone/>
            </a:pPr>
            <a:r>
              <a:rPr lang="en-US" sz="2600" b="1" dirty="0">
                <a:solidFill>
                  <a:schemeClr val="accent1"/>
                </a:solidFill>
                <a:latin typeface="Bahnschrift" pitchFamily="34" charset="0"/>
                <a:ea typeface="Bahnschrift" pitchFamily="34" charset="-122"/>
                <a:cs typeface="Bahnschrift" pitchFamily="34" charset="-120"/>
              </a:rPr>
              <a:t>+1.4%</a:t>
            </a:r>
            <a:endParaRPr lang="en-US" sz="2600" dirty="0"/>
          </a:p>
        </p:txBody>
      </p:sp>
      <p:sp>
        <p:nvSpPr>
          <p:cNvPr id="9" name="text-89"/>
          <p:cNvSpPr txBox="1"/>
          <p:nvPr/>
        </p:nvSpPr>
        <p:spPr>
          <a:xfrm>
            <a:off x="6400800" y="2880360"/>
            <a:ext cx="2148840" cy="411480"/>
          </a:xfrm>
          <a:prstGeom prst="rect">
            <a:avLst/>
          </a:prstGeom>
          <a:noFill/>
          <a:ln/>
        </p:spPr>
        <p:txBody>
          <a:bodyPr wrap="square" lIns="0" tIns="0" rIns="0" bIns="0" rtlCol="0" anchor="ctr"/>
          <a:lstStyle/>
          <a:p>
            <a:pPr indent="0" marL="0">
              <a:buNone/>
            </a:pPr>
            <a:r>
              <a:rPr lang="en-US" sz="1200" dirty="0">
                <a:solidFill>
                  <a:schemeClr val="bg1"/>
                </a:solidFill>
                <a:latin typeface="Cambria" pitchFamily="34" charset="0"/>
                <a:ea typeface="Cambria" pitchFamily="34" charset="-122"/>
                <a:cs typeface="Cambria" pitchFamily="34" charset="-120"/>
              </a:rPr>
              <a:t>average gain: not significant</a:t>
            </a:r>
            <a:endParaRPr lang="en-US" sz="1200" dirty="0"/>
          </a:p>
        </p:txBody>
      </p:sp>
      <p:sp>
        <p:nvSpPr>
          <p:cNvPr id="10" name="card-90"/>
          <p:cNvSpPr/>
          <p:nvPr/>
        </p:nvSpPr>
        <p:spPr>
          <a:xfrm>
            <a:off x="6263640" y="3474720"/>
            <a:ext cx="2423160" cy="1005840"/>
          </a:xfrm>
          <a:prstGeom prst="roundRect">
            <a:avLst>
              <a:gd name="adj" fmla="val 7273"/>
            </a:avLst>
          </a:prstGeom>
          <a:solidFill>
            <a:schemeClr val="accent6"/>
          </a:solidFill>
          <a:ln/>
        </p:spPr>
      </p:sp>
      <p:sp>
        <p:nvSpPr>
          <p:cNvPr id="11" name="text-91"/>
          <p:cNvSpPr txBox="1"/>
          <p:nvPr/>
        </p:nvSpPr>
        <p:spPr>
          <a:xfrm>
            <a:off x="6400800" y="3566160"/>
            <a:ext cx="2148840" cy="457200"/>
          </a:xfrm>
          <a:prstGeom prst="rect">
            <a:avLst/>
          </a:prstGeom>
          <a:noFill/>
          <a:ln/>
        </p:spPr>
        <p:txBody>
          <a:bodyPr wrap="square" lIns="0" tIns="0" rIns="0" bIns="0" rtlCol="0" anchor="ctr"/>
          <a:lstStyle/>
          <a:p>
            <a:pPr indent="0" marL="0">
              <a:buNone/>
            </a:pPr>
            <a:r>
              <a:rPr lang="en-US" sz="2600" b="1" dirty="0">
                <a:solidFill>
                  <a:schemeClr val="accent1"/>
                </a:solidFill>
                <a:latin typeface="Bahnschrift" pitchFamily="34" charset="0"/>
                <a:ea typeface="Bahnschrift" pitchFamily="34" charset="-122"/>
                <a:cs typeface="Bahnschrift" pitchFamily="34" charset="-120"/>
              </a:rPr>
              <a:t>−5%</a:t>
            </a:r>
            <a:endParaRPr lang="en-US" sz="2600" dirty="0"/>
          </a:p>
        </p:txBody>
      </p:sp>
      <p:sp>
        <p:nvSpPr>
          <p:cNvPr id="12" name="text-92"/>
          <p:cNvSpPr txBox="1"/>
          <p:nvPr/>
        </p:nvSpPr>
        <p:spPr>
          <a:xfrm>
            <a:off x="6400800" y="4023360"/>
            <a:ext cx="2148840" cy="411480"/>
          </a:xfrm>
          <a:prstGeom prst="rect">
            <a:avLst/>
          </a:prstGeom>
          <a:noFill/>
          <a:ln/>
        </p:spPr>
        <p:txBody>
          <a:bodyPr wrap="square" lIns="0" tIns="0" rIns="0" bIns="0" rtlCol="0" anchor="ctr"/>
          <a:lstStyle/>
          <a:p>
            <a:pPr indent="0" marL="0">
              <a:buNone/>
            </a:pPr>
            <a:r>
              <a:rPr lang="en-US" sz="1200" dirty="0">
                <a:solidFill>
                  <a:schemeClr val="bg1"/>
                </a:solidFill>
                <a:latin typeface="Cambria" pitchFamily="34" charset="0"/>
                <a:ea typeface="Cambria" pitchFamily="34" charset="-122"/>
                <a:cs typeface="Cambria" pitchFamily="34" charset="-120"/>
              </a:rPr>
              <a:t>keypoints with 16 tiles vs 4</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93"/>
          <p:cNvSpPr txBox="1"/>
          <p:nvPr/>
        </p:nvSpPr>
        <p:spPr>
          <a:xfrm>
            <a:off x="548640" y="1554480"/>
            <a:ext cx="8046720" cy="411480"/>
          </a:xfrm>
          <a:prstGeom prst="rect">
            <a:avLst/>
          </a:prstGeom>
          <a:noFill/>
          <a:ln/>
        </p:spPr>
        <p:txBody>
          <a:bodyPr wrap="square" lIns="0" tIns="0" rIns="0" bIns="0" rtlCol="0" anchor="ctr"/>
          <a:lstStyle/>
          <a:p>
            <a:pPr indent="0" marL="0">
              <a:buNone/>
            </a:pPr>
            <a:r>
              <a:rPr lang="en-US" sz="1800" dirty="0">
                <a:solidFill>
                  <a:schemeClr val="accent1"/>
                </a:solidFill>
                <a:latin typeface="Cambria" pitchFamily="34" charset="0"/>
                <a:ea typeface="Cambria" pitchFamily="34" charset="-122"/>
                <a:cs typeface="Cambria" pitchFamily="34" charset="-120"/>
              </a:rPr>
              <a:t>Part 3</a:t>
            </a:r>
            <a:endParaRPr lang="en-US" sz="1800" dirty="0"/>
          </a:p>
        </p:txBody>
      </p:sp>
      <p:sp>
        <p:nvSpPr>
          <p:cNvPr id="3" name="Text 0"/>
          <p:cNvSpPr/>
          <p:nvPr>
            <p:ph idx="100" type="title" hasCustomPrompt="1"/>
          </p:nvPr>
        </p:nvSpPr>
        <p:spPr>
          <a:xfrm>
            <a:off x="548640" y="2011680"/>
            <a:ext cx="8046720" cy="1097280"/>
          </a:xfrm>
          <a:prstGeom prst="rect">
            <a:avLst/>
          </a:prstGeom>
          <a:noFill/>
          <a:ln/>
        </p:spPr>
        <p:txBody>
          <a:bodyPr wrap="square" lIns="0" tIns="0" rIns="0" bIns="0" rtlCol="0" anchor="t"/>
          <a:lstStyle/>
          <a:p>
            <a:pPr algn="l" indent="0" marL="0">
              <a:buNone/>
            </a:pPr>
            <a:r>
              <a:rPr lang="en-US" sz="4000" b="1" dirty="0">
                <a:solidFill>
                  <a:schemeClr val="bg1"/>
                </a:solidFill>
              </a:rPr>
              <a:t>Diagnosis: why threads didn't help</a:t>
            </a:r>
            <a:endParaRPr lang="en-US" sz="4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bg1"/>
                </a:solidFill>
              </a:rPr>
              <a:t>The culprit: Python's Global Interpreter Lock</a:t>
            </a:r>
            <a:endParaRPr lang="en-US" sz="3000" dirty="0"/>
          </a:p>
        </p:txBody>
      </p:sp>
      <p:sp>
        <p:nvSpPr>
          <p:cNvPr id="3" name="text-94"/>
          <p:cNvSpPr txBox="1"/>
          <p:nvPr/>
        </p:nvSpPr>
        <p:spPr>
          <a:xfrm>
            <a:off x="457200" y="1143000"/>
            <a:ext cx="3840480" cy="365760"/>
          </a:xfrm>
          <a:prstGeom prst="rect">
            <a:avLst/>
          </a:prstGeom>
          <a:noFill/>
          <a:ln/>
        </p:spPr>
        <p:txBody>
          <a:bodyPr wrap="square" lIns="0" tIns="0" rIns="0" bIns="0" rtlCol="0" anchor="ctr"/>
          <a:lstStyle/>
          <a:p>
            <a:pPr indent="0" marL="0">
              <a:buNone/>
            </a:pPr>
            <a:r>
              <a:rPr lang="en-US" sz="1800" b="1" dirty="0">
                <a:solidFill>
                  <a:schemeClr val="bg1"/>
                </a:solidFill>
                <a:latin typeface="Bahnschrift" pitchFamily="34" charset="0"/>
                <a:ea typeface="Bahnschrift" pitchFamily="34" charset="-122"/>
                <a:cs typeface="Bahnschrift" pitchFamily="34" charset="-120"/>
              </a:rPr>
              <a:t>4 threads (GIL)</a:t>
            </a:r>
            <a:endParaRPr lang="en-US" sz="1800" dirty="0"/>
          </a:p>
        </p:txBody>
      </p:sp>
      <p:sp>
        <p:nvSpPr>
          <p:cNvPr id="4" name="text-95"/>
          <p:cNvSpPr txBox="1"/>
          <p:nvPr/>
        </p:nvSpPr>
        <p:spPr>
          <a:xfrm>
            <a:off x="457200" y="1645920"/>
            <a:ext cx="914400" cy="365760"/>
          </a:xfrm>
          <a:prstGeom prst="rect">
            <a:avLst/>
          </a:prstGeom>
          <a:noFill/>
          <a:ln/>
        </p:spPr>
        <p:txBody>
          <a:bodyPr wrap="square" lIns="0" tIns="0" rIns="0" bIns="0" rtlCol="0" anchor="ctr"/>
          <a:lstStyle/>
          <a:p>
            <a:pPr indent="0" marL="0">
              <a:buNone/>
            </a:pPr>
            <a:r>
              <a:rPr lang="en-US" sz="1300" dirty="0">
                <a:solidFill>
                  <a:schemeClr val="bg2"/>
                </a:solidFill>
                <a:latin typeface="Cambria" pitchFamily="34" charset="0"/>
                <a:ea typeface="Cambria" pitchFamily="34" charset="-122"/>
                <a:cs typeface="Cambria" pitchFamily="34" charset="-120"/>
              </a:rPr>
              <a:t>Thread 1</a:t>
            </a:r>
            <a:endParaRPr lang="en-US" sz="1300" dirty="0"/>
          </a:p>
        </p:txBody>
      </p:sp>
      <p:sp>
        <p:nvSpPr>
          <p:cNvPr id="5" name="lane-96"/>
          <p:cNvSpPr/>
          <p:nvPr/>
        </p:nvSpPr>
        <p:spPr>
          <a:xfrm>
            <a:off x="1417320" y="1691640"/>
            <a:ext cx="2834640" cy="274320"/>
          </a:xfrm>
          <a:prstGeom prst="rect">
            <a:avLst/>
          </a:prstGeom>
          <a:solidFill>
            <a:srgbClr val="455A64"/>
          </a:solidFill>
          <a:ln/>
        </p:spPr>
      </p:sp>
      <p:sp>
        <p:nvSpPr>
          <p:cNvPr id="6" name="work-97"/>
          <p:cNvSpPr/>
          <p:nvPr/>
        </p:nvSpPr>
        <p:spPr>
          <a:xfrm>
            <a:off x="1417320" y="1691640"/>
            <a:ext cx="158877" cy="274320"/>
          </a:xfrm>
          <a:prstGeom prst="rect">
            <a:avLst/>
          </a:prstGeom>
          <a:solidFill>
            <a:schemeClr val="accent3"/>
          </a:solidFill>
          <a:ln/>
        </p:spPr>
      </p:sp>
      <p:sp>
        <p:nvSpPr>
          <p:cNvPr id="7" name="work-98"/>
          <p:cNvSpPr/>
          <p:nvPr/>
        </p:nvSpPr>
        <p:spPr>
          <a:xfrm>
            <a:off x="2125980" y="1691640"/>
            <a:ext cx="158877" cy="274320"/>
          </a:xfrm>
          <a:prstGeom prst="rect">
            <a:avLst/>
          </a:prstGeom>
          <a:solidFill>
            <a:schemeClr val="accent3"/>
          </a:solidFill>
          <a:ln/>
        </p:spPr>
      </p:sp>
      <p:sp>
        <p:nvSpPr>
          <p:cNvPr id="8" name="work-99"/>
          <p:cNvSpPr/>
          <p:nvPr/>
        </p:nvSpPr>
        <p:spPr>
          <a:xfrm>
            <a:off x="2834640" y="1691640"/>
            <a:ext cx="158877" cy="274320"/>
          </a:xfrm>
          <a:prstGeom prst="rect">
            <a:avLst/>
          </a:prstGeom>
          <a:solidFill>
            <a:schemeClr val="accent3"/>
          </a:solidFill>
          <a:ln/>
        </p:spPr>
      </p:sp>
      <p:sp>
        <p:nvSpPr>
          <p:cNvPr id="9" name="work-100"/>
          <p:cNvSpPr/>
          <p:nvPr/>
        </p:nvSpPr>
        <p:spPr>
          <a:xfrm>
            <a:off x="3543300" y="1691640"/>
            <a:ext cx="158877" cy="274320"/>
          </a:xfrm>
          <a:prstGeom prst="rect">
            <a:avLst/>
          </a:prstGeom>
          <a:solidFill>
            <a:schemeClr val="accent3"/>
          </a:solidFill>
          <a:ln/>
        </p:spPr>
      </p:sp>
      <p:sp>
        <p:nvSpPr>
          <p:cNvPr id="10" name="text-101"/>
          <p:cNvSpPr txBox="1"/>
          <p:nvPr/>
        </p:nvSpPr>
        <p:spPr>
          <a:xfrm>
            <a:off x="457200" y="2148840"/>
            <a:ext cx="914400" cy="365760"/>
          </a:xfrm>
          <a:prstGeom prst="rect">
            <a:avLst/>
          </a:prstGeom>
          <a:noFill/>
          <a:ln/>
        </p:spPr>
        <p:txBody>
          <a:bodyPr wrap="square" lIns="0" tIns="0" rIns="0" bIns="0" rtlCol="0" anchor="ctr"/>
          <a:lstStyle/>
          <a:p>
            <a:pPr indent="0" marL="0">
              <a:buNone/>
            </a:pPr>
            <a:r>
              <a:rPr lang="en-US" sz="1300" dirty="0">
                <a:solidFill>
                  <a:schemeClr val="bg2"/>
                </a:solidFill>
                <a:latin typeface="Cambria" pitchFamily="34" charset="0"/>
                <a:ea typeface="Cambria" pitchFamily="34" charset="-122"/>
                <a:cs typeface="Cambria" pitchFamily="34" charset="-120"/>
              </a:rPr>
              <a:t>Thread 2</a:t>
            </a:r>
            <a:endParaRPr lang="en-US" sz="1300" dirty="0"/>
          </a:p>
        </p:txBody>
      </p:sp>
      <p:sp>
        <p:nvSpPr>
          <p:cNvPr id="11" name="lane-102"/>
          <p:cNvSpPr/>
          <p:nvPr/>
        </p:nvSpPr>
        <p:spPr>
          <a:xfrm>
            <a:off x="1417320" y="2194560"/>
            <a:ext cx="2834640" cy="274320"/>
          </a:xfrm>
          <a:prstGeom prst="rect">
            <a:avLst/>
          </a:prstGeom>
          <a:solidFill>
            <a:srgbClr val="455A64"/>
          </a:solidFill>
          <a:ln/>
        </p:spPr>
      </p:sp>
      <p:sp>
        <p:nvSpPr>
          <p:cNvPr id="12" name="work-103"/>
          <p:cNvSpPr/>
          <p:nvPr/>
        </p:nvSpPr>
        <p:spPr>
          <a:xfrm>
            <a:off x="1594485" y="2194560"/>
            <a:ext cx="158877" cy="274320"/>
          </a:xfrm>
          <a:prstGeom prst="rect">
            <a:avLst/>
          </a:prstGeom>
          <a:solidFill>
            <a:schemeClr val="accent3"/>
          </a:solidFill>
          <a:ln/>
        </p:spPr>
      </p:sp>
      <p:sp>
        <p:nvSpPr>
          <p:cNvPr id="13" name="work-104"/>
          <p:cNvSpPr/>
          <p:nvPr/>
        </p:nvSpPr>
        <p:spPr>
          <a:xfrm>
            <a:off x="2303145" y="2194560"/>
            <a:ext cx="158877" cy="274320"/>
          </a:xfrm>
          <a:prstGeom prst="rect">
            <a:avLst/>
          </a:prstGeom>
          <a:solidFill>
            <a:schemeClr val="accent3"/>
          </a:solidFill>
          <a:ln/>
        </p:spPr>
      </p:sp>
      <p:sp>
        <p:nvSpPr>
          <p:cNvPr id="14" name="work-105"/>
          <p:cNvSpPr/>
          <p:nvPr/>
        </p:nvSpPr>
        <p:spPr>
          <a:xfrm>
            <a:off x="3011805" y="2194560"/>
            <a:ext cx="158877" cy="274320"/>
          </a:xfrm>
          <a:prstGeom prst="rect">
            <a:avLst/>
          </a:prstGeom>
          <a:solidFill>
            <a:schemeClr val="accent3"/>
          </a:solidFill>
          <a:ln/>
        </p:spPr>
      </p:sp>
      <p:sp>
        <p:nvSpPr>
          <p:cNvPr id="15" name="work-106"/>
          <p:cNvSpPr/>
          <p:nvPr/>
        </p:nvSpPr>
        <p:spPr>
          <a:xfrm>
            <a:off x="3720465" y="2194560"/>
            <a:ext cx="158877" cy="274320"/>
          </a:xfrm>
          <a:prstGeom prst="rect">
            <a:avLst/>
          </a:prstGeom>
          <a:solidFill>
            <a:schemeClr val="accent3"/>
          </a:solidFill>
          <a:ln/>
        </p:spPr>
      </p:sp>
      <p:sp>
        <p:nvSpPr>
          <p:cNvPr id="16" name="text-107"/>
          <p:cNvSpPr txBox="1"/>
          <p:nvPr/>
        </p:nvSpPr>
        <p:spPr>
          <a:xfrm>
            <a:off x="457200" y="2651760"/>
            <a:ext cx="914400" cy="365760"/>
          </a:xfrm>
          <a:prstGeom prst="rect">
            <a:avLst/>
          </a:prstGeom>
          <a:noFill/>
          <a:ln/>
        </p:spPr>
        <p:txBody>
          <a:bodyPr wrap="square" lIns="0" tIns="0" rIns="0" bIns="0" rtlCol="0" anchor="ctr"/>
          <a:lstStyle/>
          <a:p>
            <a:pPr indent="0" marL="0">
              <a:buNone/>
            </a:pPr>
            <a:r>
              <a:rPr lang="en-US" sz="1300" dirty="0">
                <a:solidFill>
                  <a:schemeClr val="bg2"/>
                </a:solidFill>
                <a:latin typeface="Cambria" pitchFamily="34" charset="0"/>
                <a:ea typeface="Cambria" pitchFamily="34" charset="-122"/>
                <a:cs typeface="Cambria" pitchFamily="34" charset="-120"/>
              </a:rPr>
              <a:t>Thread 3</a:t>
            </a:r>
            <a:endParaRPr lang="en-US" sz="1300" dirty="0"/>
          </a:p>
        </p:txBody>
      </p:sp>
      <p:sp>
        <p:nvSpPr>
          <p:cNvPr id="17" name="lane-108"/>
          <p:cNvSpPr/>
          <p:nvPr/>
        </p:nvSpPr>
        <p:spPr>
          <a:xfrm>
            <a:off x="1417320" y="2697480"/>
            <a:ext cx="2834640" cy="274320"/>
          </a:xfrm>
          <a:prstGeom prst="rect">
            <a:avLst/>
          </a:prstGeom>
          <a:solidFill>
            <a:srgbClr val="455A64"/>
          </a:solidFill>
          <a:ln/>
        </p:spPr>
      </p:sp>
      <p:sp>
        <p:nvSpPr>
          <p:cNvPr id="18" name="work-109"/>
          <p:cNvSpPr/>
          <p:nvPr/>
        </p:nvSpPr>
        <p:spPr>
          <a:xfrm>
            <a:off x="1771650" y="2697480"/>
            <a:ext cx="158877" cy="274320"/>
          </a:xfrm>
          <a:prstGeom prst="rect">
            <a:avLst/>
          </a:prstGeom>
          <a:solidFill>
            <a:schemeClr val="accent3"/>
          </a:solidFill>
          <a:ln/>
        </p:spPr>
      </p:sp>
      <p:sp>
        <p:nvSpPr>
          <p:cNvPr id="19" name="work-110"/>
          <p:cNvSpPr/>
          <p:nvPr/>
        </p:nvSpPr>
        <p:spPr>
          <a:xfrm>
            <a:off x="2480310" y="2697480"/>
            <a:ext cx="158877" cy="274320"/>
          </a:xfrm>
          <a:prstGeom prst="rect">
            <a:avLst/>
          </a:prstGeom>
          <a:solidFill>
            <a:schemeClr val="accent3"/>
          </a:solidFill>
          <a:ln/>
        </p:spPr>
      </p:sp>
      <p:sp>
        <p:nvSpPr>
          <p:cNvPr id="20" name="work-111"/>
          <p:cNvSpPr/>
          <p:nvPr/>
        </p:nvSpPr>
        <p:spPr>
          <a:xfrm>
            <a:off x="3188970" y="2697480"/>
            <a:ext cx="158877" cy="274320"/>
          </a:xfrm>
          <a:prstGeom prst="rect">
            <a:avLst/>
          </a:prstGeom>
          <a:solidFill>
            <a:schemeClr val="accent3"/>
          </a:solidFill>
          <a:ln/>
        </p:spPr>
      </p:sp>
      <p:sp>
        <p:nvSpPr>
          <p:cNvPr id="21" name="work-112"/>
          <p:cNvSpPr/>
          <p:nvPr/>
        </p:nvSpPr>
        <p:spPr>
          <a:xfrm>
            <a:off x="3897630" y="2697480"/>
            <a:ext cx="158877" cy="274320"/>
          </a:xfrm>
          <a:prstGeom prst="rect">
            <a:avLst/>
          </a:prstGeom>
          <a:solidFill>
            <a:schemeClr val="accent3"/>
          </a:solidFill>
          <a:ln/>
        </p:spPr>
      </p:sp>
      <p:sp>
        <p:nvSpPr>
          <p:cNvPr id="22" name="text-113"/>
          <p:cNvSpPr txBox="1"/>
          <p:nvPr/>
        </p:nvSpPr>
        <p:spPr>
          <a:xfrm>
            <a:off x="457200" y="3154680"/>
            <a:ext cx="914400" cy="365760"/>
          </a:xfrm>
          <a:prstGeom prst="rect">
            <a:avLst/>
          </a:prstGeom>
          <a:noFill/>
          <a:ln/>
        </p:spPr>
        <p:txBody>
          <a:bodyPr wrap="square" lIns="0" tIns="0" rIns="0" bIns="0" rtlCol="0" anchor="ctr"/>
          <a:lstStyle/>
          <a:p>
            <a:pPr indent="0" marL="0">
              <a:buNone/>
            </a:pPr>
            <a:r>
              <a:rPr lang="en-US" sz="1300" dirty="0">
                <a:solidFill>
                  <a:schemeClr val="bg2"/>
                </a:solidFill>
                <a:latin typeface="Cambria" pitchFamily="34" charset="0"/>
                <a:ea typeface="Cambria" pitchFamily="34" charset="-122"/>
                <a:cs typeface="Cambria" pitchFamily="34" charset="-120"/>
              </a:rPr>
              <a:t>Thread 4</a:t>
            </a:r>
            <a:endParaRPr lang="en-US" sz="1300" dirty="0"/>
          </a:p>
        </p:txBody>
      </p:sp>
      <p:sp>
        <p:nvSpPr>
          <p:cNvPr id="23" name="lane-114"/>
          <p:cNvSpPr/>
          <p:nvPr/>
        </p:nvSpPr>
        <p:spPr>
          <a:xfrm>
            <a:off x="1417320" y="3200400"/>
            <a:ext cx="2834640" cy="274320"/>
          </a:xfrm>
          <a:prstGeom prst="rect">
            <a:avLst/>
          </a:prstGeom>
          <a:solidFill>
            <a:srgbClr val="455A64"/>
          </a:solidFill>
          <a:ln/>
        </p:spPr>
      </p:sp>
      <p:sp>
        <p:nvSpPr>
          <p:cNvPr id="24" name="work-115"/>
          <p:cNvSpPr/>
          <p:nvPr/>
        </p:nvSpPr>
        <p:spPr>
          <a:xfrm>
            <a:off x="1948815" y="3200400"/>
            <a:ext cx="158877" cy="274320"/>
          </a:xfrm>
          <a:prstGeom prst="rect">
            <a:avLst/>
          </a:prstGeom>
          <a:solidFill>
            <a:schemeClr val="accent3"/>
          </a:solidFill>
          <a:ln/>
        </p:spPr>
      </p:sp>
      <p:sp>
        <p:nvSpPr>
          <p:cNvPr id="25" name="work-116"/>
          <p:cNvSpPr/>
          <p:nvPr/>
        </p:nvSpPr>
        <p:spPr>
          <a:xfrm>
            <a:off x="2657475" y="3200400"/>
            <a:ext cx="158877" cy="274320"/>
          </a:xfrm>
          <a:prstGeom prst="rect">
            <a:avLst/>
          </a:prstGeom>
          <a:solidFill>
            <a:schemeClr val="accent3"/>
          </a:solidFill>
          <a:ln/>
        </p:spPr>
      </p:sp>
      <p:sp>
        <p:nvSpPr>
          <p:cNvPr id="26" name="work-117"/>
          <p:cNvSpPr/>
          <p:nvPr/>
        </p:nvSpPr>
        <p:spPr>
          <a:xfrm>
            <a:off x="3366135" y="3200400"/>
            <a:ext cx="158877" cy="274320"/>
          </a:xfrm>
          <a:prstGeom prst="rect">
            <a:avLst/>
          </a:prstGeom>
          <a:solidFill>
            <a:schemeClr val="accent3"/>
          </a:solidFill>
          <a:ln/>
        </p:spPr>
      </p:sp>
      <p:sp>
        <p:nvSpPr>
          <p:cNvPr id="27" name="work-118"/>
          <p:cNvSpPr/>
          <p:nvPr/>
        </p:nvSpPr>
        <p:spPr>
          <a:xfrm>
            <a:off x="4074795" y="3200400"/>
            <a:ext cx="158877" cy="274320"/>
          </a:xfrm>
          <a:prstGeom prst="rect">
            <a:avLst/>
          </a:prstGeom>
          <a:solidFill>
            <a:schemeClr val="accent3"/>
          </a:solidFill>
          <a:ln/>
        </p:spPr>
      </p:sp>
      <p:sp>
        <p:nvSpPr>
          <p:cNvPr id="28" name="text-119"/>
          <p:cNvSpPr txBox="1"/>
          <p:nvPr/>
        </p:nvSpPr>
        <p:spPr>
          <a:xfrm>
            <a:off x="457200" y="3840480"/>
            <a:ext cx="3840480" cy="640080"/>
          </a:xfrm>
          <a:prstGeom prst="rect">
            <a:avLst/>
          </a:prstGeom>
          <a:noFill/>
          <a:ln/>
        </p:spPr>
        <p:txBody>
          <a:bodyPr wrap="square" lIns="0" tIns="0" rIns="0" bIns="0" rtlCol="0" anchor="t"/>
          <a:lstStyle/>
          <a:p>
            <a:pPr indent="0" marL="0">
              <a:buNone/>
            </a:pPr>
            <a:r>
              <a:rPr lang="en-US" sz="1400" dirty="0">
                <a:solidFill>
                  <a:schemeClr val="bg1"/>
                </a:solidFill>
                <a:latin typeface="Cambria" pitchFamily="34" charset="0"/>
                <a:ea typeface="Cambria" pitchFamily="34" charset="-122"/>
                <a:cs typeface="Cambria" pitchFamily="34" charset="-120"/>
              </a:rPr>
              <a:t>Only one thread runs Python at a time. They take turns on one core.</a:t>
            </a:r>
            <a:endParaRPr lang="en-US" sz="1400" dirty="0"/>
          </a:p>
        </p:txBody>
      </p:sp>
      <p:sp>
        <p:nvSpPr>
          <p:cNvPr id="29" name="text-120"/>
          <p:cNvSpPr txBox="1"/>
          <p:nvPr/>
        </p:nvSpPr>
        <p:spPr>
          <a:xfrm>
            <a:off x="4846320" y="1143000"/>
            <a:ext cx="3840480" cy="365760"/>
          </a:xfrm>
          <a:prstGeom prst="rect">
            <a:avLst/>
          </a:prstGeom>
          <a:noFill/>
          <a:ln/>
        </p:spPr>
        <p:txBody>
          <a:bodyPr wrap="square" lIns="0" tIns="0" rIns="0" bIns="0" rtlCol="0" anchor="ctr"/>
          <a:lstStyle/>
          <a:p>
            <a:pPr indent="0" marL="0">
              <a:buNone/>
            </a:pPr>
            <a:r>
              <a:rPr lang="en-US" sz="1800" b="1" dirty="0">
                <a:solidFill>
                  <a:schemeClr val="bg1"/>
                </a:solidFill>
                <a:latin typeface="Bahnschrift" pitchFamily="34" charset="0"/>
                <a:ea typeface="Bahnschrift" pitchFamily="34" charset="-122"/>
                <a:cs typeface="Bahnschrift" pitchFamily="34" charset="-120"/>
              </a:rPr>
              <a:t>4 processes</a:t>
            </a:r>
            <a:endParaRPr lang="en-US" sz="1800" dirty="0"/>
          </a:p>
        </p:txBody>
      </p:sp>
      <p:sp>
        <p:nvSpPr>
          <p:cNvPr id="30" name="text-121"/>
          <p:cNvSpPr txBox="1"/>
          <p:nvPr/>
        </p:nvSpPr>
        <p:spPr>
          <a:xfrm>
            <a:off x="4846320" y="1645920"/>
            <a:ext cx="914400" cy="365760"/>
          </a:xfrm>
          <a:prstGeom prst="rect">
            <a:avLst/>
          </a:prstGeom>
          <a:noFill/>
          <a:ln/>
        </p:spPr>
        <p:txBody>
          <a:bodyPr wrap="square" lIns="0" tIns="0" rIns="0" bIns="0" rtlCol="0" anchor="ctr"/>
          <a:lstStyle/>
          <a:p>
            <a:pPr indent="0" marL="0">
              <a:buNone/>
            </a:pPr>
            <a:r>
              <a:rPr lang="en-US" sz="1300" dirty="0">
                <a:solidFill>
                  <a:schemeClr val="bg2"/>
                </a:solidFill>
                <a:latin typeface="Cambria" pitchFamily="34" charset="0"/>
                <a:ea typeface="Cambria" pitchFamily="34" charset="-122"/>
                <a:cs typeface="Cambria" pitchFamily="34" charset="-120"/>
              </a:rPr>
              <a:t>Process 1</a:t>
            </a:r>
            <a:endParaRPr lang="en-US" sz="1300" dirty="0"/>
          </a:p>
        </p:txBody>
      </p:sp>
      <p:sp>
        <p:nvSpPr>
          <p:cNvPr id="31" name="lane-122"/>
          <p:cNvSpPr/>
          <p:nvPr/>
        </p:nvSpPr>
        <p:spPr>
          <a:xfrm>
            <a:off x="5806440" y="1691640"/>
            <a:ext cx="2834640" cy="274320"/>
          </a:xfrm>
          <a:prstGeom prst="rect">
            <a:avLst/>
          </a:prstGeom>
          <a:solidFill>
            <a:srgbClr val="455A64"/>
          </a:solidFill>
          <a:ln/>
        </p:spPr>
      </p:sp>
      <p:sp>
        <p:nvSpPr>
          <p:cNvPr id="32" name="work-123"/>
          <p:cNvSpPr/>
          <p:nvPr/>
        </p:nvSpPr>
        <p:spPr>
          <a:xfrm>
            <a:off x="5806440" y="1691640"/>
            <a:ext cx="850392" cy="274320"/>
          </a:xfrm>
          <a:prstGeom prst="rect">
            <a:avLst/>
          </a:prstGeom>
          <a:solidFill>
            <a:schemeClr val="accent2"/>
          </a:solidFill>
          <a:ln/>
        </p:spPr>
      </p:sp>
      <p:sp>
        <p:nvSpPr>
          <p:cNvPr id="33" name="text-124"/>
          <p:cNvSpPr txBox="1"/>
          <p:nvPr/>
        </p:nvSpPr>
        <p:spPr>
          <a:xfrm>
            <a:off x="4846320" y="2148840"/>
            <a:ext cx="914400" cy="365760"/>
          </a:xfrm>
          <a:prstGeom prst="rect">
            <a:avLst/>
          </a:prstGeom>
          <a:noFill/>
          <a:ln/>
        </p:spPr>
        <p:txBody>
          <a:bodyPr wrap="square" lIns="0" tIns="0" rIns="0" bIns="0" rtlCol="0" anchor="ctr"/>
          <a:lstStyle/>
          <a:p>
            <a:pPr indent="0" marL="0">
              <a:buNone/>
            </a:pPr>
            <a:r>
              <a:rPr lang="en-US" sz="1300" dirty="0">
                <a:solidFill>
                  <a:schemeClr val="bg2"/>
                </a:solidFill>
                <a:latin typeface="Cambria" pitchFamily="34" charset="0"/>
                <a:ea typeface="Cambria" pitchFamily="34" charset="-122"/>
                <a:cs typeface="Cambria" pitchFamily="34" charset="-120"/>
              </a:rPr>
              <a:t>Process 2</a:t>
            </a:r>
            <a:endParaRPr lang="en-US" sz="1300" dirty="0"/>
          </a:p>
        </p:txBody>
      </p:sp>
      <p:sp>
        <p:nvSpPr>
          <p:cNvPr id="34" name="lane-125"/>
          <p:cNvSpPr/>
          <p:nvPr/>
        </p:nvSpPr>
        <p:spPr>
          <a:xfrm>
            <a:off x="5806440" y="2194560"/>
            <a:ext cx="2834640" cy="274320"/>
          </a:xfrm>
          <a:prstGeom prst="rect">
            <a:avLst/>
          </a:prstGeom>
          <a:solidFill>
            <a:srgbClr val="455A64"/>
          </a:solidFill>
          <a:ln/>
        </p:spPr>
      </p:sp>
      <p:sp>
        <p:nvSpPr>
          <p:cNvPr id="35" name="work-126"/>
          <p:cNvSpPr/>
          <p:nvPr/>
        </p:nvSpPr>
        <p:spPr>
          <a:xfrm>
            <a:off x="5806440" y="2194560"/>
            <a:ext cx="850392" cy="274320"/>
          </a:xfrm>
          <a:prstGeom prst="rect">
            <a:avLst/>
          </a:prstGeom>
          <a:solidFill>
            <a:schemeClr val="accent2"/>
          </a:solidFill>
          <a:ln/>
        </p:spPr>
      </p:sp>
      <p:sp>
        <p:nvSpPr>
          <p:cNvPr id="36" name="text-127"/>
          <p:cNvSpPr txBox="1"/>
          <p:nvPr/>
        </p:nvSpPr>
        <p:spPr>
          <a:xfrm>
            <a:off x="4846320" y="2651760"/>
            <a:ext cx="914400" cy="365760"/>
          </a:xfrm>
          <a:prstGeom prst="rect">
            <a:avLst/>
          </a:prstGeom>
          <a:noFill/>
          <a:ln/>
        </p:spPr>
        <p:txBody>
          <a:bodyPr wrap="square" lIns="0" tIns="0" rIns="0" bIns="0" rtlCol="0" anchor="ctr"/>
          <a:lstStyle/>
          <a:p>
            <a:pPr indent="0" marL="0">
              <a:buNone/>
            </a:pPr>
            <a:r>
              <a:rPr lang="en-US" sz="1300" dirty="0">
                <a:solidFill>
                  <a:schemeClr val="bg2"/>
                </a:solidFill>
                <a:latin typeface="Cambria" pitchFamily="34" charset="0"/>
                <a:ea typeface="Cambria" pitchFamily="34" charset="-122"/>
                <a:cs typeface="Cambria" pitchFamily="34" charset="-120"/>
              </a:rPr>
              <a:t>Process 3</a:t>
            </a:r>
            <a:endParaRPr lang="en-US" sz="1300" dirty="0"/>
          </a:p>
        </p:txBody>
      </p:sp>
      <p:sp>
        <p:nvSpPr>
          <p:cNvPr id="37" name="lane-128"/>
          <p:cNvSpPr/>
          <p:nvPr/>
        </p:nvSpPr>
        <p:spPr>
          <a:xfrm>
            <a:off x="5806440" y="2697480"/>
            <a:ext cx="2834640" cy="274320"/>
          </a:xfrm>
          <a:prstGeom prst="rect">
            <a:avLst/>
          </a:prstGeom>
          <a:solidFill>
            <a:srgbClr val="455A64"/>
          </a:solidFill>
          <a:ln/>
        </p:spPr>
      </p:sp>
      <p:sp>
        <p:nvSpPr>
          <p:cNvPr id="38" name="work-129"/>
          <p:cNvSpPr/>
          <p:nvPr/>
        </p:nvSpPr>
        <p:spPr>
          <a:xfrm>
            <a:off x="5806440" y="2697480"/>
            <a:ext cx="850392" cy="274320"/>
          </a:xfrm>
          <a:prstGeom prst="rect">
            <a:avLst/>
          </a:prstGeom>
          <a:solidFill>
            <a:schemeClr val="accent2"/>
          </a:solidFill>
          <a:ln/>
        </p:spPr>
      </p:sp>
      <p:sp>
        <p:nvSpPr>
          <p:cNvPr id="39" name="text-130"/>
          <p:cNvSpPr txBox="1"/>
          <p:nvPr/>
        </p:nvSpPr>
        <p:spPr>
          <a:xfrm>
            <a:off x="4846320" y="3154680"/>
            <a:ext cx="914400" cy="365760"/>
          </a:xfrm>
          <a:prstGeom prst="rect">
            <a:avLst/>
          </a:prstGeom>
          <a:noFill/>
          <a:ln/>
        </p:spPr>
        <p:txBody>
          <a:bodyPr wrap="square" lIns="0" tIns="0" rIns="0" bIns="0" rtlCol="0" anchor="ctr"/>
          <a:lstStyle/>
          <a:p>
            <a:pPr indent="0" marL="0">
              <a:buNone/>
            </a:pPr>
            <a:r>
              <a:rPr lang="en-US" sz="1300" dirty="0">
                <a:solidFill>
                  <a:schemeClr val="bg2"/>
                </a:solidFill>
                <a:latin typeface="Cambria" pitchFamily="34" charset="0"/>
                <a:ea typeface="Cambria" pitchFamily="34" charset="-122"/>
                <a:cs typeface="Cambria" pitchFamily="34" charset="-120"/>
              </a:rPr>
              <a:t>Process 4</a:t>
            </a:r>
            <a:endParaRPr lang="en-US" sz="1300" dirty="0"/>
          </a:p>
        </p:txBody>
      </p:sp>
      <p:sp>
        <p:nvSpPr>
          <p:cNvPr id="40" name="lane-131"/>
          <p:cNvSpPr/>
          <p:nvPr/>
        </p:nvSpPr>
        <p:spPr>
          <a:xfrm>
            <a:off x="5806440" y="3200400"/>
            <a:ext cx="2834640" cy="274320"/>
          </a:xfrm>
          <a:prstGeom prst="rect">
            <a:avLst/>
          </a:prstGeom>
          <a:solidFill>
            <a:srgbClr val="455A64"/>
          </a:solidFill>
          <a:ln/>
        </p:spPr>
      </p:sp>
      <p:sp>
        <p:nvSpPr>
          <p:cNvPr id="41" name="work-132"/>
          <p:cNvSpPr/>
          <p:nvPr/>
        </p:nvSpPr>
        <p:spPr>
          <a:xfrm>
            <a:off x="5806440" y="3200400"/>
            <a:ext cx="850392" cy="274320"/>
          </a:xfrm>
          <a:prstGeom prst="rect">
            <a:avLst/>
          </a:prstGeom>
          <a:solidFill>
            <a:schemeClr val="accent2"/>
          </a:solidFill>
          <a:ln/>
        </p:spPr>
      </p:sp>
      <p:sp>
        <p:nvSpPr>
          <p:cNvPr id="42" name="text-133"/>
          <p:cNvSpPr txBox="1"/>
          <p:nvPr/>
        </p:nvSpPr>
        <p:spPr>
          <a:xfrm>
            <a:off x="4846320" y="3840480"/>
            <a:ext cx="3840480" cy="640080"/>
          </a:xfrm>
          <a:prstGeom prst="rect">
            <a:avLst/>
          </a:prstGeom>
          <a:noFill/>
          <a:ln/>
        </p:spPr>
        <p:txBody>
          <a:bodyPr wrap="square" lIns="0" tIns="0" rIns="0" bIns="0" rtlCol="0" anchor="t"/>
          <a:lstStyle/>
          <a:p>
            <a:pPr indent="0" marL="0">
              <a:buNone/>
            </a:pPr>
            <a:r>
              <a:rPr lang="en-US" sz="1400" dirty="0">
                <a:solidFill>
                  <a:schemeClr val="bg1"/>
                </a:solidFill>
                <a:latin typeface="Cambria" pitchFamily="34" charset="0"/>
                <a:ea typeface="Cambria" pitchFamily="34" charset="-122"/>
                <a:cs typeface="Cambria" pitchFamily="34" charset="-120"/>
              </a:rPr>
              <a:t>Each process has its own interpreter and its own GIL, so all four run at once.</a:t>
            </a:r>
            <a:endParaRPr lang="en-US" sz="1400" dirty="0"/>
          </a:p>
        </p:txBody>
      </p:sp>
      <p:sp>
        <p:nvSpPr>
          <p:cNvPr id="43" name="text-134"/>
          <p:cNvSpPr txBox="1"/>
          <p:nvPr/>
        </p:nvSpPr>
        <p:spPr>
          <a:xfrm>
            <a:off x="1417320" y="3520440"/>
            <a:ext cx="2834640" cy="228600"/>
          </a:xfrm>
          <a:prstGeom prst="rect">
            <a:avLst/>
          </a:prstGeom>
          <a:noFill/>
          <a:ln/>
        </p:spPr>
        <p:txBody>
          <a:bodyPr wrap="square" lIns="0" tIns="0" rIns="0" bIns="0" rtlCol="0" anchor="ctr"/>
          <a:lstStyle/>
          <a:p>
            <a:pPr algn="r" indent="0" marL="0">
              <a:buNone/>
            </a:pPr>
            <a:r>
              <a:rPr lang="en-US" sz="1100" dirty="0">
                <a:solidFill>
                  <a:schemeClr val="bg2"/>
                </a:solidFill>
                <a:latin typeface="Cambria" pitchFamily="34" charset="0"/>
                <a:ea typeface="Cambria" pitchFamily="34" charset="-122"/>
                <a:cs typeface="Cambria" pitchFamily="34" charset="-120"/>
              </a:rPr>
              <a:t>time →</a:t>
            </a:r>
            <a:endParaRPr lang="en-US" sz="1100" dirty="0"/>
          </a:p>
        </p:txBody>
      </p:sp>
      <p:sp>
        <p:nvSpPr>
          <p:cNvPr id="44" name="text-135"/>
          <p:cNvSpPr txBox="1"/>
          <p:nvPr/>
        </p:nvSpPr>
        <p:spPr>
          <a:xfrm>
            <a:off x="5806440" y="3520440"/>
            <a:ext cx="2834640" cy="228600"/>
          </a:xfrm>
          <a:prstGeom prst="rect">
            <a:avLst/>
          </a:prstGeom>
          <a:noFill/>
          <a:ln/>
        </p:spPr>
        <p:txBody>
          <a:bodyPr wrap="square" lIns="0" tIns="0" rIns="0" bIns="0" rtlCol="0" anchor="ctr"/>
          <a:lstStyle/>
          <a:p>
            <a:pPr algn="r" indent="0" marL="0">
              <a:buNone/>
            </a:pPr>
            <a:r>
              <a:rPr lang="en-US" sz="1100" dirty="0">
                <a:solidFill>
                  <a:schemeClr val="bg2"/>
                </a:solidFill>
                <a:latin typeface="Cambria" pitchFamily="34" charset="0"/>
                <a:ea typeface="Cambria" pitchFamily="34" charset="-122"/>
                <a:cs typeface="Cambria" pitchFamily="34" charset="-120"/>
              </a:rPr>
              <a:t>time →</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bg1"/>
                </a:solidFill>
              </a:rPr>
              <a:t>Measured: threads kept exactly one core busy</a:t>
            </a:r>
            <a:endParaRPr lang="en-US" sz="3000" dirty="0"/>
          </a:p>
        </p:txBody>
      </p:sp>
      <p:graphicFrame>
        <p:nvGraphicFramePr>
          <p:cNvPr id="3" name="chart-cores" descr=""/>
          <p:cNvGraphicFramePr/>
          <p:nvPr/>
        </p:nvGraphicFramePr>
        <p:xfrm>
          <a:off x="365760" y="1097280"/>
          <a:ext cx="5760720" cy="3520440"/>
        </p:xfrm>
        <a:graphic xmlns:a="http://schemas.openxmlformats.org/drawingml/2006/main">
          <a:graphicData uri="http://schemas.openxmlformats.org/drawingml/2006/chart">
            <c:chart xmlns:c="http://schemas.openxmlformats.org/drawingml/2006/chart" r:id="rId1"/>
          </a:graphicData>
        </a:graphic>
      </p:graphicFrame>
      <p:sp>
        <p:nvSpPr>
          <p:cNvPr id="4" name="card-136"/>
          <p:cNvSpPr/>
          <p:nvPr/>
        </p:nvSpPr>
        <p:spPr>
          <a:xfrm>
            <a:off x="6355080" y="1188720"/>
            <a:ext cx="2331720" cy="3291840"/>
          </a:xfrm>
          <a:prstGeom prst="roundRect">
            <a:avLst>
              <a:gd name="adj" fmla="val 3137"/>
            </a:avLst>
          </a:prstGeom>
          <a:solidFill>
            <a:schemeClr val="accent6"/>
          </a:solidFill>
          <a:ln/>
        </p:spPr>
      </p:sp>
      <p:sp>
        <p:nvSpPr>
          <p:cNvPr id="5" name="text-137"/>
          <p:cNvSpPr txBox="1"/>
          <p:nvPr/>
        </p:nvSpPr>
        <p:spPr>
          <a:xfrm>
            <a:off x="6537960" y="1325880"/>
            <a:ext cx="1965960" cy="365760"/>
          </a:xfrm>
          <a:prstGeom prst="rect">
            <a:avLst/>
          </a:prstGeom>
          <a:noFill/>
          <a:ln/>
        </p:spPr>
        <p:txBody>
          <a:bodyPr wrap="square" lIns="0" tIns="0" rIns="0" bIns="0" rtlCol="0" anchor="ctr"/>
          <a:lstStyle/>
          <a:p>
            <a:pPr indent="0" marL="0">
              <a:buNone/>
            </a:pPr>
            <a:r>
              <a:rPr lang="en-US" sz="1600" b="1" dirty="0">
                <a:solidFill>
                  <a:schemeClr val="accent1"/>
                </a:solidFill>
                <a:latin typeface="Bahnschrift" pitchFamily="34" charset="0"/>
                <a:ea typeface="Bahnschrift" pitchFamily="34" charset="-122"/>
                <a:cs typeface="Bahnschrift" pitchFamily="34" charset="-120"/>
              </a:rPr>
              <a:t>How it's measured</a:t>
            </a:r>
            <a:endParaRPr lang="en-US" sz="1600" dirty="0"/>
          </a:p>
        </p:txBody>
      </p:sp>
      <p:sp>
        <p:nvSpPr>
          <p:cNvPr id="6" name="text-138"/>
          <p:cNvSpPr txBox="1"/>
          <p:nvPr/>
        </p:nvSpPr>
        <p:spPr>
          <a:xfrm>
            <a:off x="6537960" y="1783080"/>
            <a:ext cx="1965960" cy="2560320"/>
          </a:xfrm>
          <a:prstGeom prst="rect">
            <a:avLst/>
          </a:prstGeom>
          <a:noFill/>
          <a:ln/>
        </p:spPr>
        <p:txBody>
          <a:bodyPr wrap="square" lIns="0" tIns="0" rIns="0" bIns="0" rtlCol="0" anchor="t"/>
          <a:lstStyle/>
          <a:p>
            <a:pPr indent="0" marL="0">
              <a:buNone/>
            </a:pPr>
            <a:r>
              <a:rPr lang="en-US" sz="1400" dirty="0">
                <a:solidFill>
                  <a:schemeClr val="bg1"/>
                </a:solidFill>
                <a:latin typeface="Cambria" pitchFamily="34" charset="0"/>
                <a:ea typeface="Cambria" pitchFamily="34" charset="-122"/>
                <a:cs typeface="Cambria" pitchFamily="34" charset="-120"/>
              </a:rPr>
              <a:t>Each worker records its own CPU time. Total CPU time ÷ wall-clock time = cores busy. Above 8 means SMT siblings are in use.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139"/>
          <p:cNvSpPr txBox="1"/>
          <p:nvPr/>
        </p:nvSpPr>
        <p:spPr>
          <a:xfrm>
            <a:off x="548640" y="1554480"/>
            <a:ext cx="8046720" cy="411480"/>
          </a:xfrm>
          <a:prstGeom prst="rect">
            <a:avLst/>
          </a:prstGeom>
          <a:noFill/>
          <a:ln/>
        </p:spPr>
        <p:txBody>
          <a:bodyPr wrap="square" lIns="0" tIns="0" rIns="0" bIns="0" rtlCol="0" anchor="ctr"/>
          <a:lstStyle/>
          <a:p>
            <a:pPr indent="0" marL="0">
              <a:buNone/>
            </a:pPr>
            <a:r>
              <a:rPr lang="en-US" sz="1800" dirty="0">
                <a:solidFill>
                  <a:schemeClr val="accent1"/>
                </a:solidFill>
                <a:latin typeface="Cambria" pitchFamily="34" charset="0"/>
                <a:ea typeface="Cambria" pitchFamily="34" charset="-122"/>
                <a:cs typeface="Cambria" pitchFamily="34" charset="-120"/>
              </a:rPr>
              <a:t>Part 4</a:t>
            </a:r>
            <a:endParaRPr lang="en-US" sz="1800" dirty="0"/>
          </a:p>
        </p:txBody>
      </p:sp>
      <p:sp>
        <p:nvSpPr>
          <p:cNvPr id="3" name="Text 0"/>
          <p:cNvSpPr/>
          <p:nvPr>
            <p:ph idx="100" type="title" hasCustomPrompt="1"/>
          </p:nvPr>
        </p:nvSpPr>
        <p:spPr>
          <a:xfrm>
            <a:off x="548640" y="2011680"/>
            <a:ext cx="8046720" cy="1097280"/>
          </a:xfrm>
          <a:prstGeom prst="rect">
            <a:avLst/>
          </a:prstGeom>
          <a:noFill/>
          <a:ln/>
        </p:spPr>
        <p:txBody>
          <a:bodyPr wrap="square" lIns="0" tIns="0" rIns="0" bIns="0" rtlCol="0" anchor="t"/>
          <a:lstStyle/>
          <a:p>
            <a:pPr algn="l" indent="0" marL="0">
              <a:buNone/>
            </a:pPr>
            <a:r>
              <a:rPr lang="en-US" sz="4000" b="1" dirty="0">
                <a:solidFill>
                  <a:schemeClr val="bg1"/>
                </a:solidFill>
              </a:rPr>
              <a:t>The fix: processes, and Python without the GIL</a:t>
            </a:r>
            <a:endParaRPr lang="en-US" sz="4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bg1"/>
                </a:solidFill>
              </a:rPr>
              <a:t>Rerun: same images, seven configurations</a:t>
            </a:r>
            <a:endParaRPr lang="en-US" sz="3000" dirty="0"/>
          </a:p>
        </p:txBody>
      </p:sp>
      <p:graphicFrame>
        <p:nvGraphicFramePr>
          <p:cNvPr id="17" name="table-configs"/>
          <p:cNvGraphicFramePr>
            <a:graphicFrameLocks noGrp="1"/>
          </p:cNvGraphicFramePr>
          <p:nvPr>
            <p:extLst>
              <p:ext uri="{D42A27DB-BD31-4B8C-83A1-F6EECF244321}">
                <p14:modId xmlns:p14="http://schemas.microsoft.com/office/powerpoint/2010/main" val="1579011935"/>
              </p:ext>
            </p:extLst>
          </p:nvPr>
        </p:nvGraphicFramePr>
        <p:xfrm>
          <a:off x="457200" y="1188720"/>
          <a:ext cx="5120640" cy="914400"/>
        </p:xfrm>
        <a:graphic>
          <a:graphicData uri="http://schemas.openxmlformats.org/drawingml/2006/table">
            <a:tbl>
              <a:tblPr/>
              <a:tblGrid>
                <a:gridCol w="2194560"/>
                <a:gridCol w="2926080"/>
              </a:tblGrid>
              <a:tr h="438912">
                <a:tc>
                  <a:txBody>
                    <a:bodyPr/>
                    <a:lstStyle/>
                    <a:p>
                      <a:pPr indent="0" marL="0">
                        <a:buNone/>
                      </a:pPr>
                      <a:r>
                        <a:rPr lang="en-US" sz="1400" b="1" dirty="0">
                          <a:solidFill>
                            <a:srgbClr val="263238"/>
                          </a:solidFill>
                          <a:latin typeface="Bahnschrift" pitchFamily="34" charset="0"/>
                          <a:ea typeface="Bahnschrift" pitchFamily="34" charset="-122"/>
                          <a:cs typeface="Bahnschrift" pitchFamily="34" charset="-120"/>
                        </a:rPr>
                        <a:t>Configuration</a:t>
                      </a:r>
                      <a:endParaRPr lang="en-US" sz="1400" dirty="0">
                        <a:latin typeface="Bahnschrift" charset="0"/>
                        <a:ea typeface="Bahnschrift" charset="0"/>
                        <a:cs typeface="Bahnschrift" charset="0"/>
                      </a:endParaRPr>
                    </a:p>
                  </a:txBody>
                  <a:tcPr marL="73152" marR="73152" marT="73152" marB="73152"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F2B830"/>
                    </a:solidFill>
                  </a:tcPr>
                </a:tc>
                <a:tc>
                  <a:txBody>
                    <a:bodyPr/>
                    <a:lstStyle/>
                    <a:p>
                      <a:pPr indent="0" marL="0">
                        <a:buNone/>
                      </a:pPr>
                      <a:r>
                        <a:rPr lang="en-US" sz="1400" b="1" dirty="0">
                          <a:solidFill>
                            <a:srgbClr val="263238"/>
                          </a:solidFill>
                          <a:latin typeface="Bahnschrift" pitchFamily="34" charset="0"/>
                          <a:ea typeface="Bahnschrift" pitchFamily="34" charset="-122"/>
                          <a:cs typeface="Bahnschrift" pitchFamily="34" charset="-120"/>
                        </a:rPr>
                        <a:t>What it tests</a:t>
                      </a:r>
                      <a:endParaRPr lang="en-US" sz="1400" dirty="0">
                        <a:latin typeface="Bahnschrift" charset="0"/>
                        <a:ea typeface="Bahnschrift" charset="0"/>
                        <a:cs typeface="Bahnschrift" charset="0"/>
                      </a:endParaRPr>
                    </a:p>
                  </a:txBody>
                  <a:tcPr marL="73152" marR="73152" marT="73152" marB="73152"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F2B830"/>
                    </a:solidFill>
                  </a:tcPr>
                </a:tc>
              </a:tr>
              <a:tr h="438912">
                <a:tc>
                  <a:txBody>
                    <a:bodyPr/>
                    <a:lstStyle/>
                    <a:p>
                      <a:pPr indent="0" marL="0">
                        <a:buNone/>
                      </a:pPr>
                      <a:r>
                        <a:rPr lang="en-US" sz="1400" b="1" dirty="0">
                          <a:solidFill>
                            <a:srgbClr val="FFFFFF"/>
                          </a:solidFill>
                          <a:latin typeface="Cambria" pitchFamily="34" charset="0"/>
                          <a:ea typeface="Cambria" pitchFamily="34" charset="-122"/>
                          <a:cs typeface="Cambria" pitchFamily="34" charset="-120"/>
                        </a:rPr>
                        <a:t>Serial, whole image</a:t>
                      </a:r>
                      <a:endParaRPr lang="en-US" sz="1400" dirty="0">
                        <a:latin typeface="Cambria" charset="0"/>
                        <a:ea typeface="Cambria" charset="0"/>
                        <a:cs typeface="Cambria" charset="0"/>
                      </a:endParaRPr>
                    </a:p>
                  </a:txBody>
                  <a:tcPr marL="73152" marR="73152" marT="73152" marB="73152"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c>
                  <a:txBody>
                    <a:bodyPr/>
                    <a:lstStyle/>
                    <a:p>
                      <a:pPr indent="0" marL="0">
                        <a:buNone/>
                      </a:pPr>
                      <a:r>
                        <a:rPr lang="en-US" sz="1400" dirty="0">
                          <a:solidFill>
                            <a:srgbClr val="FFFFFF"/>
                          </a:solidFill>
                          <a:latin typeface="Cambria" pitchFamily="34" charset="0"/>
                          <a:ea typeface="Cambria" pitchFamily="34" charset="-122"/>
                          <a:cs typeface="Cambria" pitchFamily="34" charset="-120"/>
                        </a:rPr>
                        <a:t>Baseline</a:t>
                      </a:r>
                      <a:endParaRPr lang="en-US" sz="1400" dirty="0">
                        <a:latin typeface="Cambria" charset="0"/>
                        <a:ea typeface="Cambria" charset="0"/>
                        <a:cs typeface="Cambria" charset="0"/>
                      </a:endParaRPr>
                    </a:p>
                  </a:txBody>
                  <a:tcPr marL="73152" marR="73152" marT="73152" marB="73152"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r>
              <a:tr h="438912">
                <a:tc>
                  <a:txBody>
                    <a:bodyPr/>
                    <a:lstStyle/>
                    <a:p>
                      <a:pPr indent="0" marL="0">
                        <a:buNone/>
                      </a:pPr>
                      <a:r>
                        <a:rPr lang="en-US" sz="1400" b="1" dirty="0">
                          <a:solidFill>
                            <a:srgbClr val="FFFFFF"/>
                          </a:solidFill>
                          <a:latin typeface="Cambria" pitchFamily="34" charset="0"/>
                          <a:ea typeface="Cambria" pitchFamily="34" charset="-122"/>
                          <a:cs typeface="Cambria" pitchFamily="34" charset="-120"/>
                        </a:rPr>
                        <a:t>Serial, 4 / 16 tiles</a:t>
                      </a:r>
                      <a:endParaRPr lang="en-US" sz="1400" dirty="0">
                        <a:latin typeface="Cambria" charset="0"/>
                        <a:ea typeface="Cambria" charset="0"/>
                        <a:cs typeface="Cambria" charset="0"/>
                      </a:endParaRPr>
                    </a:p>
                  </a:txBody>
                  <a:tcPr marL="73152" marR="73152" marT="73152" marB="73152"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c>
                  <a:txBody>
                    <a:bodyPr/>
                    <a:lstStyle/>
                    <a:p>
                      <a:pPr indent="0" marL="0">
                        <a:buNone/>
                      </a:pPr>
                      <a:r>
                        <a:rPr lang="en-US" sz="1400" dirty="0">
                          <a:solidFill>
                            <a:srgbClr val="FFFFFF"/>
                          </a:solidFill>
                          <a:latin typeface="Cambria" pitchFamily="34" charset="0"/>
                          <a:ea typeface="Cambria" pitchFamily="34" charset="-122"/>
                          <a:cs typeface="Cambria" pitchFamily="34" charset="-120"/>
                        </a:rPr>
                        <a:t>New control: tiling with no parallelism</a:t>
                      </a:r>
                      <a:endParaRPr lang="en-US" sz="1400" dirty="0">
                        <a:latin typeface="Cambria" charset="0"/>
                        <a:ea typeface="Cambria" charset="0"/>
                        <a:cs typeface="Cambria" charset="0"/>
                      </a:endParaRPr>
                    </a:p>
                  </a:txBody>
                  <a:tcPr marL="73152" marR="73152" marT="73152" marB="73152"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r>
              <a:tr h="438912">
                <a:tc>
                  <a:txBody>
                    <a:bodyPr/>
                    <a:lstStyle/>
                    <a:p>
                      <a:pPr indent="0" marL="0">
                        <a:buNone/>
                      </a:pPr>
                      <a:r>
                        <a:rPr lang="en-US" sz="1400" b="1" dirty="0">
                          <a:solidFill>
                            <a:srgbClr val="FFFFFF"/>
                          </a:solidFill>
                          <a:latin typeface="Cambria" pitchFamily="34" charset="0"/>
                          <a:ea typeface="Cambria" pitchFamily="34" charset="-122"/>
                          <a:cs typeface="Cambria" pitchFamily="34" charset="-120"/>
                        </a:rPr>
                        <a:t>Threads, 4 / 16 tiles</a:t>
                      </a:r>
                      <a:endParaRPr lang="en-US" sz="1400" dirty="0">
                        <a:latin typeface="Cambria" charset="0"/>
                        <a:ea typeface="Cambria" charset="0"/>
                        <a:cs typeface="Cambria" charset="0"/>
                      </a:endParaRPr>
                    </a:p>
                  </a:txBody>
                  <a:tcPr marL="73152" marR="73152" marT="73152" marB="73152"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c>
                  <a:txBody>
                    <a:bodyPr/>
                    <a:lstStyle/>
                    <a:p>
                      <a:pPr indent="0" marL="0">
                        <a:buNone/>
                      </a:pPr>
                      <a:r>
                        <a:rPr lang="en-US" sz="1400" dirty="0">
                          <a:solidFill>
                            <a:srgbClr val="FFFFFF"/>
                          </a:solidFill>
                          <a:latin typeface="Cambria" pitchFamily="34" charset="0"/>
                          <a:ea typeface="Cambria" pitchFamily="34" charset="-122"/>
                          <a:cs typeface="Cambria" pitchFamily="34" charset="-120"/>
                        </a:rPr>
                        <a:t>The 2023 method</a:t>
                      </a:r>
                      <a:endParaRPr lang="en-US" sz="1400" dirty="0">
                        <a:latin typeface="Cambria" charset="0"/>
                        <a:ea typeface="Cambria" charset="0"/>
                        <a:cs typeface="Cambria" charset="0"/>
                      </a:endParaRPr>
                    </a:p>
                  </a:txBody>
                  <a:tcPr marL="73152" marR="73152" marT="73152" marB="73152"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r>
              <a:tr h="438912">
                <a:tc>
                  <a:txBody>
                    <a:bodyPr/>
                    <a:lstStyle/>
                    <a:p>
                      <a:pPr indent="0" marL="0">
                        <a:buNone/>
                      </a:pPr>
                      <a:r>
                        <a:rPr lang="en-US" sz="1400" b="1" dirty="0">
                          <a:solidFill>
                            <a:srgbClr val="FFFFFF"/>
                          </a:solidFill>
                          <a:latin typeface="Cambria" pitchFamily="34" charset="0"/>
                          <a:ea typeface="Cambria" pitchFamily="34" charset="-122"/>
                          <a:cs typeface="Cambria" pitchFamily="34" charset="-120"/>
                        </a:rPr>
                        <a:t>Processes, 4 / 16 tiles</a:t>
                      </a:r>
                      <a:endParaRPr lang="en-US" sz="1400" dirty="0">
                        <a:latin typeface="Cambria" charset="0"/>
                        <a:ea typeface="Cambria" charset="0"/>
                        <a:cs typeface="Cambria" charset="0"/>
                      </a:endParaRPr>
                    </a:p>
                  </a:txBody>
                  <a:tcPr marL="73152" marR="73152" marT="73152" marB="73152"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c>
                  <a:txBody>
                    <a:bodyPr/>
                    <a:lstStyle/>
                    <a:p>
                      <a:pPr indent="0" marL="0">
                        <a:buNone/>
                      </a:pPr>
                      <a:r>
                        <a:rPr lang="en-US" sz="1400" dirty="0">
                          <a:solidFill>
                            <a:srgbClr val="FFFFFF"/>
                          </a:solidFill>
                          <a:latin typeface="Cambria" pitchFamily="34" charset="0"/>
                          <a:ea typeface="Cambria" pitchFamily="34" charset="-122"/>
                          <a:cs typeface="Cambria" pitchFamily="34" charset="-120"/>
                        </a:rPr>
                        <a:t>The fix: one interpreter per worker</a:t>
                      </a:r>
                      <a:endParaRPr lang="en-US" sz="1400" dirty="0">
                        <a:latin typeface="Cambria" charset="0"/>
                        <a:ea typeface="Cambria" charset="0"/>
                        <a:cs typeface="Cambria" charset="0"/>
                      </a:endParaRPr>
                    </a:p>
                  </a:txBody>
                  <a:tcPr marL="73152" marR="73152" marT="73152" marB="73152"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r>
              <a:tr h="438912">
                <a:tc>
                  <a:txBody>
                    <a:bodyPr/>
                    <a:lstStyle/>
                    <a:p>
                      <a:pPr indent="0" marL="0">
                        <a:buNone/>
                      </a:pPr>
                      <a:r>
                        <a:rPr lang="en-US" sz="1400" b="1" dirty="0">
                          <a:solidFill>
                            <a:srgbClr val="FFFFFF"/>
                          </a:solidFill>
                          <a:latin typeface="Cambria" pitchFamily="34" charset="0"/>
                          <a:ea typeface="Cambria" pitchFamily="34" charset="-122"/>
                          <a:cs typeface="Cambria" pitchFamily="34" charset="-120"/>
                        </a:rPr>
                        <a:t>No-GIL threads (3.14t)</a:t>
                      </a:r>
                      <a:endParaRPr lang="en-US" sz="1400" dirty="0">
                        <a:latin typeface="Cambria" charset="0"/>
                        <a:ea typeface="Cambria" charset="0"/>
                        <a:cs typeface="Cambria" charset="0"/>
                      </a:endParaRPr>
                    </a:p>
                  </a:txBody>
                  <a:tcPr marL="73152" marR="73152" marT="73152" marB="73152"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c>
                  <a:txBody>
                    <a:bodyPr/>
                    <a:lstStyle/>
                    <a:p>
                      <a:pPr indent="0" marL="0">
                        <a:buNone/>
                      </a:pPr>
                      <a:r>
                        <a:rPr lang="en-US" sz="1400" dirty="0">
                          <a:solidFill>
                            <a:srgbClr val="FFFFFF"/>
                          </a:solidFill>
                          <a:latin typeface="Cambria" pitchFamily="34" charset="0"/>
                          <a:ea typeface="Cambria" pitchFamily="34" charset="-122"/>
                          <a:cs typeface="Cambria" pitchFamily="34" charset="-120"/>
                        </a:rPr>
                        <a:t>Python's new free-threaded build</a:t>
                      </a:r>
                      <a:endParaRPr lang="en-US" sz="1400" dirty="0">
                        <a:latin typeface="Cambria" charset="0"/>
                        <a:ea typeface="Cambria" charset="0"/>
                        <a:cs typeface="Cambria" charset="0"/>
                      </a:endParaRPr>
                    </a:p>
                  </a:txBody>
                  <a:tcPr marL="73152" marR="73152" marT="73152" marB="73152"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r>
            </a:tbl>
          </a:graphicData>
        </a:graphic>
      </p:graphicFrame>
      <p:sp>
        <p:nvSpPr>
          <p:cNvPr id="4" name="card-140"/>
          <p:cNvSpPr/>
          <p:nvPr/>
        </p:nvSpPr>
        <p:spPr>
          <a:xfrm>
            <a:off x="5852160" y="1188720"/>
            <a:ext cx="2834640" cy="2651760"/>
          </a:xfrm>
          <a:prstGeom prst="roundRect">
            <a:avLst>
              <a:gd name="adj" fmla="val 2759"/>
            </a:avLst>
          </a:prstGeom>
          <a:solidFill>
            <a:schemeClr val="accent6"/>
          </a:solidFill>
          <a:ln/>
        </p:spPr>
      </p:sp>
      <p:sp>
        <p:nvSpPr>
          <p:cNvPr id="5" name="text-141"/>
          <p:cNvSpPr txBox="1"/>
          <p:nvPr/>
        </p:nvSpPr>
        <p:spPr>
          <a:xfrm>
            <a:off x="6035040" y="1325880"/>
            <a:ext cx="2468880" cy="365760"/>
          </a:xfrm>
          <a:prstGeom prst="rect">
            <a:avLst/>
          </a:prstGeom>
          <a:noFill/>
          <a:ln/>
        </p:spPr>
        <p:txBody>
          <a:bodyPr wrap="square" lIns="0" tIns="0" rIns="0" bIns="0" rtlCol="0" anchor="ctr"/>
          <a:lstStyle/>
          <a:p>
            <a:pPr indent="0" marL="0">
              <a:buNone/>
            </a:pPr>
            <a:r>
              <a:rPr lang="en-US" sz="1600" b="1" dirty="0">
                <a:solidFill>
                  <a:schemeClr val="accent1"/>
                </a:solidFill>
                <a:latin typeface="Bahnschrift" pitchFamily="34" charset="0"/>
                <a:ea typeface="Bahnschrift" pitchFamily="34" charset="-122"/>
                <a:cs typeface="Bahnschrift" pitchFamily="34" charset="-120"/>
              </a:rPr>
              <a:t>Same images as 2023?</a:t>
            </a:r>
            <a:endParaRPr lang="en-US" sz="1600" dirty="0"/>
          </a:p>
        </p:txBody>
      </p:sp>
      <p:sp>
        <p:nvSpPr>
          <p:cNvPr id="6" name="text-142"/>
          <p:cNvSpPr txBox="1"/>
          <p:nvPr/>
        </p:nvSpPr>
        <p:spPr>
          <a:xfrm>
            <a:off x="6035040" y="1783080"/>
            <a:ext cx="2468880" cy="1920240"/>
          </a:xfrm>
          <a:prstGeom prst="rect">
            <a:avLst/>
          </a:prstGeom>
          <a:noFill/>
          <a:ln/>
        </p:spPr>
        <p:txBody>
          <a:bodyPr wrap="square" lIns="0" tIns="0" rIns="0" bIns="0" rtlCol="0" anchor="t"/>
          <a:lstStyle/>
          <a:p>
            <a:pPr indent="0" marL="0">
              <a:buNone/>
            </a:pPr>
            <a:r>
              <a:rPr lang="en-US" sz="1400" b="1" dirty="0">
                <a:solidFill>
                  <a:schemeClr val="bg1"/>
                </a:solidFill>
                <a:latin typeface="Cambria" pitchFamily="34" charset="0"/>
                <a:ea typeface="Cambria" pitchFamily="34" charset="-122"/>
                <a:cs typeface="Cambria" pitchFamily="34" charset="-120"/>
              </a:rPr>
              <a:t>36 / 36 </a:t>
            </a:r>
            <a:pPr indent="0" marL="0">
              <a:buNone/>
            </a:pPr>
            <a:r>
              <a:rPr lang="en-US" sz="1400" dirty="0">
                <a:solidFill>
                  <a:schemeClr val="bg1"/>
                </a:solidFill>
                <a:latin typeface="Cambria" pitchFamily="34" charset="0"/>
                <a:ea typeface="Cambria" pitchFamily="34" charset="-122"/>
                <a:cs typeface="Cambria" pitchFamily="34" charset="-120"/>
              </a:rPr>
              <a:t>16-tile keypoint counts match the slides exactly</a:t>
            </a:r>
            <a:endParaRPr lang="en-US" sz="1400" dirty="0"/>
          </a:p>
          <a:p>
            <a:pPr indent="0" marL="0">
              <a:buNone/>
            </a:pPr>
            <a:r>
              <a:rPr lang="en-US" sz="600" dirty="0">
                <a:solidFill>
                  <a:schemeClr val="bg1"/>
                </a:solidFill>
                <a:latin typeface="Cambria" pitchFamily="34" charset="0"/>
                <a:ea typeface="Cambria" pitchFamily="34" charset="-122"/>
                <a:cs typeface="Cambria" pitchFamily="34" charset="-120"/>
              </a:rPr>
              <a:t> </a:t>
            </a:r>
            <a:endParaRPr lang="en-US" sz="1400" dirty="0"/>
          </a:p>
          <a:p>
            <a:pPr indent="0" marL="0">
              <a:buNone/>
            </a:pPr>
            <a:r>
              <a:rPr lang="en-US" sz="1400" b="1" dirty="0">
                <a:solidFill>
                  <a:schemeClr val="bg1"/>
                </a:solidFill>
                <a:latin typeface="Cambria" pitchFamily="34" charset="0"/>
                <a:ea typeface="Cambria" pitchFamily="34" charset="-122"/>
                <a:cs typeface="Cambria" pitchFamily="34" charset="-120"/>
              </a:rPr>
              <a:t>44 / 50 </a:t>
            </a:r>
            <a:pPr indent="0" marL="0">
              <a:buNone/>
            </a:pPr>
            <a:r>
              <a:rPr lang="en-US" sz="1400" dirty="0">
                <a:solidFill>
                  <a:schemeClr val="bg1"/>
                </a:solidFill>
                <a:latin typeface="Cambria" pitchFamily="34" charset="0"/>
                <a:ea typeface="Cambria" pitchFamily="34" charset="-122"/>
                <a:cs typeface="Cambria" pitchFamily="34" charset="-120"/>
              </a:rPr>
              <a:t>4-tile counts match; the rest are within 2 keypoints</a:t>
            </a:r>
            <a:endParaRPr lang="en-US" sz="1400" dirty="0"/>
          </a:p>
        </p:txBody>
      </p:sp>
      <p:sp>
        <p:nvSpPr>
          <p:cNvPr id="7" name="text-143"/>
          <p:cNvSpPr txBox="1"/>
          <p:nvPr/>
        </p:nvSpPr>
        <p:spPr>
          <a:xfrm>
            <a:off x="457200" y="4023360"/>
            <a:ext cx="8229600" cy="365760"/>
          </a:xfrm>
          <a:prstGeom prst="rect">
            <a:avLst/>
          </a:prstGeom>
          <a:noFill/>
          <a:ln/>
        </p:spPr>
        <p:txBody>
          <a:bodyPr wrap="square" lIns="0" tIns="0" rIns="0" bIns="0" rtlCol="0" anchor="ctr"/>
          <a:lstStyle/>
          <a:p>
            <a:pPr indent="0" marL="0">
              <a:buNone/>
            </a:pPr>
            <a:r>
              <a:rPr lang="en-US" sz="1400" dirty="0">
                <a:solidFill>
                  <a:schemeClr val="bg2"/>
                </a:solidFill>
                <a:latin typeface="Cambria" pitchFamily="34" charset="0"/>
                <a:ea typeface="Cambria" pitchFamily="34" charset="-122"/>
                <a:cs typeface="Cambria" pitchFamily="34" charset="-120"/>
              </a:rPr>
              <a:t>Every parallel run must give keypoints identical to serial on the same tiles.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bg1"/>
                </a:solidFill>
              </a:rPr>
              <a:t>Processes: 6.65× faster at 16 tiles</a:t>
            </a:r>
            <a:endParaRPr lang="en-US" sz="3000" dirty="0"/>
          </a:p>
        </p:txBody>
      </p:sp>
      <p:graphicFrame>
        <p:nvGraphicFramePr>
          <p:cNvPr id="3" name="chart-speedup" descr=""/>
          <p:cNvGraphicFramePr/>
          <p:nvPr/>
        </p:nvGraphicFramePr>
        <p:xfrm>
          <a:off x="365760" y="1097280"/>
          <a:ext cx="5760720" cy="3520440"/>
        </p:xfrm>
        <a:graphic xmlns:a="http://schemas.openxmlformats.org/drawingml/2006/main">
          <a:graphicData uri="http://schemas.openxmlformats.org/drawingml/2006/chart">
            <c:chart xmlns:c="http://schemas.openxmlformats.org/drawingml/2006/chart" r:id="rId1"/>
          </a:graphicData>
        </a:graphic>
      </p:graphicFrame>
      <p:sp>
        <p:nvSpPr>
          <p:cNvPr id="4" name="card-144"/>
          <p:cNvSpPr/>
          <p:nvPr/>
        </p:nvSpPr>
        <p:spPr>
          <a:xfrm>
            <a:off x="6355080" y="1188720"/>
            <a:ext cx="2331720" cy="1005840"/>
          </a:xfrm>
          <a:prstGeom prst="roundRect">
            <a:avLst>
              <a:gd name="adj" fmla="val 7273"/>
            </a:avLst>
          </a:prstGeom>
          <a:solidFill>
            <a:schemeClr val="accent6"/>
          </a:solidFill>
          <a:ln/>
        </p:spPr>
      </p:sp>
      <p:sp>
        <p:nvSpPr>
          <p:cNvPr id="5" name="text-145"/>
          <p:cNvSpPr txBox="1"/>
          <p:nvPr/>
        </p:nvSpPr>
        <p:spPr>
          <a:xfrm>
            <a:off x="6492240" y="1298448"/>
            <a:ext cx="2057400" cy="320040"/>
          </a:xfrm>
          <a:prstGeom prst="rect">
            <a:avLst/>
          </a:prstGeom>
          <a:noFill/>
          <a:ln/>
        </p:spPr>
        <p:txBody>
          <a:bodyPr wrap="square" lIns="0" tIns="0" rIns="0" bIns="0" rtlCol="0" anchor="ctr"/>
          <a:lstStyle/>
          <a:p>
            <a:pPr indent="0" marL="0">
              <a:buNone/>
            </a:pPr>
            <a:r>
              <a:rPr lang="en-US" sz="1500" b="1" dirty="0">
                <a:solidFill>
                  <a:schemeClr val="accent1"/>
                </a:solidFill>
                <a:latin typeface="Bahnschrift" pitchFamily="34" charset="0"/>
                <a:ea typeface="Bahnschrift" pitchFamily="34" charset="-122"/>
                <a:cs typeface="Bahnschrift" pitchFamily="34" charset="-120"/>
              </a:rPr>
              <a:t>Threads (GIL)</a:t>
            </a:r>
            <a:endParaRPr lang="en-US" sz="1500" dirty="0"/>
          </a:p>
        </p:txBody>
      </p:sp>
      <p:sp>
        <p:nvSpPr>
          <p:cNvPr id="6" name="text-146"/>
          <p:cNvSpPr txBox="1"/>
          <p:nvPr/>
        </p:nvSpPr>
        <p:spPr>
          <a:xfrm>
            <a:off x="6492240" y="1645920"/>
            <a:ext cx="2057400" cy="502920"/>
          </a:xfrm>
          <a:prstGeom prst="rect">
            <a:avLst/>
          </a:prstGeom>
          <a:noFill/>
          <a:ln/>
        </p:spPr>
        <p:txBody>
          <a:bodyPr wrap="square" lIns="0" tIns="0" rIns="0" bIns="0" rtlCol="0" anchor="t"/>
          <a:lstStyle/>
          <a:p>
            <a:pPr indent="0" marL="0">
              <a:buNone/>
            </a:pPr>
            <a:r>
              <a:rPr lang="en-US" sz="1300" dirty="0">
                <a:solidFill>
                  <a:schemeClr val="bg1"/>
                </a:solidFill>
                <a:latin typeface="Cambria" pitchFamily="34" charset="0"/>
                <a:ea typeface="Cambria" pitchFamily="34" charset="-122"/>
                <a:cs typeface="Cambria" pitchFamily="34" charset="-120"/>
              </a:rPr>
              <a:t>1.04× / 1.13×: only the tiling effect</a:t>
            </a:r>
            <a:endParaRPr lang="en-US" sz="1300" dirty="0"/>
          </a:p>
        </p:txBody>
      </p:sp>
      <p:sp>
        <p:nvSpPr>
          <p:cNvPr id="7" name="card-147"/>
          <p:cNvSpPr/>
          <p:nvPr/>
        </p:nvSpPr>
        <p:spPr>
          <a:xfrm>
            <a:off x="6355080" y="2331720"/>
            <a:ext cx="2331720" cy="1005840"/>
          </a:xfrm>
          <a:prstGeom prst="roundRect">
            <a:avLst>
              <a:gd name="adj" fmla="val 7273"/>
            </a:avLst>
          </a:prstGeom>
          <a:solidFill>
            <a:schemeClr val="accent6"/>
          </a:solidFill>
          <a:ln/>
        </p:spPr>
      </p:sp>
      <p:sp>
        <p:nvSpPr>
          <p:cNvPr id="8" name="text-148"/>
          <p:cNvSpPr txBox="1"/>
          <p:nvPr/>
        </p:nvSpPr>
        <p:spPr>
          <a:xfrm>
            <a:off x="6492240" y="2441448"/>
            <a:ext cx="2057400" cy="320040"/>
          </a:xfrm>
          <a:prstGeom prst="rect">
            <a:avLst/>
          </a:prstGeom>
          <a:noFill/>
          <a:ln/>
        </p:spPr>
        <p:txBody>
          <a:bodyPr wrap="square" lIns="0" tIns="0" rIns="0" bIns="0" rtlCol="0" anchor="ctr"/>
          <a:lstStyle/>
          <a:p>
            <a:pPr indent="0" marL="0">
              <a:buNone/>
            </a:pPr>
            <a:r>
              <a:rPr lang="en-US" sz="1500" b="1" dirty="0">
                <a:solidFill>
                  <a:schemeClr val="accent1"/>
                </a:solidFill>
                <a:latin typeface="Bahnschrift" pitchFamily="34" charset="0"/>
                <a:ea typeface="Bahnschrift" pitchFamily="34" charset="-122"/>
                <a:cs typeface="Bahnschrift" pitchFamily="34" charset="-120"/>
              </a:rPr>
              <a:t>Processes</a:t>
            </a:r>
            <a:endParaRPr lang="en-US" sz="1500" dirty="0"/>
          </a:p>
        </p:txBody>
      </p:sp>
      <p:sp>
        <p:nvSpPr>
          <p:cNvPr id="9" name="text-149"/>
          <p:cNvSpPr txBox="1"/>
          <p:nvPr/>
        </p:nvSpPr>
        <p:spPr>
          <a:xfrm>
            <a:off x="6492240" y="2788920"/>
            <a:ext cx="2057400" cy="502920"/>
          </a:xfrm>
          <a:prstGeom prst="rect">
            <a:avLst/>
          </a:prstGeom>
          <a:noFill/>
          <a:ln/>
        </p:spPr>
        <p:txBody>
          <a:bodyPr wrap="square" lIns="0" tIns="0" rIns="0" bIns="0" rtlCol="0" anchor="t"/>
          <a:lstStyle/>
          <a:p>
            <a:pPr indent="0" marL="0">
              <a:buNone/>
            </a:pPr>
            <a:r>
              <a:rPr lang="en-US" sz="1300" dirty="0">
                <a:solidFill>
                  <a:schemeClr val="bg1"/>
                </a:solidFill>
                <a:latin typeface="Cambria" pitchFamily="34" charset="0"/>
                <a:ea typeface="Cambria" pitchFamily="34" charset="-122"/>
                <a:cs typeface="Cambria" pitchFamily="34" charset="-120"/>
              </a:rPr>
              <a:t>3.42× / 6.65×</a:t>
            </a:r>
            <a:endParaRPr lang="en-US" sz="1300" dirty="0"/>
          </a:p>
        </p:txBody>
      </p:sp>
      <p:sp>
        <p:nvSpPr>
          <p:cNvPr id="10" name="card-150"/>
          <p:cNvSpPr/>
          <p:nvPr/>
        </p:nvSpPr>
        <p:spPr>
          <a:xfrm>
            <a:off x="6355080" y="3474720"/>
            <a:ext cx="2331720" cy="1005840"/>
          </a:xfrm>
          <a:prstGeom prst="roundRect">
            <a:avLst>
              <a:gd name="adj" fmla="val 7273"/>
            </a:avLst>
          </a:prstGeom>
          <a:solidFill>
            <a:schemeClr val="accent6"/>
          </a:solidFill>
          <a:ln/>
        </p:spPr>
      </p:sp>
      <p:sp>
        <p:nvSpPr>
          <p:cNvPr id="11" name="text-151"/>
          <p:cNvSpPr txBox="1"/>
          <p:nvPr/>
        </p:nvSpPr>
        <p:spPr>
          <a:xfrm>
            <a:off x="6492240" y="3584448"/>
            <a:ext cx="2057400" cy="320040"/>
          </a:xfrm>
          <a:prstGeom prst="rect">
            <a:avLst/>
          </a:prstGeom>
          <a:noFill/>
          <a:ln/>
        </p:spPr>
        <p:txBody>
          <a:bodyPr wrap="square" lIns="0" tIns="0" rIns="0" bIns="0" rtlCol="0" anchor="ctr"/>
          <a:lstStyle/>
          <a:p>
            <a:pPr indent="0" marL="0">
              <a:buNone/>
            </a:pPr>
            <a:r>
              <a:rPr lang="en-US" sz="1500" b="1" dirty="0">
                <a:solidFill>
                  <a:schemeClr val="accent1"/>
                </a:solidFill>
                <a:latin typeface="Bahnschrift" pitchFamily="34" charset="0"/>
                <a:ea typeface="Bahnschrift" pitchFamily="34" charset="-122"/>
                <a:cs typeface="Bahnschrift" pitchFamily="34" charset="-120"/>
              </a:rPr>
              <a:t>16 beats 4</a:t>
            </a:r>
            <a:endParaRPr lang="en-US" sz="1500" dirty="0"/>
          </a:p>
        </p:txBody>
      </p:sp>
      <p:sp>
        <p:nvSpPr>
          <p:cNvPr id="12" name="text-152"/>
          <p:cNvSpPr txBox="1"/>
          <p:nvPr/>
        </p:nvSpPr>
        <p:spPr>
          <a:xfrm>
            <a:off x="6492240" y="3931920"/>
            <a:ext cx="2057400" cy="502920"/>
          </a:xfrm>
          <a:prstGeom prst="rect">
            <a:avLst/>
          </a:prstGeom>
          <a:noFill/>
          <a:ln/>
        </p:spPr>
        <p:txBody>
          <a:bodyPr wrap="square" lIns="0" tIns="0" rIns="0" bIns="0" rtlCol="0" anchor="t"/>
          <a:lstStyle/>
          <a:p>
            <a:pPr indent="0" marL="0">
              <a:buNone/>
            </a:pPr>
            <a:r>
              <a:rPr lang="en-US" sz="1300" dirty="0">
                <a:solidFill>
                  <a:schemeClr val="bg1"/>
                </a:solidFill>
                <a:latin typeface="Cambria" pitchFamily="34" charset="0"/>
                <a:ea typeface="Cambria" pitchFamily="34" charset="-122"/>
                <a:cs typeface="Cambria" pitchFamily="34" charset="-120"/>
              </a:rPr>
              <a:t>With real parallelism, the 2023 hypothesis holds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bg1"/>
                </a:solidFill>
              </a:rPr>
              <a:t>Every image, same story</a:t>
            </a:r>
            <a:endParaRPr lang="en-US" sz="3000" dirty="0"/>
          </a:p>
        </p:txBody>
      </p:sp>
      <p:graphicFrame>
        <p:nvGraphicFramePr>
          <p:cNvPr id="3" name="chart-per-image" descr=""/>
          <p:cNvGraphicFramePr/>
          <p:nvPr/>
        </p:nvGraphicFramePr>
        <p:xfrm>
          <a:off x="365760" y="1051560"/>
          <a:ext cx="8412480" cy="36118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bg1"/>
                </a:solidFill>
              </a:rPr>
              <a:t>Processing time per version</a:t>
            </a:r>
            <a:endParaRPr lang="en-US" sz="3000" dirty="0"/>
          </a:p>
        </p:txBody>
      </p:sp>
      <p:graphicFrame>
        <p:nvGraphicFramePr>
          <p:cNvPr id="20" name="table-times"/>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3017520"/>
                <a:gridCol w="1645920"/>
                <a:gridCol w="1920240"/>
                <a:gridCol w="1645920"/>
              </a:tblGrid>
              <a:tr h="274320">
                <a:tc>
                  <a:txBody>
                    <a:bodyPr/>
                    <a:lstStyle/>
                    <a:p>
                      <a:pPr indent="0" marL="0">
                        <a:buNone/>
                      </a:pPr>
                      <a:r>
                        <a:rPr lang="en-US" sz="1200" b="1" dirty="0">
                          <a:solidFill>
                            <a:srgbClr val="263238"/>
                          </a:solidFill>
                          <a:latin typeface="Bahnschrift" pitchFamily="34" charset="0"/>
                          <a:ea typeface="Bahnschrift" pitchFamily="34" charset="-122"/>
                          <a:cs typeface="Bahnschrift" pitchFamily="34" charset="-120"/>
                        </a:rPr>
                        <a:t>Version</a:t>
                      </a:r>
                      <a:endParaRPr lang="en-US" sz="1200" dirty="0">
                        <a:latin typeface="Bahnschrift" charset="0"/>
                        <a:ea typeface="Bahnschrift" charset="0"/>
                        <a:cs typeface="Bahnschrift" charset="0"/>
                      </a:endParaRPr>
                    </a:p>
                  </a:txBody>
                  <a:tcPr marL="73152" marR="73152" marT="18288" marB="18288"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F2B830"/>
                    </a:solidFill>
                  </a:tcPr>
                </a:tc>
                <a:tc>
                  <a:txBody>
                    <a:bodyPr/>
                    <a:lstStyle/>
                    <a:p>
                      <a:pPr indent="0" marL="0">
                        <a:buNone/>
                      </a:pPr>
                      <a:r>
                        <a:rPr lang="en-US" sz="1200" b="1" dirty="0">
                          <a:solidFill>
                            <a:srgbClr val="263238"/>
                          </a:solidFill>
                          <a:latin typeface="Bahnschrift" pitchFamily="34" charset="0"/>
                          <a:ea typeface="Bahnschrift" pitchFamily="34" charset="-122"/>
                          <a:cs typeface="Bahnschrift" pitchFamily="34" charset="-120"/>
                        </a:rPr>
                        <a:t>Mean per image</a:t>
                      </a:r>
                      <a:endParaRPr lang="en-US" sz="1200" dirty="0">
                        <a:latin typeface="Bahnschrift" charset="0"/>
                        <a:ea typeface="Bahnschrift" charset="0"/>
                        <a:cs typeface="Bahnschrift" charset="0"/>
                      </a:endParaRPr>
                    </a:p>
                  </a:txBody>
                  <a:tcPr marL="73152" marR="73152" marT="18288" marB="18288"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F2B830"/>
                    </a:solidFill>
                  </a:tcPr>
                </a:tc>
                <a:tc>
                  <a:txBody>
                    <a:bodyPr/>
                    <a:lstStyle/>
                    <a:p>
                      <a:pPr indent="0" marL="0">
                        <a:buNone/>
                      </a:pPr>
                      <a:r>
                        <a:rPr lang="en-US" sz="1200" b="1" dirty="0">
                          <a:solidFill>
                            <a:srgbClr val="263238"/>
                          </a:solidFill>
                          <a:latin typeface="Bahnschrift" pitchFamily="34" charset="0"/>
                          <a:ea typeface="Bahnschrift" pitchFamily="34" charset="-122"/>
                          <a:cs typeface="Bahnschrift" pitchFamily="34" charset="-120"/>
                        </a:rPr>
                        <a:t>Fastest / slowest</a:t>
                      </a:r>
                      <a:endParaRPr lang="en-US" sz="1200" dirty="0">
                        <a:latin typeface="Bahnschrift" charset="0"/>
                        <a:ea typeface="Bahnschrift" charset="0"/>
                        <a:cs typeface="Bahnschrift" charset="0"/>
                      </a:endParaRPr>
                    </a:p>
                  </a:txBody>
                  <a:tcPr marL="73152" marR="73152" marT="18288" marB="18288"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F2B830"/>
                    </a:solidFill>
                  </a:tcPr>
                </a:tc>
                <a:tc>
                  <a:txBody>
                    <a:bodyPr/>
                    <a:lstStyle/>
                    <a:p>
                      <a:pPr indent="0" marL="0">
                        <a:buNone/>
                      </a:pPr>
                      <a:r>
                        <a:rPr lang="en-US" sz="1200" b="1" dirty="0">
                          <a:solidFill>
                            <a:srgbClr val="263238"/>
                          </a:solidFill>
                          <a:latin typeface="Bahnschrift" pitchFamily="34" charset="0"/>
                          <a:ea typeface="Bahnschrift" pitchFamily="34" charset="-122"/>
                          <a:cs typeface="Bahnschrift" pitchFamily="34" charset="-120"/>
                        </a:rPr>
                        <a:t>All 50 images</a:t>
                      </a:r>
                      <a:endParaRPr lang="en-US" sz="1200" dirty="0">
                        <a:latin typeface="Bahnschrift" charset="0"/>
                        <a:ea typeface="Bahnschrift" charset="0"/>
                        <a:cs typeface="Bahnschrift" charset="0"/>
                      </a:endParaRPr>
                    </a:p>
                  </a:txBody>
                  <a:tcPr marL="73152" marR="73152" marT="18288" marB="18288"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F2B830"/>
                    </a:solidFill>
                  </a:tcPr>
                </a:tc>
              </a:tr>
              <a:tr h="274320">
                <a:tc>
                  <a:txBody>
                    <a:bodyPr/>
                    <a:lstStyle/>
                    <a:p>
                      <a:pPr indent="0" marL="0">
                        <a:buNone/>
                      </a:pPr>
                      <a:r>
                        <a:rPr lang="en-US" sz="1200" dirty="0">
                          <a:solidFill>
                            <a:srgbClr val="FFFFFF"/>
                          </a:solidFill>
                          <a:latin typeface="Cambria" pitchFamily="34" charset="0"/>
                          <a:ea typeface="Cambria" pitchFamily="34" charset="-122"/>
                          <a:cs typeface="Cambria" pitchFamily="34" charset="-120"/>
                        </a:rPr>
                        <a:t>Serial, whole image</a:t>
                      </a:r>
                      <a:endParaRPr lang="en-US" sz="1200" dirty="0">
                        <a:latin typeface="Cambria" charset="0"/>
                        <a:ea typeface="Cambria" charset="0"/>
                        <a:cs typeface="Cambria" charset="0"/>
                      </a:endParaRPr>
                    </a:p>
                  </a:txBody>
                  <a:tcPr marL="73152" marR="73152" marT="18288" marB="18288"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c>
                  <a:txBody>
                    <a:bodyPr/>
                    <a:lstStyle/>
                    <a:p>
                      <a:pPr indent="0" marL="0">
                        <a:buNone/>
                      </a:pPr>
                      <a:r>
                        <a:rPr lang="en-US" sz="1200" dirty="0">
                          <a:solidFill>
                            <a:srgbClr val="FFFFFF"/>
                          </a:solidFill>
                          <a:latin typeface="Cambria" pitchFamily="34" charset="0"/>
                          <a:ea typeface="Cambria" pitchFamily="34" charset="-122"/>
                          <a:cs typeface="Cambria" pitchFamily="34" charset="-120"/>
                        </a:rPr>
                        <a:t>71.5 s</a:t>
                      </a:r>
                      <a:endParaRPr lang="en-US" sz="1200" dirty="0">
                        <a:latin typeface="Cambria" charset="0"/>
                        <a:ea typeface="Cambria" charset="0"/>
                        <a:cs typeface="Cambria" charset="0"/>
                      </a:endParaRPr>
                    </a:p>
                  </a:txBody>
                  <a:tcPr marL="73152" marR="73152" marT="18288" marB="18288"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c>
                  <a:txBody>
                    <a:bodyPr/>
                    <a:lstStyle/>
                    <a:p>
                      <a:pPr indent="0" marL="0">
                        <a:buNone/>
                      </a:pPr>
                      <a:r>
                        <a:rPr lang="en-US" sz="1200" dirty="0">
                          <a:solidFill>
                            <a:srgbClr val="FFFFFF"/>
                          </a:solidFill>
                          <a:latin typeface="Cambria" pitchFamily="34" charset="0"/>
                          <a:ea typeface="Cambria" pitchFamily="34" charset="-122"/>
                          <a:cs typeface="Cambria" pitchFamily="34" charset="-120"/>
                        </a:rPr>
                        <a:t>42.3 / 118.1 s</a:t>
                      </a:r>
                      <a:endParaRPr lang="en-US" sz="1200" dirty="0">
                        <a:latin typeface="Cambria" charset="0"/>
                        <a:ea typeface="Cambria" charset="0"/>
                        <a:cs typeface="Cambria" charset="0"/>
                      </a:endParaRPr>
                    </a:p>
                  </a:txBody>
                  <a:tcPr marL="73152" marR="73152" marT="18288" marB="18288"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c>
                  <a:txBody>
                    <a:bodyPr/>
                    <a:lstStyle/>
                    <a:p>
                      <a:pPr indent="0" marL="0">
                        <a:buNone/>
                      </a:pPr>
                      <a:r>
                        <a:rPr lang="en-US" sz="1200" dirty="0">
                          <a:solidFill>
                            <a:srgbClr val="FFFFFF"/>
                          </a:solidFill>
                          <a:latin typeface="Cambria" pitchFamily="34" charset="0"/>
                          <a:ea typeface="Cambria" pitchFamily="34" charset="-122"/>
                          <a:cs typeface="Cambria" pitchFamily="34" charset="-120"/>
                        </a:rPr>
                        <a:t>59.6 min</a:t>
                      </a:r>
                      <a:endParaRPr lang="en-US" sz="1200" dirty="0">
                        <a:latin typeface="Cambria" charset="0"/>
                        <a:ea typeface="Cambria" charset="0"/>
                        <a:cs typeface="Cambria" charset="0"/>
                      </a:endParaRPr>
                    </a:p>
                  </a:txBody>
                  <a:tcPr marL="73152" marR="73152" marT="18288" marB="18288"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r>
              <a:tr h="274320">
                <a:tc>
                  <a:txBody>
                    <a:bodyPr/>
                    <a:lstStyle/>
                    <a:p>
                      <a:pPr indent="0" marL="0">
                        <a:buNone/>
                      </a:pPr>
                      <a:r>
                        <a:rPr lang="en-US" sz="1200" dirty="0">
                          <a:solidFill>
                            <a:srgbClr val="FFFFFF"/>
                          </a:solidFill>
                          <a:latin typeface="Cambria" pitchFamily="34" charset="0"/>
                          <a:ea typeface="Cambria" pitchFamily="34" charset="-122"/>
                          <a:cs typeface="Cambria" pitchFamily="34" charset="-120"/>
                        </a:rPr>
                        <a:t>Serial, 4 tiles</a:t>
                      </a:r>
                      <a:endParaRPr lang="en-US" sz="1200" dirty="0">
                        <a:latin typeface="Cambria" charset="0"/>
                        <a:ea typeface="Cambria" charset="0"/>
                        <a:cs typeface="Cambria" charset="0"/>
                      </a:endParaRPr>
                    </a:p>
                  </a:txBody>
                  <a:tcPr marL="73152" marR="73152" marT="18288" marB="18288"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c>
                  <a:txBody>
                    <a:bodyPr/>
                    <a:lstStyle/>
                    <a:p>
                      <a:pPr indent="0" marL="0">
                        <a:buNone/>
                      </a:pPr>
                      <a:r>
                        <a:rPr lang="en-US" sz="1200" dirty="0">
                          <a:solidFill>
                            <a:srgbClr val="FFFFFF"/>
                          </a:solidFill>
                          <a:latin typeface="Cambria" pitchFamily="34" charset="0"/>
                          <a:ea typeface="Cambria" pitchFamily="34" charset="-122"/>
                          <a:cs typeface="Cambria" pitchFamily="34" charset="-120"/>
                        </a:rPr>
                        <a:t>67.9 s</a:t>
                      </a:r>
                      <a:endParaRPr lang="en-US" sz="1200" dirty="0">
                        <a:latin typeface="Cambria" charset="0"/>
                        <a:ea typeface="Cambria" charset="0"/>
                        <a:cs typeface="Cambria" charset="0"/>
                      </a:endParaRPr>
                    </a:p>
                  </a:txBody>
                  <a:tcPr marL="73152" marR="73152" marT="18288" marB="18288"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c>
                  <a:txBody>
                    <a:bodyPr/>
                    <a:lstStyle/>
                    <a:p>
                      <a:pPr indent="0" marL="0">
                        <a:buNone/>
                      </a:pPr>
                      <a:r>
                        <a:rPr lang="en-US" sz="1200" dirty="0">
                          <a:solidFill>
                            <a:srgbClr val="FFFFFF"/>
                          </a:solidFill>
                          <a:latin typeface="Cambria" pitchFamily="34" charset="0"/>
                          <a:ea typeface="Cambria" pitchFamily="34" charset="-122"/>
                          <a:cs typeface="Cambria" pitchFamily="34" charset="-120"/>
                        </a:rPr>
                        <a:t>39.6 / 107.2 s</a:t>
                      </a:r>
                      <a:endParaRPr lang="en-US" sz="1200" dirty="0">
                        <a:latin typeface="Cambria" charset="0"/>
                        <a:ea typeface="Cambria" charset="0"/>
                        <a:cs typeface="Cambria" charset="0"/>
                      </a:endParaRPr>
                    </a:p>
                  </a:txBody>
                  <a:tcPr marL="73152" marR="73152" marT="18288" marB="18288"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c>
                  <a:txBody>
                    <a:bodyPr/>
                    <a:lstStyle/>
                    <a:p>
                      <a:pPr indent="0" marL="0">
                        <a:buNone/>
                      </a:pPr>
                      <a:r>
                        <a:rPr lang="en-US" sz="1200" dirty="0">
                          <a:solidFill>
                            <a:srgbClr val="FFFFFF"/>
                          </a:solidFill>
                          <a:latin typeface="Cambria" pitchFamily="34" charset="0"/>
                          <a:ea typeface="Cambria" pitchFamily="34" charset="-122"/>
                          <a:cs typeface="Cambria" pitchFamily="34" charset="-120"/>
                        </a:rPr>
                        <a:t>56.6 min</a:t>
                      </a:r>
                      <a:endParaRPr lang="en-US" sz="1200" dirty="0">
                        <a:latin typeface="Cambria" charset="0"/>
                        <a:ea typeface="Cambria" charset="0"/>
                        <a:cs typeface="Cambria" charset="0"/>
                      </a:endParaRPr>
                    </a:p>
                  </a:txBody>
                  <a:tcPr marL="73152" marR="73152" marT="18288" marB="18288"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r>
              <a:tr h="274320">
                <a:tc>
                  <a:txBody>
                    <a:bodyPr/>
                    <a:lstStyle/>
                    <a:p>
                      <a:pPr indent="0" marL="0">
                        <a:buNone/>
                      </a:pPr>
                      <a:r>
                        <a:rPr lang="en-US" sz="1200" dirty="0">
                          <a:solidFill>
                            <a:srgbClr val="FFFFFF"/>
                          </a:solidFill>
                          <a:latin typeface="Cambria" pitchFamily="34" charset="0"/>
                          <a:ea typeface="Cambria" pitchFamily="34" charset="-122"/>
                          <a:cs typeface="Cambria" pitchFamily="34" charset="-120"/>
                        </a:rPr>
                        <a:t>Serial, 16 tiles</a:t>
                      </a:r>
                      <a:endParaRPr lang="en-US" sz="1200" dirty="0">
                        <a:latin typeface="Cambria" charset="0"/>
                        <a:ea typeface="Cambria" charset="0"/>
                        <a:cs typeface="Cambria" charset="0"/>
                      </a:endParaRPr>
                    </a:p>
                  </a:txBody>
                  <a:tcPr marL="73152" marR="73152" marT="18288" marB="18288"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c>
                  <a:txBody>
                    <a:bodyPr/>
                    <a:lstStyle/>
                    <a:p>
                      <a:pPr indent="0" marL="0">
                        <a:buNone/>
                      </a:pPr>
                      <a:r>
                        <a:rPr lang="en-US" sz="1200" dirty="0">
                          <a:solidFill>
                            <a:srgbClr val="FFFFFF"/>
                          </a:solidFill>
                          <a:latin typeface="Cambria" pitchFamily="34" charset="0"/>
                          <a:ea typeface="Cambria" pitchFamily="34" charset="-122"/>
                          <a:cs typeface="Cambria" pitchFamily="34" charset="-120"/>
                        </a:rPr>
                        <a:t>62.5 s</a:t>
                      </a:r>
                      <a:endParaRPr lang="en-US" sz="1200" dirty="0">
                        <a:latin typeface="Cambria" charset="0"/>
                        <a:ea typeface="Cambria" charset="0"/>
                        <a:cs typeface="Cambria" charset="0"/>
                      </a:endParaRPr>
                    </a:p>
                  </a:txBody>
                  <a:tcPr marL="73152" marR="73152" marT="18288" marB="18288"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c>
                  <a:txBody>
                    <a:bodyPr/>
                    <a:lstStyle/>
                    <a:p>
                      <a:pPr indent="0" marL="0">
                        <a:buNone/>
                      </a:pPr>
                      <a:r>
                        <a:rPr lang="en-US" sz="1200" dirty="0">
                          <a:solidFill>
                            <a:srgbClr val="FFFFFF"/>
                          </a:solidFill>
                          <a:latin typeface="Cambria" pitchFamily="34" charset="0"/>
                          <a:ea typeface="Cambria" pitchFamily="34" charset="-122"/>
                          <a:cs typeface="Cambria" pitchFamily="34" charset="-120"/>
                        </a:rPr>
                        <a:t>36.1 / 98.3 s</a:t>
                      </a:r>
                      <a:endParaRPr lang="en-US" sz="1200" dirty="0">
                        <a:latin typeface="Cambria" charset="0"/>
                        <a:ea typeface="Cambria" charset="0"/>
                        <a:cs typeface="Cambria" charset="0"/>
                      </a:endParaRPr>
                    </a:p>
                  </a:txBody>
                  <a:tcPr marL="73152" marR="73152" marT="18288" marB="18288"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c>
                  <a:txBody>
                    <a:bodyPr/>
                    <a:lstStyle/>
                    <a:p>
                      <a:pPr indent="0" marL="0">
                        <a:buNone/>
                      </a:pPr>
                      <a:r>
                        <a:rPr lang="en-US" sz="1200" dirty="0">
                          <a:solidFill>
                            <a:srgbClr val="FFFFFF"/>
                          </a:solidFill>
                          <a:latin typeface="Cambria" pitchFamily="34" charset="0"/>
                          <a:ea typeface="Cambria" pitchFamily="34" charset="-122"/>
                          <a:cs typeface="Cambria" pitchFamily="34" charset="-120"/>
                        </a:rPr>
                        <a:t>52.1 min</a:t>
                      </a:r>
                      <a:endParaRPr lang="en-US" sz="1200" dirty="0">
                        <a:latin typeface="Cambria" charset="0"/>
                        <a:ea typeface="Cambria" charset="0"/>
                        <a:cs typeface="Cambria" charset="0"/>
                      </a:endParaRPr>
                    </a:p>
                  </a:txBody>
                  <a:tcPr marL="73152" marR="73152" marT="18288" marB="18288"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r>
              <a:tr h="274320">
                <a:tc>
                  <a:txBody>
                    <a:bodyPr/>
                    <a:lstStyle/>
                    <a:p>
                      <a:pPr indent="0" marL="0">
                        <a:buNone/>
                      </a:pPr>
                      <a:r>
                        <a:rPr lang="en-US" sz="1200" dirty="0">
                          <a:solidFill>
                            <a:srgbClr val="FFFFFF"/>
                          </a:solidFill>
                          <a:latin typeface="Cambria" pitchFamily="34" charset="0"/>
                          <a:ea typeface="Cambria" pitchFamily="34" charset="-122"/>
                          <a:cs typeface="Cambria" pitchFamily="34" charset="-120"/>
                        </a:rPr>
                        <a:t>Threads (GIL), 4 tiles</a:t>
                      </a:r>
                      <a:endParaRPr lang="en-US" sz="1200" dirty="0">
                        <a:latin typeface="Cambria" charset="0"/>
                        <a:ea typeface="Cambria" charset="0"/>
                        <a:cs typeface="Cambria" charset="0"/>
                      </a:endParaRPr>
                    </a:p>
                  </a:txBody>
                  <a:tcPr marL="73152" marR="73152" marT="18288" marB="18288"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c>
                  <a:txBody>
                    <a:bodyPr/>
                    <a:lstStyle/>
                    <a:p>
                      <a:pPr indent="0" marL="0">
                        <a:buNone/>
                      </a:pPr>
                      <a:r>
                        <a:rPr lang="en-US" sz="1200" dirty="0">
                          <a:solidFill>
                            <a:srgbClr val="FFFFFF"/>
                          </a:solidFill>
                          <a:latin typeface="Cambria" pitchFamily="34" charset="0"/>
                          <a:ea typeface="Cambria" pitchFamily="34" charset="-122"/>
                          <a:cs typeface="Cambria" pitchFamily="34" charset="-120"/>
                        </a:rPr>
                        <a:t>68.5 s</a:t>
                      </a:r>
                      <a:endParaRPr lang="en-US" sz="1200" dirty="0">
                        <a:latin typeface="Cambria" charset="0"/>
                        <a:ea typeface="Cambria" charset="0"/>
                        <a:cs typeface="Cambria" charset="0"/>
                      </a:endParaRPr>
                    </a:p>
                  </a:txBody>
                  <a:tcPr marL="73152" marR="73152" marT="18288" marB="18288"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c>
                  <a:txBody>
                    <a:bodyPr/>
                    <a:lstStyle/>
                    <a:p>
                      <a:pPr indent="0" marL="0">
                        <a:buNone/>
                      </a:pPr>
                      <a:r>
                        <a:rPr lang="en-US" sz="1200" dirty="0">
                          <a:solidFill>
                            <a:srgbClr val="FFFFFF"/>
                          </a:solidFill>
                          <a:latin typeface="Cambria" pitchFamily="34" charset="0"/>
                          <a:ea typeface="Cambria" pitchFamily="34" charset="-122"/>
                          <a:cs typeface="Cambria" pitchFamily="34" charset="-120"/>
                        </a:rPr>
                        <a:t>40.2 / 107.9 s</a:t>
                      </a:r>
                      <a:endParaRPr lang="en-US" sz="1200" dirty="0">
                        <a:latin typeface="Cambria" charset="0"/>
                        <a:ea typeface="Cambria" charset="0"/>
                        <a:cs typeface="Cambria" charset="0"/>
                      </a:endParaRPr>
                    </a:p>
                  </a:txBody>
                  <a:tcPr marL="73152" marR="73152" marT="18288" marB="18288"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c>
                  <a:txBody>
                    <a:bodyPr/>
                    <a:lstStyle/>
                    <a:p>
                      <a:pPr indent="0" marL="0">
                        <a:buNone/>
                      </a:pPr>
                      <a:r>
                        <a:rPr lang="en-US" sz="1200" dirty="0">
                          <a:solidFill>
                            <a:srgbClr val="FFFFFF"/>
                          </a:solidFill>
                          <a:latin typeface="Cambria" pitchFamily="34" charset="0"/>
                          <a:ea typeface="Cambria" pitchFamily="34" charset="-122"/>
                          <a:cs typeface="Cambria" pitchFamily="34" charset="-120"/>
                        </a:rPr>
                        <a:t>57.1 min</a:t>
                      </a:r>
                      <a:endParaRPr lang="en-US" sz="1200" dirty="0">
                        <a:latin typeface="Cambria" charset="0"/>
                        <a:ea typeface="Cambria" charset="0"/>
                        <a:cs typeface="Cambria" charset="0"/>
                      </a:endParaRPr>
                    </a:p>
                  </a:txBody>
                  <a:tcPr marL="73152" marR="73152" marT="18288" marB="18288"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r>
              <a:tr h="274320">
                <a:tc>
                  <a:txBody>
                    <a:bodyPr/>
                    <a:lstStyle/>
                    <a:p>
                      <a:pPr indent="0" marL="0">
                        <a:buNone/>
                      </a:pPr>
                      <a:r>
                        <a:rPr lang="en-US" sz="1200" dirty="0">
                          <a:solidFill>
                            <a:srgbClr val="FFFFFF"/>
                          </a:solidFill>
                          <a:latin typeface="Cambria" pitchFamily="34" charset="0"/>
                          <a:ea typeface="Cambria" pitchFamily="34" charset="-122"/>
                          <a:cs typeface="Cambria" pitchFamily="34" charset="-120"/>
                        </a:rPr>
                        <a:t>Threads (GIL), 16 tiles</a:t>
                      </a:r>
                      <a:endParaRPr lang="en-US" sz="1200" dirty="0">
                        <a:latin typeface="Cambria" charset="0"/>
                        <a:ea typeface="Cambria" charset="0"/>
                        <a:cs typeface="Cambria" charset="0"/>
                      </a:endParaRPr>
                    </a:p>
                  </a:txBody>
                  <a:tcPr marL="73152" marR="73152" marT="18288" marB="18288"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c>
                  <a:txBody>
                    <a:bodyPr/>
                    <a:lstStyle/>
                    <a:p>
                      <a:pPr indent="0" marL="0">
                        <a:buNone/>
                      </a:pPr>
                      <a:r>
                        <a:rPr lang="en-US" sz="1200" dirty="0">
                          <a:solidFill>
                            <a:srgbClr val="FFFFFF"/>
                          </a:solidFill>
                          <a:latin typeface="Cambria" pitchFamily="34" charset="0"/>
                          <a:ea typeface="Cambria" pitchFamily="34" charset="-122"/>
                          <a:cs typeface="Cambria" pitchFamily="34" charset="-120"/>
                        </a:rPr>
                        <a:t>63.3 s</a:t>
                      </a:r>
                      <a:endParaRPr lang="en-US" sz="1200" dirty="0">
                        <a:latin typeface="Cambria" charset="0"/>
                        <a:ea typeface="Cambria" charset="0"/>
                        <a:cs typeface="Cambria" charset="0"/>
                      </a:endParaRPr>
                    </a:p>
                  </a:txBody>
                  <a:tcPr marL="73152" marR="73152" marT="18288" marB="18288"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c>
                  <a:txBody>
                    <a:bodyPr/>
                    <a:lstStyle/>
                    <a:p>
                      <a:pPr indent="0" marL="0">
                        <a:buNone/>
                      </a:pPr>
                      <a:r>
                        <a:rPr lang="en-US" sz="1200" dirty="0">
                          <a:solidFill>
                            <a:srgbClr val="FFFFFF"/>
                          </a:solidFill>
                          <a:latin typeface="Cambria" pitchFamily="34" charset="0"/>
                          <a:ea typeface="Cambria" pitchFamily="34" charset="-122"/>
                          <a:cs typeface="Cambria" pitchFamily="34" charset="-120"/>
                        </a:rPr>
                        <a:t>36.7 / 100.8 s</a:t>
                      </a:r>
                      <a:endParaRPr lang="en-US" sz="1200" dirty="0">
                        <a:latin typeface="Cambria" charset="0"/>
                        <a:ea typeface="Cambria" charset="0"/>
                        <a:cs typeface="Cambria" charset="0"/>
                      </a:endParaRPr>
                    </a:p>
                  </a:txBody>
                  <a:tcPr marL="73152" marR="73152" marT="18288" marB="18288"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c>
                  <a:txBody>
                    <a:bodyPr/>
                    <a:lstStyle/>
                    <a:p>
                      <a:pPr indent="0" marL="0">
                        <a:buNone/>
                      </a:pPr>
                      <a:r>
                        <a:rPr lang="en-US" sz="1200" dirty="0">
                          <a:solidFill>
                            <a:srgbClr val="FFFFFF"/>
                          </a:solidFill>
                          <a:latin typeface="Cambria" pitchFamily="34" charset="0"/>
                          <a:ea typeface="Cambria" pitchFamily="34" charset="-122"/>
                          <a:cs typeface="Cambria" pitchFamily="34" charset="-120"/>
                        </a:rPr>
                        <a:t>52.7 min</a:t>
                      </a:r>
                      <a:endParaRPr lang="en-US" sz="1200" dirty="0">
                        <a:latin typeface="Cambria" charset="0"/>
                        <a:ea typeface="Cambria" charset="0"/>
                        <a:cs typeface="Cambria" charset="0"/>
                      </a:endParaRPr>
                    </a:p>
                  </a:txBody>
                  <a:tcPr marL="73152" marR="73152" marT="18288" marB="18288"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r>
              <a:tr h="274320">
                <a:tc>
                  <a:txBody>
                    <a:bodyPr/>
                    <a:lstStyle/>
                    <a:p>
                      <a:pPr indent="0" marL="0">
                        <a:buNone/>
                      </a:pPr>
                      <a:r>
                        <a:rPr lang="en-US" sz="1200" b="1" dirty="0">
                          <a:solidFill>
                            <a:srgbClr val="F2B830"/>
                          </a:solidFill>
                          <a:latin typeface="Cambria" pitchFamily="34" charset="0"/>
                          <a:ea typeface="Cambria" pitchFamily="34" charset="-122"/>
                          <a:cs typeface="Cambria" pitchFamily="34" charset="-120"/>
                        </a:rPr>
                        <a:t>Processes, 4 tiles</a:t>
                      </a:r>
                      <a:endParaRPr lang="en-US" sz="1200" dirty="0">
                        <a:latin typeface="Cambria" charset="0"/>
                        <a:ea typeface="Cambria" charset="0"/>
                        <a:cs typeface="Cambria" charset="0"/>
                      </a:endParaRPr>
                    </a:p>
                  </a:txBody>
                  <a:tcPr marL="73152" marR="73152" marT="18288" marB="18288"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c>
                  <a:txBody>
                    <a:bodyPr/>
                    <a:lstStyle/>
                    <a:p>
                      <a:pPr indent="0" marL="0">
                        <a:buNone/>
                      </a:pPr>
                      <a:r>
                        <a:rPr lang="en-US" sz="1200" b="1" dirty="0">
                          <a:solidFill>
                            <a:srgbClr val="F2B830"/>
                          </a:solidFill>
                          <a:latin typeface="Cambria" pitchFamily="34" charset="0"/>
                          <a:ea typeface="Cambria" pitchFamily="34" charset="-122"/>
                          <a:cs typeface="Cambria" pitchFamily="34" charset="-120"/>
                        </a:rPr>
                        <a:t>20.9 s</a:t>
                      </a:r>
                      <a:endParaRPr lang="en-US" sz="1200" dirty="0">
                        <a:latin typeface="Cambria" charset="0"/>
                        <a:ea typeface="Cambria" charset="0"/>
                        <a:cs typeface="Cambria" charset="0"/>
                      </a:endParaRPr>
                    </a:p>
                  </a:txBody>
                  <a:tcPr marL="73152" marR="73152" marT="18288" marB="18288"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c>
                  <a:txBody>
                    <a:bodyPr/>
                    <a:lstStyle/>
                    <a:p>
                      <a:pPr indent="0" marL="0">
                        <a:buNone/>
                      </a:pPr>
                      <a:r>
                        <a:rPr lang="en-US" sz="1200" dirty="0">
                          <a:solidFill>
                            <a:srgbClr val="FFFFFF"/>
                          </a:solidFill>
                          <a:latin typeface="Cambria" pitchFamily="34" charset="0"/>
                          <a:ea typeface="Cambria" pitchFamily="34" charset="-122"/>
                          <a:cs typeface="Cambria" pitchFamily="34" charset="-120"/>
                        </a:rPr>
                        <a:t>13.1 / 34.6 s</a:t>
                      </a:r>
                      <a:endParaRPr lang="en-US" sz="1200" dirty="0">
                        <a:latin typeface="Cambria" charset="0"/>
                        <a:ea typeface="Cambria" charset="0"/>
                        <a:cs typeface="Cambria" charset="0"/>
                      </a:endParaRPr>
                    </a:p>
                  </a:txBody>
                  <a:tcPr marL="73152" marR="73152" marT="18288" marB="18288"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c>
                  <a:txBody>
                    <a:bodyPr/>
                    <a:lstStyle/>
                    <a:p>
                      <a:pPr indent="0" marL="0">
                        <a:buNone/>
                      </a:pPr>
                      <a:r>
                        <a:rPr lang="en-US" sz="1200" b="1" dirty="0">
                          <a:solidFill>
                            <a:srgbClr val="F2B830"/>
                          </a:solidFill>
                          <a:latin typeface="Cambria" pitchFamily="34" charset="0"/>
                          <a:ea typeface="Cambria" pitchFamily="34" charset="-122"/>
                          <a:cs typeface="Cambria" pitchFamily="34" charset="-120"/>
                        </a:rPr>
                        <a:t>17.5 min</a:t>
                      </a:r>
                      <a:endParaRPr lang="en-US" sz="1200" dirty="0">
                        <a:latin typeface="Cambria" charset="0"/>
                        <a:ea typeface="Cambria" charset="0"/>
                        <a:cs typeface="Cambria" charset="0"/>
                      </a:endParaRPr>
                    </a:p>
                  </a:txBody>
                  <a:tcPr marL="73152" marR="73152" marT="18288" marB="18288"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r>
              <a:tr h="274320">
                <a:tc>
                  <a:txBody>
                    <a:bodyPr/>
                    <a:lstStyle/>
                    <a:p>
                      <a:pPr indent="0" marL="0">
                        <a:buNone/>
                      </a:pPr>
                      <a:r>
                        <a:rPr lang="en-US" sz="1200" b="1" dirty="0">
                          <a:solidFill>
                            <a:srgbClr val="F2B830"/>
                          </a:solidFill>
                          <a:latin typeface="Cambria" pitchFamily="34" charset="0"/>
                          <a:ea typeface="Cambria" pitchFamily="34" charset="-122"/>
                          <a:cs typeface="Cambria" pitchFamily="34" charset="-120"/>
                        </a:rPr>
                        <a:t>Processes, 16 tiles</a:t>
                      </a:r>
                      <a:endParaRPr lang="en-US" sz="1200" dirty="0">
                        <a:latin typeface="Cambria" charset="0"/>
                        <a:ea typeface="Cambria" charset="0"/>
                        <a:cs typeface="Cambria" charset="0"/>
                      </a:endParaRPr>
                    </a:p>
                  </a:txBody>
                  <a:tcPr marL="73152" marR="73152" marT="18288" marB="18288"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c>
                  <a:txBody>
                    <a:bodyPr/>
                    <a:lstStyle/>
                    <a:p>
                      <a:pPr indent="0" marL="0">
                        <a:buNone/>
                      </a:pPr>
                      <a:r>
                        <a:rPr lang="en-US" sz="1200" b="1" dirty="0">
                          <a:solidFill>
                            <a:srgbClr val="F2B830"/>
                          </a:solidFill>
                          <a:latin typeface="Cambria" pitchFamily="34" charset="0"/>
                          <a:ea typeface="Cambria" pitchFamily="34" charset="-122"/>
                          <a:cs typeface="Cambria" pitchFamily="34" charset="-120"/>
                        </a:rPr>
                        <a:t>10.6 s</a:t>
                      </a:r>
                      <a:endParaRPr lang="en-US" sz="1200" dirty="0">
                        <a:latin typeface="Cambria" charset="0"/>
                        <a:ea typeface="Cambria" charset="0"/>
                        <a:cs typeface="Cambria" charset="0"/>
                      </a:endParaRPr>
                    </a:p>
                  </a:txBody>
                  <a:tcPr marL="73152" marR="73152" marT="18288" marB="18288"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c>
                  <a:txBody>
                    <a:bodyPr/>
                    <a:lstStyle/>
                    <a:p>
                      <a:pPr indent="0" marL="0">
                        <a:buNone/>
                      </a:pPr>
                      <a:r>
                        <a:rPr lang="en-US" sz="1200" dirty="0">
                          <a:solidFill>
                            <a:srgbClr val="FFFFFF"/>
                          </a:solidFill>
                          <a:latin typeface="Cambria" pitchFamily="34" charset="0"/>
                          <a:ea typeface="Cambria" pitchFamily="34" charset="-122"/>
                          <a:cs typeface="Cambria" pitchFamily="34" charset="-120"/>
                        </a:rPr>
                        <a:t>7.5 / 16.2 s</a:t>
                      </a:r>
                      <a:endParaRPr lang="en-US" sz="1200" dirty="0">
                        <a:latin typeface="Cambria" charset="0"/>
                        <a:ea typeface="Cambria" charset="0"/>
                        <a:cs typeface="Cambria" charset="0"/>
                      </a:endParaRPr>
                    </a:p>
                  </a:txBody>
                  <a:tcPr marL="73152" marR="73152" marT="18288" marB="18288"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c>
                  <a:txBody>
                    <a:bodyPr/>
                    <a:lstStyle/>
                    <a:p>
                      <a:pPr indent="0" marL="0">
                        <a:buNone/>
                      </a:pPr>
                      <a:r>
                        <a:rPr lang="en-US" sz="1200" b="1" dirty="0">
                          <a:solidFill>
                            <a:srgbClr val="F2B830"/>
                          </a:solidFill>
                          <a:latin typeface="Cambria" pitchFamily="34" charset="0"/>
                          <a:ea typeface="Cambria" pitchFamily="34" charset="-122"/>
                          <a:cs typeface="Cambria" pitchFamily="34" charset="-120"/>
                        </a:rPr>
                        <a:t>8.8 min</a:t>
                      </a:r>
                      <a:endParaRPr lang="en-US" sz="1200" dirty="0">
                        <a:latin typeface="Cambria" charset="0"/>
                        <a:ea typeface="Cambria" charset="0"/>
                        <a:cs typeface="Cambria" charset="0"/>
                      </a:endParaRPr>
                    </a:p>
                  </a:txBody>
                  <a:tcPr marL="73152" marR="73152" marT="18288" marB="18288"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r>
              <a:tr h="274320">
                <a:tc>
                  <a:txBody>
                    <a:bodyPr/>
                    <a:lstStyle/>
                    <a:p>
                      <a:pPr indent="0" marL="0">
                        <a:buNone/>
                      </a:pPr>
                      <a:r>
                        <a:rPr lang="en-US" sz="1200" dirty="0">
                          <a:solidFill>
                            <a:srgbClr val="FFFFFF"/>
                          </a:solidFill>
                          <a:latin typeface="Cambria" pitchFamily="34" charset="0"/>
                          <a:ea typeface="Cambria" pitchFamily="34" charset="-122"/>
                          <a:cs typeface="Cambria" pitchFamily="34" charset="-120"/>
                        </a:rPr>
                        <a:t>No-GIL: serial, whole image</a:t>
                      </a:r>
                      <a:endParaRPr lang="en-US" sz="1200" dirty="0">
                        <a:latin typeface="Cambria" charset="0"/>
                        <a:ea typeface="Cambria" charset="0"/>
                        <a:cs typeface="Cambria" charset="0"/>
                      </a:endParaRPr>
                    </a:p>
                  </a:txBody>
                  <a:tcPr marL="73152" marR="73152" marT="18288" marB="18288"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c>
                  <a:txBody>
                    <a:bodyPr/>
                    <a:lstStyle/>
                    <a:p>
                      <a:pPr indent="0" marL="0">
                        <a:buNone/>
                      </a:pPr>
                      <a:r>
                        <a:rPr lang="en-US" sz="1200" dirty="0">
                          <a:solidFill>
                            <a:srgbClr val="FFFFFF"/>
                          </a:solidFill>
                          <a:latin typeface="Cambria" pitchFamily="34" charset="0"/>
                          <a:ea typeface="Cambria" pitchFamily="34" charset="-122"/>
                          <a:cs typeface="Cambria" pitchFamily="34" charset="-120"/>
                        </a:rPr>
                        <a:t>79.5 s</a:t>
                      </a:r>
                      <a:endParaRPr lang="en-US" sz="1200" dirty="0">
                        <a:latin typeface="Cambria" charset="0"/>
                        <a:ea typeface="Cambria" charset="0"/>
                        <a:cs typeface="Cambria" charset="0"/>
                      </a:endParaRPr>
                    </a:p>
                  </a:txBody>
                  <a:tcPr marL="73152" marR="73152" marT="18288" marB="18288"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c>
                  <a:txBody>
                    <a:bodyPr/>
                    <a:lstStyle/>
                    <a:p>
                      <a:pPr indent="0" marL="0">
                        <a:buNone/>
                      </a:pPr>
                      <a:r>
                        <a:rPr lang="en-US" sz="1200" dirty="0">
                          <a:solidFill>
                            <a:srgbClr val="FFFFFF"/>
                          </a:solidFill>
                          <a:latin typeface="Cambria" pitchFamily="34" charset="0"/>
                          <a:ea typeface="Cambria" pitchFamily="34" charset="-122"/>
                          <a:cs typeface="Cambria" pitchFamily="34" charset="-120"/>
                        </a:rPr>
                        <a:t>47.8 / 127.9 s</a:t>
                      </a:r>
                      <a:endParaRPr lang="en-US" sz="1200" dirty="0">
                        <a:latin typeface="Cambria" charset="0"/>
                        <a:ea typeface="Cambria" charset="0"/>
                        <a:cs typeface="Cambria" charset="0"/>
                      </a:endParaRPr>
                    </a:p>
                  </a:txBody>
                  <a:tcPr marL="73152" marR="73152" marT="18288" marB="18288"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c>
                  <a:txBody>
                    <a:bodyPr/>
                    <a:lstStyle/>
                    <a:p>
                      <a:pPr indent="0" marL="0">
                        <a:buNone/>
                      </a:pPr>
                      <a:r>
                        <a:rPr lang="en-US" sz="1200" dirty="0">
                          <a:solidFill>
                            <a:srgbClr val="FFFFFF"/>
                          </a:solidFill>
                          <a:latin typeface="Cambria" pitchFamily="34" charset="0"/>
                          <a:ea typeface="Cambria" pitchFamily="34" charset="-122"/>
                          <a:cs typeface="Cambria" pitchFamily="34" charset="-120"/>
                        </a:rPr>
                        <a:t>66.2 min</a:t>
                      </a:r>
                      <a:endParaRPr lang="en-US" sz="1200" dirty="0">
                        <a:latin typeface="Cambria" charset="0"/>
                        <a:ea typeface="Cambria" charset="0"/>
                        <a:cs typeface="Cambria" charset="0"/>
                      </a:endParaRPr>
                    </a:p>
                  </a:txBody>
                  <a:tcPr marL="73152" marR="73152" marT="18288" marB="18288"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r>
              <a:tr h="274320">
                <a:tc>
                  <a:txBody>
                    <a:bodyPr/>
                    <a:lstStyle/>
                    <a:p>
                      <a:pPr indent="0" marL="0">
                        <a:buNone/>
                      </a:pPr>
                      <a:r>
                        <a:rPr lang="en-US" sz="1200" dirty="0">
                          <a:solidFill>
                            <a:srgbClr val="FFFFFF"/>
                          </a:solidFill>
                          <a:latin typeface="Cambria" pitchFamily="34" charset="0"/>
                          <a:ea typeface="Cambria" pitchFamily="34" charset="-122"/>
                          <a:cs typeface="Cambria" pitchFamily="34" charset="-120"/>
                        </a:rPr>
                        <a:t>No-GIL: threads, 4 tiles</a:t>
                      </a:r>
                      <a:endParaRPr lang="en-US" sz="1200" dirty="0">
                        <a:latin typeface="Cambria" charset="0"/>
                        <a:ea typeface="Cambria" charset="0"/>
                        <a:cs typeface="Cambria" charset="0"/>
                      </a:endParaRPr>
                    </a:p>
                  </a:txBody>
                  <a:tcPr marL="73152" marR="73152" marT="18288" marB="18288"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c>
                  <a:txBody>
                    <a:bodyPr/>
                    <a:lstStyle/>
                    <a:p>
                      <a:pPr indent="0" marL="0">
                        <a:buNone/>
                      </a:pPr>
                      <a:r>
                        <a:rPr lang="en-US" sz="1200" dirty="0">
                          <a:solidFill>
                            <a:srgbClr val="FFFFFF"/>
                          </a:solidFill>
                          <a:latin typeface="Cambria" pitchFamily="34" charset="0"/>
                          <a:ea typeface="Cambria" pitchFamily="34" charset="-122"/>
                          <a:cs typeface="Cambria" pitchFamily="34" charset="-120"/>
                        </a:rPr>
                        <a:t>24.1 s</a:t>
                      </a:r>
                      <a:endParaRPr lang="en-US" sz="1200" dirty="0">
                        <a:latin typeface="Cambria" charset="0"/>
                        <a:ea typeface="Cambria" charset="0"/>
                        <a:cs typeface="Cambria" charset="0"/>
                      </a:endParaRPr>
                    </a:p>
                  </a:txBody>
                  <a:tcPr marL="73152" marR="73152" marT="18288" marB="18288"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c>
                  <a:txBody>
                    <a:bodyPr/>
                    <a:lstStyle/>
                    <a:p>
                      <a:pPr indent="0" marL="0">
                        <a:buNone/>
                      </a:pPr>
                      <a:r>
                        <a:rPr lang="en-US" sz="1200" dirty="0">
                          <a:solidFill>
                            <a:srgbClr val="FFFFFF"/>
                          </a:solidFill>
                          <a:latin typeface="Cambria" pitchFamily="34" charset="0"/>
                          <a:ea typeface="Cambria" pitchFamily="34" charset="-122"/>
                          <a:cs typeface="Cambria" pitchFamily="34" charset="-120"/>
                        </a:rPr>
                        <a:t>15.0 / 39.2 s</a:t>
                      </a:r>
                      <a:endParaRPr lang="en-US" sz="1200" dirty="0">
                        <a:latin typeface="Cambria" charset="0"/>
                        <a:ea typeface="Cambria" charset="0"/>
                        <a:cs typeface="Cambria" charset="0"/>
                      </a:endParaRPr>
                    </a:p>
                  </a:txBody>
                  <a:tcPr marL="73152" marR="73152" marT="18288" marB="18288"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c>
                  <a:txBody>
                    <a:bodyPr/>
                    <a:lstStyle/>
                    <a:p>
                      <a:pPr indent="0" marL="0">
                        <a:buNone/>
                      </a:pPr>
                      <a:r>
                        <a:rPr lang="en-US" sz="1200" dirty="0">
                          <a:solidFill>
                            <a:srgbClr val="FFFFFF"/>
                          </a:solidFill>
                          <a:latin typeface="Cambria" pitchFamily="34" charset="0"/>
                          <a:ea typeface="Cambria" pitchFamily="34" charset="-122"/>
                          <a:cs typeface="Cambria" pitchFamily="34" charset="-120"/>
                        </a:rPr>
                        <a:t>20.1 min</a:t>
                      </a:r>
                      <a:endParaRPr lang="en-US" sz="1200" dirty="0">
                        <a:latin typeface="Cambria" charset="0"/>
                        <a:ea typeface="Cambria" charset="0"/>
                        <a:cs typeface="Cambria" charset="0"/>
                      </a:endParaRPr>
                    </a:p>
                  </a:txBody>
                  <a:tcPr marL="73152" marR="73152" marT="18288" marB="18288"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r>
              <a:tr h="274320">
                <a:tc>
                  <a:txBody>
                    <a:bodyPr/>
                    <a:lstStyle/>
                    <a:p>
                      <a:pPr indent="0" marL="0">
                        <a:buNone/>
                      </a:pPr>
                      <a:r>
                        <a:rPr lang="en-US" sz="1200" dirty="0">
                          <a:solidFill>
                            <a:srgbClr val="FFFFFF"/>
                          </a:solidFill>
                          <a:latin typeface="Cambria" pitchFamily="34" charset="0"/>
                          <a:ea typeface="Cambria" pitchFamily="34" charset="-122"/>
                          <a:cs typeface="Cambria" pitchFamily="34" charset="-120"/>
                        </a:rPr>
                        <a:t>No-GIL: threads, 16 tiles</a:t>
                      </a:r>
                      <a:endParaRPr lang="en-US" sz="1200" dirty="0">
                        <a:latin typeface="Cambria" charset="0"/>
                        <a:ea typeface="Cambria" charset="0"/>
                        <a:cs typeface="Cambria" charset="0"/>
                      </a:endParaRPr>
                    </a:p>
                  </a:txBody>
                  <a:tcPr marL="73152" marR="73152" marT="18288" marB="18288"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c>
                  <a:txBody>
                    <a:bodyPr/>
                    <a:lstStyle/>
                    <a:p>
                      <a:pPr indent="0" marL="0">
                        <a:buNone/>
                      </a:pPr>
                      <a:r>
                        <a:rPr lang="en-US" sz="1200" dirty="0">
                          <a:solidFill>
                            <a:srgbClr val="FFFFFF"/>
                          </a:solidFill>
                          <a:latin typeface="Cambria" pitchFamily="34" charset="0"/>
                          <a:ea typeface="Cambria" pitchFamily="34" charset="-122"/>
                          <a:cs typeface="Cambria" pitchFamily="34" charset="-120"/>
                        </a:rPr>
                        <a:t>13.5 s</a:t>
                      </a:r>
                      <a:endParaRPr lang="en-US" sz="1200" dirty="0">
                        <a:latin typeface="Cambria" charset="0"/>
                        <a:ea typeface="Cambria" charset="0"/>
                        <a:cs typeface="Cambria" charset="0"/>
                      </a:endParaRPr>
                    </a:p>
                  </a:txBody>
                  <a:tcPr marL="73152" marR="73152" marT="18288" marB="18288"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c>
                  <a:txBody>
                    <a:bodyPr/>
                    <a:lstStyle/>
                    <a:p>
                      <a:pPr indent="0" marL="0">
                        <a:buNone/>
                      </a:pPr>
                      <a:r>
                        <a:rPr lang="en-US" sz="1200" dirty="0">
                          <a:solidFill>
                            <a:srgbClr val="FFFFFF"/>
                          </a:solidFill>
                          <a:latin typeface="Cambria" pitchFamily="34" charset="0"/>
                          <a:ea typeface="Cambria" pitchFamily="34" charset="-122"/>
                          <a:cs typeface="Cambria" pitchFamily="34" charset="-120"/>
                        </a:rPr>
                        <a:t>9.2 / 22.0 s</a:t>
                      </a:r>
                      <a:endParaRPr lang="en-US" sz="1200" dirty="0">
                        <a:latin typeface="Cambria" charset="0"/>
                        <a:ea typeface="Cambria" charset="0"/>
                        <a:cs typeface="Cambria" charset="0"/>
                      </a:endParaRPr>
                    </a:p>
                  </a:txBody>
                  <a:tcPr marL="73152" marR="73152" marT="18288" marB="18288"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c>
                  <a:txBody>
                    <a:bodyPr/>
                    <a:lstStyle/>
                    <a:p>
                      <a:pPr indent="0" marL="0">
                        <a:buNone/>
                      </a:pPr>
                      <a:r>
                        <a:rPr lang="en-US" sz="1200" dirty="0">
                          <a:solidFill>
                            <a:srgbClr val="FFFFFF"/>
                          </a:solidFill>
                          <a:latin typeface="Cambria" pitchFamily="34" charset="0"/>
                          <a:ea typeface="Cambria" pitchFamily="34" charset="-122"/>
                          <a:cs typeface="Cambria" pitchFamily="34" charset="-120"/>
                        </a:rPr>
                        <a:t>11.3 min</a:t>
                      </a:r>
                      <a:endParaRPr lang="en-US" sz="1200" dirty="0">
                        <a:latin typeface="Cambria" charset="0"/>
                        <a:ea typeface="Cambria" charset="0"/>
                        <a:cs typeface="Cambria" charset="0"/>
                      </a:endParaRPr>
                    </a:p>
                  </a:txBody>
                  <a:tcPr marL="73152" marR="73152" marT="18288" marB="18288"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r>
            </a:tbl>
          </a:graphicData>
        </a:graphic>
      </p:graphicFrame>
      <p:sp>
        <p:nvSpPr>
          <p:cNvPr id="4" name="text-153"/>
          <p:cNvSpPr txBox="1"/>
          <p:nvPr/>
        </p:nvSpPr>
        <p:spPr>
          <a:xfrm>
            <a:off x="457200" y="4407408"/>
            <a:ext cx="8229600" cy="274320"/>
          </a:xfrm>
          <a:prstGeom prst="rect">
            <a:avLst/>
          </a:prstGeom>
          <a:noFill/>
          <a:ln/>
        </p:spPr>
        <p:txBody>
          <a:bodyPr wrap="square" lIns="0" tIns="0" rIns="0" bIns="0" rtlCol="0" anchor="ctr"/>
          <a:lstStyle/>
          <a:p>
            <a:pPr indent="0" marL="0">
              <a:buNone/>
            </a:pPr>
            <a:r>
              <a:rPr lang="en-US" sz="1100" dirty="0">
                <a:solidFill>
                  <a:schemeClr val="bg2"/>
                </a:solidFill>
                <a:latin typeface="Cambria" pitchFamily="34" charset="0"/>
                <a:ea typeface="Cambria" pitchFamily="34" charset="-122"/>
                <a:cs typeface="Cambria" pitchFamily="34" charset="-120"/>
              </a:rPr>
              <a:t>Wall-clock time to extract keypoints and descriptors. Other rows: Python 3.14 with the GIL. No-GIL: free-threaded 3.14t.</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bg1"/>
                </a:solidFill>
              </a:rPr>
              <a:t>Python 3.14 without the GIL: threads finally scale</a:t>
            </a:r>
            <a:endParaRPr lang="en-US" sz="3000" dirty="0"/>
          </a:p>
        </p:txBody>
      </p:sp>
      <p:sp>
        <p:nvSpPr>
          <p:cNvPr id="3" name="card-154"/>
          <p:cNvSpPr/>
          <p:nvPr/>
        </p:nvSpPr>
        <p:spPr>
          <a:xfrm>
            <a:off x="457200" y="1234440"/>
            <a:ext cx="2606040" cy="2651760"/>
          </a:xfrm>
          <a:prstGeom prst="roundRect">
            <a:avLst>
              <a:gd name="adj" fmla="val 2807"/>
            </a:avLst>
          </a:prstGeom>
          <a:solidFill>
            <a:schemeClr val="accent6"/>
          </a:solidFill>
          <a:ln/>
        </p:spPr>
      </p:sp>
      <p:sp>
        <p:nvSpPr>
          <p:cNvPr id="4" name="text-155"/>
          <p:cNvSpPr txBox="1"/>
          <p:nvPr/>
        </p:nvSpPr>
        <p:spPr>
          <a:xfrm>
            <a:off x="685800" y="1463040"/>
            <a:ext cx="2148840" cy="822960"/>
          </a:xfrm>
          <a:prstGeom prst="rect">
            <a:avLst/>
          </a:prstGeom>
          <a:noFill/>
          <a:ln/>
        </p:spPr>
        <p:txBody>
          <a:bodyPr wrap="square" lIns="0" tIns="0" rIns="0" bIns="0" rtlCol="0" anchor="ctr"/>
          <a:lstStyle/>
          <a:p>
            <a:pPr indent="0" marL="0">
              <a:buNone/>
            </a:pPr>
            <a:r>
              <a:rPr lang="en-US" sz="4000" b="1" dirty="0">
                <a:solidFill>
                  <a:schemeClr val="accent4"/>
                </a:solidFill>
                <a:latin typeface="Bahnschrift" pitchFamily="34" charset="0"/>
                <a:ea typeface="Bahnschrift" pitchFamily="34" charset="-122"/>
                <a:cs typeface="Bahnschrift" pitchFamily="34" charset="-120"/>
              </a:rPr>
              <a:t>5.82×</a:t>
            </a:r>
            <a:endParaRPr lang="en-US" sz="4000" dirty="0"/>
          </a:p>
        </p:txBody>
      </p:sp>
      <p:sp>
        <p:nvSpPr>
          <p:cNvPr id="5" name="text-156"/>
          <p:cNvSpPr txBox="1"/>
          <p:nvPr/>
        </p:nvSpPr>
        <p:spPr>
          <a:xfrm>
            <a:off x="685800" y="2377440"/>
            <a:ext cx="2148840" cy="1371600"/>
          </a:xfrm>
          <a:prstGeom prst="rect">
            <a:avLst/>
          </a:prstGeom>
          <a:noFill/>
          <a:ln/>
        </p:spPr>
        <p:txBody>
          <a:bodyPr wrap="square" lIns="0" tIns="0" rIns="0" bIns="0" rtlCol="0" anchor="t"/>
          <a:lstStyle/>
          <a:p>
            <a:pPr indent="0" marL="0">
              <a:buNone/>
            </a:pPr>
            <a:r>
              <a:rPr lang="en-US" sz="1500" dirty="0">
                <a:solidFill>
                  <a:schemeClr val="bg1"/>
                </a:solidFill>
                <a:latin typeface="Cambria" pitchFamily="34" charset="0"/>
                <a:ea typeface="Cambria" pitchFamily="34" charset="-122"/>
                <a:cs typeface="Cambria" pitchFamily="34" charset="-120"/>
              </a:rPr>
              <a:t>No-GIL threads at 16 tiles (3.30× at 4), close to processes</a:t>
            </a:r>
            <a:endParaRPr lang="en-US" sz="1500" dirty="0"/>
          </a:p>
        </p:txBody>
      </p:sp>
      <p:sp>
        <p:nvSpPr>
          <p:cNvPr id="6" name="card-157"/>
          <p:cNvSpPr/>
          <p:nvPr/>
        </p:nvSpPr>
        <p:spPr>
          <a:xfrm>
            <a:off x="3246120" y="1234440"/>
            <a:ext cx="2606040" cy="2651760"/>
          </a:xfrm>
          <a:prstGeom prst="roundRect">
            <a:avLst>
              <a:gd name="adj" fmla="val 2807"/>
            </a:avLst>
          </a:prstGeom>
          <a:solidFill>
            <a:schemeClr val="accent6"/>
          </a:solidFill>
          <a:ln/>
        </p:spPr>
      </p:sp>
      <p:sp>
        <p:nvSpPr>
          <p:cNvPr id="7" name="text-158"/>
          <p:cNvSpPr txBox="1"/>
          <p:nvPr/>
        </p:nvSpPr>
        <p:spPr>
          <a:xfrm>
            <a:off x="3474720" y="1463040"/>
            <a:ext cx="2148840" cy="822960"/>
          </a:xfrm>
          <a:prstGeom prst="rect">
            <a:avLst/>
          </a:prstGeom>
          <a:noFill/>
          <a:ln/>
        </p:spPr>
        <p:txBody>
          <a:bodyPr wrap="square" lIns="0" tIns="0" rIns="0" bIns="0" rtlCol="0" anchor="ctr"/>
          <a:lstStyle/>
          <a:p>
            <a:pPr indent="0" marL="0">
              <a:buNone/>
            </a:pPr>
            <a:r>
              <a:rPr lang="en-US" sz="4000" b="1" dirty="0">
                <a:solidFill>
                  <a:schemeClr val="accent4"/>
                </a:solidFill>
                <a:latin typeface="Bahnschrift" pitchFamily="34" charset="0"/>
                <a:ea typeface="Bahnschrift" pitchFamily="34" charset="-122"/>
                <a:cs typeface="Bahnschrift" pitchFamily="34" charset="-120"/>
              </a:rPr>
              <a:t>+11%</a:t>
            </a:r>
            <a:endParaRPr lang="en-US" sz="4000" dirty="0"/>
          </a:p>
        </p:txBody>
      </p:sp>
      <p:sp>
        <p:nvSpPr>
          <p:cNvPr id="8" name="text-159"/>
          <p:cNvSpPr txBox="1"/>
          <p:nvPr/>
        </p:nvSpPr>
        <p:spPr>
          <a:xfrm>
            <a:off x="3474720" y="2377440"/>
            <a:ext cx="2148840" cy="1371600"/>
          </a:xfrm>
          <a:prstGeom prst="rect">
            <a:avLst/>
          </a:prstGeom>
          <a:noFill/>
          <a:ln/>
        </p:spPr>
        <p:txBody>
          <a:bodyPr wrap="square" lIns="0" tIns="0" rIns="0" bIns="0" rtlCol="0" anchor="t"/>
          <a:lstStyle/>
          <a:p>
            <a:pPr indent="0" marL="0">
              <a:buNone/>
            </a:pPr>
            <a:r>
              <a:rPr lang="en-US" sz="1500" dirty="0">
                <a:solidFill>
                  <a:schemeClr val="bg1"/>
                </a:solidFill>
                <a:latin typeface="Cambria" pitchFamily="34" charset="0"/>
                <a:ea typeface="Cambria" pitchFamily="34" charset="-122"/>
                <a:cs typeface="Cambria" pitchFamily="34" charset="-120"/>
              </a:rPr>
              <a:t>Slower single-threaded: the cost of a thread-safe interpreter</a:t>
            </a:r>
            <a:endParaRPr lang="en-US" sz="1500" dirty="0"/>
          </a:p>
        </p:txBody>
      </p:sp>
      <p:sp>
        <p:nvSpPr>
          <p:cNvPr id="9" name="card-160"/>
          <p:cNvSpPr/>
          <p:nvPr/>
        </p:nvSpPr>
        <p:spPr>
          <a:xfrm>
            <a:off x="6035040" y="1234440"/>
            <a:ext cx="2606040" cy="2651760"/>
          </a:xfrm>
          <a:prstGeom prst="roundRect">
            <a:avLst>
              <a:gd name="adj" fmla="val 2807"/>
            </a:avLst>
          </a:prstGeom>
          <a:solidFill>
            <a:schemeClr val="accent6"/>
          </a:solidFill>
          <a:ln/>
        </p:spPr>
      </p:sp>
      <p:sp>
        <p:nvSpPr>
          <p:cNvPr id="10" name="text-161"/>
          <p:cNvSpPr txBox="1"/>
          <p:nvPr/>
        </p:nvSpPr>
        <p:spPr>
          <a:xfrm>
            <a:off x="6263640" y="1463040"/>
            <a:ext cx="2148840" cy="822960"/>
          </a:xfrm>
          <a:prstGeom prst="rect">
            <a:avLst/>
          </a:prstGeom>
          <a:noFill/>
          <a:ln/>
        </p:spPr>
        <p:txBody>
          <a:bodyPr wrap="square" lIns="0" tIns="0" rIns="0" bIns="0" rtlCol="0" anchor="ctr"/>
          <a:lstStyle/>
          <a:p>
            <a:pPr indent="0" marL="0">
              <a:buNone/>
            </a:pPr>
            <a:r>
              <a:rPr lang="en-US" sz="4000" b="1" dirty="0">
                <a:solidFill>
                  <a:schemeClr val="accent4"/>
                </a:solidFill>
                <a:latin typeface="Bahnschrift" pitchFamily="34" charset="0"/>
                <a:ea typeface="Bahnschrift" pitchFamily="34" charset="-122"/>
                <a:cs typeface="Bahnschrift" pitchFamily="34" charset="-120"/>
              </a:rPr>
              <a:t>0</a:t>
            </a:r>
            <a:endParaRPr lang="en-US" sz="4000" dirty="0"/>
          </a:p>
        </p:txBody>
      </p:sp>
      <p:sp>
        <p:nvSpPr>
          <p:cNvPr id="11" name="text-162"/>
          <p:cNvSpPr txBox="1"/>
          <p:nvPr/>
        </p:nvSpPr>
        <p:spPr>
          <a:xfrm>
            <a:off x="6263640" y="2377440"/>
            <a:ext cx="2148840" cy="1371600"/>
          </a:xfrm>
          <a:prstGeom prst="rect">
            <a:avLst/>
          </a:prstGeom>
          <a:noFill/>
          <a:ln/>
        </p:spPr>
        <p:txBody>
          <a:bodyPr wrap="square" lIns="0" tIns="0" rIns="0" bIns="0" rtlCol="0" anchor="t"/>
          <a:lstStyle/>
          <a:p>
            <a:pPr indent="0" marL="0">
              <a:buNone/>
            </a:pPr>
            <a:r>
              <a:rPr lang="en-US" sz="1500" dirty="0">
                <a:solidFill>
                  <a:schemeClr val="bg1"/>
                </a:solidFill>
                <a:latin typeface="Cambria" pitchFamily="34" charset="0"/>
                <a:ea typeface="Cambria" pitchFamily="34" charset="-122"/>
                <a:cs typeface="Cambria" pitchFamily="34" charset="-120"/>
              </a:rPr>
              <a:t>OpenCV builds for free-threaded Python. I reimplemented 4 calls in NumPy</a:t>
            </a:r>
            <a:endParaRPr lang="en-US" sz="1500" dirty="0"/>
          </a:p>
        </p:txBody>
      </p:sp>
      <p:sp>
        <p:nvSpPr>
          <p:cNvPr id="12" name="text-163"/>
          <p:cNvSpPr txBox="1"/>
          <p:nvPr/>
        </p:nvSpPr>
        <p:spPr>
          <a:xfrm>
            <a:off x="457200" y="4069080"/>
            <a:ext cx="8229600" cy="457200"/>
          </a:xfrm>
          <a:prstGeom prst="rect">
            <a:avLst/>
          </a:prstGeom>
          <a:noFill/>
          <a:ln/>
        </p:spPr>
        <p:txBody>
          <a:bodyPr wrap="square" lIns="0" tIns="0" rIns="0" bIns="0" rtlCol="0" anchor="ctr"/>
          <a:lstStyle/>
          <a:p>
            <a:pPr indent="0" marL="0">
              <a:buNone/>
            </a:pPr>
            <a:r>
              <a:rPr lang="en-US" sz="1400" dirty="0">
                <a:solidFill>
                  <a:schemeClr val="bg2"/>
                </a:solidFill>
                <a:latin typeface="Cambria" pitchFamily="34" charset="0"/>
                <a:ea typeface="Cambria" pitchFamily="34" charset="-122"/>
                <a:cs typeface="Cambria" pitchFamily="34" charset="-120"/>
              </a:rPr>
              <a:t>PEP 703 made the GIL optional [7]. For this workload it already works, though libraries are still catching up.</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bg1"/>
                </a:solidFill>
              </a:rPr>
              <a:t>The hidden cost: keypoints lost at tile borders</a:t>
            </a:r>
            <a:endParaRPr lang="en-US" sz="3000" dirty="0"/>
          </a:p>
        </p:txBody>
      </p:sp>
      <p:sp>
        <p:nvSpPr>
          <p:cNvPr id="3" name="frame-164"/>
          <p:cNvSpPr/>
          <p:nvPr/>
        </p:nvSpPr>
        <p:spPr>
          <a:xfrm>
            <a:off x="531330" y="1097280"/>
            <a:ext cx="3600779" cy="3063240"/>
          </a:xfrm>
          <a:prstGeom prst="roundRect">
            <a:avLst>
              <a:gd name="adj" fmla="val 1791"/>
            </a:avLst>
          </a:prstGeom>
          <a:solidFill>
            <a:srgbClr val="FFFFFF"/>
          </a:solidFill>
          <a:ln/>
        </p:spPr>
      </p:sp>
      <p:pic>
        <p:nvPicPr>
          <p:cNvPr id="4" name="image-165" descr="C:\Users\Musa Waghu\.claude\jobs\3cc2589d\tmp\deck\kp_lost16.png">    </p:cNvPr>
          <p:cNvPicPr>
            <a:picLocks noChangeAspect="1"/>
          </p:cNvPicPr>
          <p:nvPr/>
        </p:nvPicPr>
        <p:blipFill>
          <a:blip r:embed="rId1"/>
          <a:stretch>
            <a:fillRect/>
          </a:stretch>
        </p:blipFill>
        <p:spPr>
          <a:xfrm>
            <a:off x="586194" y="1152144"/>
            <a:ext cx="3491051" cy="2953512"/>
          </a:xfrm>
          <a:prstGeom prst="rect">
            <a:avLst/>
          </a:prstGeom>
        </p:spPr>
      </p:pic>
      <p:sp>
        <p:nvSpPr>
          <p:cNvPr id="5" name="text-166"/>
          <p:cNvSpPr txBox="1"/>
          <p:nvPr/>
        </p:nvSpPr>
        <p:spPr>
          <a:xfrm>
            <a:off x="457200" y="4206240"/>
            <a:ext cx="3749040" cy="411480"/>
          </a:xfrm>
          <a:prstGeom prst="rect">
            <a:avLst/>
          </a:prstGeom>
          <a:noFill/>
          <a:ln/>
        </p:spPr>
        <p:txBody>
          <a:bodyPr wrap="square" lIns="0" tIns="0" rIns="0" bIns="0" rtlCol="0" anchor="ctr"/>
          <a:lstStyle/>
          <a:p>
            <a:pPr indent="0" marL="0">
              <a:buNone/>
            </a:pPr>
            <a:r>
              <a:rPr lang="en-US" sz="1100" dirty="0">
                <a:solidFill>
                  <a:schemeClr val="bg2"/>
                </a:solidFill>
                <a:latin typeface="Cambria" pitchFamily="34" charset="0"/>
                <a:ea typeface="Cambria" pitchFamily="34" charset="-122"/>
                <a:cs typeface="Cambria" pitchFamily="34" charset="-120"/>
              </a:rPr>
              <a:t>Image 1, 16 tiles. Gold rings: whole-image keypoints with no 16-tile match nearby. They cluster along the cuts.</a:t>
            </a:r>
            <a:endParaRPr lang="en-US" sz="1100" dirty="0"/>
          </a:p>
        </p:txBody>
      </p:sp>
      <p:graphicFrame>
        <p:nvGraphicFramePr>
          <p:cNvPr id="22" name="table-keypoints"/>
          <p:cNvGraphicFramePr>
            <a:graphicFrameLocks noGrp="1"/>
          </p:cNvGraphicFramePr>
          <p:nvPr>
            <p:extLst>
              <p:ext uri="{D42A27DB-BD31-4B8C-83A1-F6EECF244321}">
                <p14:modId xmlns:p14="http://schemas.microsoft.com/office/powerpoint/2010/main" val="1579011935"/>
              </p:ext>
            </p:extLst>
          </p:nvPr>
        </p:nvGraphicFramePr>
        <p:xfrm>
          <a:off x="4526280" y="1188720"/>
          <a:ext cx="4160520" cy="914400"/>
        </p:xfrm>
        <a:graphic>
          <a:graphicData uri="http://schemas.openxmlformats.org/drawingml/2006/table">
            <a:tbl>
              <a:tblPr/>
              <a:tblGrid>
                <a:gridCol w="1600200"/>
                <a:gridCol w="1280160"/>
                <a:gridCol w="1280160"/>
              </a:tblGrid>
              <a:tr h="411480">
                <a:tc>
                  <a:txBody>
                    <a:bodyPr/>
                    <a:lstStyle/>
                    <a:p>
                      <a:pPr indent="0" marL="0">
                        <a:buNone/>
                      </a:pPr>
                      <a:r>
                        <a:rPr lang="en-US" sz="1400" b="1" dirty="0">
                          <a:solidFill>
                            <a:srgbClr val="263238"/>
                          </a:solidFill>
                          <a:latin typeface="Bahnschrift" pitchFamily="34" charset="0"/>
                          <a:ea typeface="Bahnschrift" pitchFamily="34" charset="-122"/>
                          <a:cs typeface="Bahnschrift" pitchFamily="34" charset="-120"/>
                        </a:rPr>
                        <a:t>Tiling</a:t>
                      </a:r>
                      <a:endParaRPr lang="en-US" sz="1400" dirty="0">
                        <a:latin typeface="Bahnschrift" charset="0"/>
                        <a:ea typeface="Bahnschrift" charset="0"/>
                        <a:cs typeface="Bahnschrift" charset="0"/>
                      </a:endParaRPr>
                    </a:p>
                  </a:txBody>
                  <a:tcPr marL="73152" marR="73152" marT="73152" marB="73152"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F2B830"/>
                    </a:solidFill>
                  </a:tcPr>
                </a:tc>
                <a:tc>
                  <a:txBody>
                    <a:bodyPr/>
                    <a:lstStyle/>
                    <a:p>
                      <a:pPr indent="0" marL="0">
                        <a:buNone/>
                      </a:pPr>
                      <a:r>
                        <a:rPr lang="en-US" sz="1400" b="1" dirty="0">
                          <a:solidFill>
                            <a:srgbClr val="263238"/>
                          </a:solidFill>
                          <a:latin typeface="Bahnschrift" pitchFamily="34" charset="0"/>
                          <a:ea typeface="Bahnschrift" pitchFamily="34" charset="-122"/>
                          <a:cs typeface="Bahnschrift" pitchFamily="34" charset="-120"/>
                        </a:rPr>
                        <a:t>Keypoints</a:t>
                      </a:r>
                      <a:endParaRPr lang="en-US" sz="1400" dirty="0">
                        <a:latin typeface="Bahnschrift" charset="0"/>
                        <a:ea typeface="Bahnschrift" charset="0"/>
                        <a:cs typeface="Bahnschrift" charset="0"/>
                      </a:endParaRPr>
                    </a:p>
                  </a:txBody>
                  <a:tcPr marL="73152" marR="73152" marT="73152" marB="73152"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F2B830"/>
                    </a:solidFill>
                  </a:tcPr>
                </a:tc>
                <a:tc>
                  <a:txBody>
                    <a:bodyPr/>
                    <a:lstStyle/>
                    <a:p>
                      <a:pPr indent="0" marL="0">
                        <a:buNone/>
                      </a:pPr>
                      <a:r>
                        <a:rPr lang="en-US" sz="1400" b="1" dirty="0">
                          <a:solidFill>
                            <a:srgbClr val="263238"/>
                          </a:solidFill>
                          <a:latin typeface="Bahnschrift" pitchFamily="34" charset="0"/>
                          <a:ea typeface="Bahnschrift" pitchFamily="34" charset="-122"/>
                          <a:cs typeface="Bahnschrift" pitchFamily="34" charset="-120"/>
                        </a:rPr>
                        <a:t>Lost</a:t>
                      </a:r>
                      <a:endParaRPr lang="en-US" sz="1400" dirty="0">
                        <a:latin typeface="Bahnschrift" charset="0"/>
                        <a:ea typeface="Bahnschrift" charset="0"/>
                        <a:cs typeface="Bahnschrift" charset="0"/>
                      </a:endParaRPr>
                    </a:p>
                  </a:txBody>
                  <a:tcPr marL="73152" marR="73152" marT="73152" marB="73152"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F2B830"/>
                    </a:solidFill>
                  </a:tcPr>
                </a:tc>
              </a:tr>
              <a:tr h="411480">
                <a:tc>
                  <a:txBody>
                    <a:bodyPr/>
                    <a:lstStyle/>
                    <a:p>
                      <a:pPr indent="0" marL="0">
                        <a:buNone/>
                      </a:pPr>
                      <a:r>
                        <a:rPr lang="en-US" sz="1400" dirty="0">
                          <a:solidFill>
                            <a:srgbClr val="FFFFFF"/>
                          </a:solidFill>
                          <a:latin typeface="Cambria" pitchFamily="34" charset="0"/>
                          <a:ea typeface="Cambria" pitchFamily="34" charset="-122"/>
                          <a:cs typeface="Cambria" pitchFamily="34" charset="-120"/>
                        </a:rPr>
                        <a:t>Whole image</a:t>
                      </a:r>
                      <a:endParaRPr lang="en-US" sz="1400" dirty="0">
                        <a:latin typeface="Cambria" charset="0"/>
                        <a:ea typeface="Cambria" charset="0"/>
                        <a:cs typeface="Cambria" charset="0"/>
                      </a:endParaRPr>
                    </a:p>
                  </a:txBody>
                  <a:tcPr marL="73152" marR="73152" marT="73152" marB="73152"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c>
                  <a:txBody>
                    <a:bodyPr/>
                    <a:lstStyle/>
                    <a:p>
                      <a:pPr indent="0" marL="0">
                        <a:buNone/>
                      </a:pPr>
                      <a:r>
                        <a:rPr lang="en-US" sz="1400" dirty="0">
                          <a:solidFill>
                            <a:srgbClr val="FFFFFF"/>
                          </a:solidFill>
                          <a:latin typeface="Cambria" pitchFamily="34" charset="0"/>
                          <a:ea typeface="Cambria" pitchFamily="34" charset="-122"/>
                          <a:cs typeface="Cambria" pitchFamily="34" charset="-120"/>
                        </a:rPr>
                        <a:t>1,290</a:t>
                      </a:r>
                      <a:endParaRPr lang="en-US" sz="1400" dirty="0">
                        <a:latin typeface="Cambria" charset="0"/>
                        <a:ea typeface="Cambria" charset="0"/>
                        <a:cs typeface="Cambria" charset="0"/>
                      </a:endParaRPr>
                    </a:p>
                  </a:txBody>
                  <a:tcPr marL="73152" marR="73152" marT="73152" marB="73152"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c>
                  <a:txBody>
                    <a:bodyPr/>
                    <a:lstStyle/>
                    <a:p>
                      <a:pPr indent="0" marL="0">
                        <a:buNone/>
                      </a:pPr>
                      <a:r>
                        <a:rPr lang="en-US" sz="1400" dirty="0">
                          <a:solidFill>
                            <a:srgbClr val="FFFFFF"/>
                          </a:solidFill>
                          <a:latin typeface="Cambria" pitchFamily="34" charset="0"/>
                          <a:ea typeface="Cambria" pitchFamily="34" charset="-122"/>
                          <a:cs typeface="Cambria" pitchFamily="34" charset="-120"/>
                        </a:rPr>
                        <a:t>n/a</a:t>
                      </a:r>
                      <a:endParaRPr lang="en-US" sz="1400" dirty="0">
                        <a:latin typeface="Cambria" charset="0"/>
                        <a:ea typeface="Cambria" charset="0"/>
                        <a:cs typeface="Cambria" charset="0"/>
                      </a:endParaRPr>
                    </a:p>
                  </a:txBody>
                  <a:tcPr marL="73152" marR="73152" marT="73152" marB="73152"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r>
              <a:tr h="411480">
                <a:tc>
                  <a:txBody>
                    <a:bodyPr/>
                    <a:lstStyle/>
                    <a:p>
                      <a:pPr indent="0" marL="0">
                        <a:buNone/>
                      </a:pPr>
                      <a:r>
                        <a:rPr lang="en-US" sz="1400" dirty="0">
                          <a:solidFill>
                            <a:srgbClr val="FFFFFF"/>
                          </a:solidFill>
                          <a:latin typeface="Cambria" pitchFamily="34" charset="0"/>
                          <a:ea typeface="Cambria" pitchFamily="34" charset="-122"/>
                          <a:cs typeface="Cambria" pitchFamily="34" charset="-120"/>
                        </a:rPr>
                        <a:t>4 tiles</a:t>
                      </a:r>
                      <a:endParaRPr lang="en-US" sz="1400" dirty="0">
                        <a:latin typeface="Cambria" charset="0"/>
                        <a:ea typeface="Cambria" charset="0"/>
                        <a:cs typeface="Cambria" charset="0"/>
                      </a:endParaRPr>
                    </a:p>
                  </a:txBody>
                  <a:tcPr marL="73152" marR="73152" marT="73152" marB="73152"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c>
                  <a:txBody>
                    <a:bodyPr/>
                    <a:lstStyle/>
                    <a:p>
                      <a:pPr indent="0" marL="0">
                        <a:buNone/>
                      </a:pPr>
                      <a:r>
                        <a:rPr lang="en-US" sz="1400" dirty="0">
                          <a:solidFill>
                            <a:srgbClr val="FFFFFF"/>
                          </a:solidFill>
                          <a:latin typeface="Cambria" pitchFamily="34" charset="0"/>
                          <a:ea typeface="Cambria" pitchFamily="34" charset="-122"/>
                          <a:cs typeface="Cambria" pitchFamily="34" charset="-120"/>
                        </a:rPr>
                        <a:t>1,251</a:t>
                      </a:r>
                      <a:endParaRPr lang="en-US" sz="1400" dirty="0">
                        <a:latin typeface="Cambria" charset="0"/>
                        <a:ea typeface="Cambria" charset="0"/>
                        <a:cs typeface="Cambria" charset="0"/>
                      </a:endParaRPr>
                    </a:p>
                  </a:txBody>
                  <a:tcPr marL="73152" marR="73152" marT="73152" marB="73152"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c>
                  <a:txBody>
                    <a:bodyPr/>
                    <a:lstStyle/>
                    <a:p>
                      <a:pPr indent="0" marL="0">
                        <a:buNone/>
                      </a:pPr>
                      <a:r>
                        <a:rPr lang="en-US" sz="1400" dirty="0">
                          <a:solidFill>
                            <a:srgbClr val="FFFFFF"/>
                          </a:solidFill>
                          <a:latin typeface="Cambria" pitchFamily="34" charset="0"/>
                          <a:ea typeface="Cambria" pitchFamily="34" charset="-122"/>
                          <a:cs typeface="Cambria" pitchFamily="34" charset="-120"/>
                        </a:rPr>
                        <a:t>−3.1%</a:t>
                      </a:r>
                      <a:endParaRPr lang="en-US" sz="1400" dirty="0">
                        <a:latin typeface="Cambria" charset="0"/>
                        <a:ea typeface="Cambria" charset="0"/>
                        <a:cs typeface="Cambria" charset="0"/>
                      </a:endParaRPr>
                    </a:p>
                  </a:txBody>
                  <a:tcPr marL="73152" marR="73152" marT="73152" marB="73152"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r>
              <a:tr h="411480">
                <a:tc>
                  <a:txBody>
                    <a:bodyPr/>
                    <a:lstStyle/>
                    <a:p>
                      <a:pPr indent="0" marL="0">
                        <a:buNone/>
                      </a:pPr>
                      <a:r>
                        <a:rPr lang="en-US" sz="1400" dirty="0">
                          <a:solidFill>
                            <a:srgbClr val="FFFFFF"/>
                          </a:solidFill>
                          <a:latin typeface="Cambria" pitchFamily="34" charset="0"/>
                          <a:ea typeface="Cambria" pitchFamily="34" charset="-122"/>
                          <a:cs typeface="Cambria" pitchFamily="34" charset="-120"/>
                        </a:rPr>
                        <a:t>16 tiles</a:t>
                      </a:r>
                      <a:endParaRPr lang="en-US" sz="1400" dirty="0">
                        <a:latin typeface="Cambria" charset="0"/>
                        <a:ea typeface="Cambria" charset="0"/>
                        <a:cs typeface="Cambria" charset="0"/>
                      </a:endParaRPr>
                    </a:p>
                  </a:txBody>
                  <a:tcPr marL="73152" marR="73152" marT="73152" marB="73152"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c>
                  <a:txBody>
                    <a:bodyPr/>
                    <a:lstStyle/>
                    <a:p>
                      <a:pPr indent="0" marL="0">
                        <a:buNone/>
                      </a:pPr>
                      <a:r>
                        <a:rPr lang="en-US" sz="1400" dirty="0">
                          <a:solidFill>
                            <a:srgbClr val="FFFFFF"/>
                          </a:solidFill>
                          <a:latin typeface="Cambria" pitchFamily="34" charset="0"/>
                          <a:ea typeface="Cambria" pitchFamily="34" charset="-122"/>
                          <a:cs typeface="Cambria" pitchFamily="34" charset="-120"/>
                        </a:rPr>
                        <a:t>1,191</a:t>
                      </a:r>
                      <a:endParaRPr lang="en-US" sz="1400" dirty="0">
                        <a:latin typeface="Cambria" charset="0"/>
                        <a:ea typeface="Cambria" charset="0"/>
                        <a:cs typeface="Cambria" charset="0"/>
                      </a:endParaRPr>
                    </a:p>
                  </a:txBody>
                  <a:tcPr marL="73152" marR="73152" marT="73152" marB="73152"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c>
                  <a:txBody>
                    <a:bodyPr/>
                    <a:lstStyle/>
                    <a:p>
                      <a:pPr indent="0" marL="0">
                        <a:buNone/>
                      </a:pPr>
                      <a:r>
                        <a:rPr lang="en-US" sz="1400" b="1" dirty="0">
                          <a:solidFill>
                            <a:srgbClr val="F2B830"/>
                          </a:solidFill>
                          <a:latin typeface="Cambria" pitchFamily="34" charset="0"/>
                          <a:ea typeface="Cambria" pitchFamily="34" charset="-122"/>
                          <a:cs typeface="Cambria" pitchFamily="34" charset="-120"/>
                        </a:rPr>
                        <a:t>−7.9%</a:t>
                      </a:r>
                      <a:endParaRPr lang="en-US" sz="1400" dirty="0">
                        <a:latin typeface="Cambria" charset="0"/>
                        <a:ea typeface="Cambria" charset="0"/>
                        <a:cs typeface="Cambria" charset="0"/>
                      </a:endParaRPr>
                    </a:p>
                  </a:txBody>
                  <a:tcPr marL="73152" marR="73152" marT="73152" marB="73152" anchor="ctr">
                    <a:lnL w="12700" cap="flat" cmpd="sng" algn="ctr">
                      <a:solidFill>
                        <a:srgbClr val="37474F"/>
                      </a:solidFill>
                      <a:prstDash val="solid"/>
                      <a:round/>
                      <a:headEnd type="none" w="med" len="med"/>
                      <a:tailEnd type="none" w="med" len="med"/>
                    </a:lnL>
                    <a:lnR w="12700" cap="flat" cmpd="sng" algn="ctr">
                      <a:solidFill>
                        <a:srgbClr val="37474F"/>
                      </a:solidFill>
                      <a:prstDash val="solid"/>
                      <a:round/>
                      <a:headEnd type="none" w="med" len="med"/>
                      <a:tailEnd type="none" w="med" len="med"/>
                    </a:lnR>
                    <a:lnT w="12700" cap="flat" cmpd="sng" algn="ctr">
                      <a:solidFill>
                        <a:srgbClr val="37474F"/>
                      </a:solidFill>
                      <a:prstDash val="solid"/>
                      <a:round/>
                      <a:headEnd type="none" w="med" len="med"/>
                      <a:tailEnd type="none" w="med" len="med"/>
                    </a:lnT>
                    <a:lnB w="12700" cap="flat" cmpd="sng" algn="ctr">
                      <a:solidFill>
                        <a:srgbClr val="37474F"/>
                      </a:solidFill>
                      <a:prstDash val="solid"/>
                      <a:round/>
                      <a:headEnd type="none" w="med" len="med"/>
                      <a:tailEnd type="none" w="med" len="med"/>
                    </a:lnB>
                    <a:solidFill>
                      <a:srgbClr val="455A64"/>
                    </a:solidFill>
                  </a:tcPr>
                </a:tc>
              </a:tr>
            </a:tbl>
          </a:graphicData>
        </a:graphic>
      </p:graphicFrame>
      <p:sp>
        <p:nvSpPr>
          <p:cNvPr id="7" name="text-167"/>
          <p:cNvSpPr txBox="1"/>
          <p:nvPr/>
        </p:nvSpPr>
        <p:spPr>
          <a:xfrm>
            <a:off x="4526280" y="3063240"/>
            <a:ext cx="4160520" cy="1371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latin typeface="Cambria" pitchFamily="34" charset="0"/>
                <a:ea typeface="Cambria" pitchFamily="34" charset="-122"/>
                <a:cs typeface="Cambria" pitchFamily="34" charset="-120"/>
              </a:rPr>
              <a:t>Each tile skips a 5-pixel border</a:t>
            </a:r>
            <a:endParaRPr lang="en-US" sz="1400" dirty="0"/>
          </a:p>
          <a:p>
            <a:pPr marL="342900" indent="-342900">
              <a:spcAft>
                <a:spcPts val="600"/>
              </a:spcAft>
              <a:buSzPct val="100000"/>
              <a:buChar char="•"/>
            </a:pPr>
            <a:r>
              <a:rPr lang="en-US" sz="1400" dirty="0">
                <a:solidFill>
                  <a:schemeClr val="bg1"/>
                </a:solidFill>
                <a:latin typeface="Cambria" pitchFamily="34" charset="0"/>
                <a:ea typeface="Cambria" pitchFamily="34" charset="-122"/>
                <a:cs typeface="Cambria" pitchFamily="34" charset="-120"/>
              </a:rPr>
              <a:t>Descriptor windows are clipped at the cut</a:t>
            </a:r>
            <a:endParaRPr lang="en-US" sz="1400" dirty="0"/>
          </a:p>
          <a:p>
            <a:pPr marL="342900" indent="-342900">
              <a:spcAft>
                <a:spcPts val="600"/>
              </a:spcAft>
              <a:buSzPct val="100000"/>
              <a:buChar char="•"/>
            </a:pPr>
            <a:r>
              <a:rPr lang="en-US" sz="1400" dirty="0">
                <a:solidFill>
                  <a:schemeClr val="bg1"/>
                </a:solidFill>
                <a:latin typeface="Cambria" pitchFamily="34" charset="0"/>
                <a:ea typeface="Cambria" pitchFamily="34" charset="-122"/>
                <a:cs typeface="Cambria" pitchFamily="34" charset="-120"/>
              </a:rPr>
              <a:t>Worst image loses 12.1% at 16 tiles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bg1"/>
                </a:solidFill>
              </a:rPr>
              <a:t>Bugs found while rebuilding</a:t>
            </a:r>
            <a:endParaRPr lang="en-US" sz="3000" dirty="0"/>
          </a:p>
        </p:txBody>
      </p:sp>
      <p:sp>
        <p:nvSpPr>
          <p:cNvPr id="3" name="card-168"/>
          <p:cNvSpPr/>
          <p:nvPr/>
        </p:nvSpPr>
        <p:spPr>
          <a:xfrm>
            <a:off x="457200" y="1234440"/>
            <a:ext cx="2606040" cy="3108960"/>
          </a:xfrm>
          <a:prstGeom prst="roundRect">
            <a:avLst>
              <a:gd name="adj" fmla="val 2807"/>
            </a:avLst>
          </a:prstGeom>
          <a:solidFill>
            <a:schemeClr val="accent6"/>
          </a:solidFill>
          <a:ln/>
        </p:spPr>
      </p:sp>
      <p:sp>
        <p:nvSpPr>
          <p:cNvPr id="4" name="icon-bg-169"/>
          <p:cNvSpPr/>
          <p:nvPr/>
        </p:nvSpPr>
        <p:spPr>
          <a:xfrm>
            <a:off x="685800" y="1463040"/>
            <a:ext cx="548640" cy="548640"/>
          </a:xfrm>
          <a:prstGeom prst="ellipse">
            <a:avLst/>
          </a:prstGeom>
          <a:solidFill>
            <a:schemeClr val="accent1"/>
          </a:solidFill>
          <a:ln/>
        </p:spPr>
      </p:sp>
      <p:pic>
        <p:nvPicPr>
          <p:cNvPr id="5" name="icon-170" descr="preencoded.png">    </p:cNvPr>
          <p:cNvPicPr>
            <a:picLocks noChangeAspect="1"/>
          </p:cNvPicPr>
          <p:nvPr/>
        </p:nvPicPr>
        <p:blipFill>
          <a:blip r:embed="rId1"/>
          <a:stretch>
            <a:fillRect/>
          </a:stretch>
        </p:blipFill>
        <p:spPr>
          <a:xfrm>
            <a:off x="806501" y="1583741"/>
            <a:ext cx="307238" cy="307238"/>
          </a:xfrm>
          <a:prstGeom prst="rect">
            <a:avLst/>
          </a:prstGeom>
        </p:spPr>
      </p:pic>
      <p:sp>
        <p:nvSpPr>
          <p:cNvPr id="6" name="text-171"/>
          <p:cNvSpPr txBox="1"/>
          <p:nvPr/>
        </p:nvSpPr>
        <p:spPr>
          <a:xfrm>
            <a:off x="685800" y="2194560"/>
            <a:ext cx="2148840" cy="411480"/>
          </a:xfrm>
          <a:prstGeom prst="rect">
            <a:avLst/>
          </a:prstGeom>
          <a:noFill/>
          <a:ln/>
        </p:spPr>
        <p:txBody>
          <a:bodyPr wrap="square" lIns="0" tIns="0" rIns="0" bIns="0" rtlCol="0" anchor="ctr"/>
          <a:lstStyle/>
          <a:p>
            <a:pPr indent="0" marL="0">
              <a:buNone/>
            </a:pPr>
            <a:r>
              <a:rPr lang="en-US" sz="1800" b="1" dirty="0">
                <a:solidFill>
                  <a:schemeClr val="bg1"/>
                </a:solidFill>
                <a:latin typeface="Bahnschrift" pitchFamily="34" charset="0"/>
                <a:ea typeface="Bahnschrift" pitchFamily="34" charset="-122"/>
                <a:cs typeface="Bahnschrift" pitchFamily="34" charset="-120"/>
              </a:rPr>
              <a:t>Ordering race</a:t>
            </a:r>
            <a:endParaRPr lang="en-US" sz="1800" dirty="0"/>
          </a:p>
        </p:txBody>
      </p:sp>
      <p:sp>
        <p:nvSpPr>
          <p:cNvPr id="7" name="text-172"/>
          <p:cNvSpPr txBox="1"/>
          <p:nvPr/>
        </p:nvSpPr>
        <p:spPr>
          <a:xfrm>
            <a:off x="685800" y="2651760"/>
            <a:ext cx="2148840" cy="1600200"/>
          </a:xfrm>
          <a:prstGeom prst="rect">
            <a:avLst/>
          </a:prstGeom>
          <a:noFill/>
          <a:ln/>
        </p:spPr>
        <p:txBody>
          <a:bodyPr wrap="square" lIns="0" tIns="0" rIns="0" bIns="0" rtlCol="0" anchor="t"/>
          <a:lstStyle/>
          <a:p>
            <a:pPr indent="0" marL="0">
              <a:buNone/>
            </a:pPr>
            <a:r>
              <a:rPr lang="en-US" sz="1400" dirty="0">
                <a:solidFill>
                  <a:schemeClr val="bg1"/>
                </a:solidFill>
                <a:latin typeface="Cambria" pitchFamily="34" charset="0"/>
                <a:ea typeface="Cambria" pitchFamily="34" charset="-122"/>
                <a:cs typeface="Cambria" pitchFamily="34" charset="-120"/>
              </a:rPr>
              <a:t>Threads saved results as they finished (e.g. 3, 1, 0, 2), but merging assumed order 0 to 3. Keypoints could land in the wrong quadrant.</a:t>
            </a:r>
            <a:endParaRPr lang="en-US" sz="1400" dirty="0"/>
          </a:p>
        </p:txBody>
      </p:sp>
      <p:sp>
        <p:nvSpPr>
          <p:cNvPr id="8" name="card-173"/>
          <p:cNvSpPr/>
          <p:nvPr/>
        </p:nvSpPr>
        <p:spPr>
          <a:xfrm>
            <a:off x="3246120" y="1234440"/>
            <a:ext cx="2606040" cy="3108960"/>
          </a:xfrm>
          <a:prstGeom prst="roundRect">
            <a:avLst>
              <a:gd name="adj" fmla="val 2807"/>
            </a:avLst>
          </a:prstGeom>
          <a:solidFill>
            <a:schemeClr val="accent6"/>
          </a:solidFill>
          <a:ln/>
        </p:spPr>
      </p:sp>
      <p:sp>
        <p:nvSpPr>
          <p:cNvPr id="9" name="icon-bg-174"/>
          <p:cNvSpPr/>
          <p:nvPr/>
        </p:nvSpPr>
        <p:spPr>
          <a:xfrm>
            <a:off x="3474720" y="1463040"/>
            <a:ext cx="548640" cy="548640"/>
          </a:xfrm>
          <a:prstGeom prst="ellipse">
            <a:avLst/>
          </a:prstGeom>
          <a:solidFill>
            <a:schemeClr val="accent1"/>
          </a:solidFill>
          <a:ln/>
        </p:spPr>
      </p:sp>
      <p:pic>
        <p:nvPicPr>
          <p:cNvPr id="10" name="icon-175" descr="preencoded.png">    </p:cNvPr>
          <p:cNvPicPr>
            <a:picLocks noChangeAspect="1"/>
          </p:cNvPicPr>
          <p:nvPr/>
        </p:nvPicPr>
        <p:blipFill>
          <a:blip r:embed="rId2"/>
          <a:stretch>
            <a:fillRect/>
          </a:stretch>
        </p:blipFill>
        <p:spPr>
          <a:xfrm>
            <a:off x="3595421" y="1583741"/>
            <a:ext cx="307238" cy="307238"/>
          </a:xfrm>
          <a:prstGeom prst="rect">
            <a:avLst/>
          </a:prstGeom>
        </p:spPr>
      </p:pic>
      <p:sp>
        <p:nvSpPr>
          <p:cNvPr id="11" name="text-176"/>
          <p:cNvSpPr txBox="1"/>
          <p:nvPr/>
        </p:nvSpPr>
        <p:spPr>
          <a:xfrm>
            <a:off x="3474720" y="2194560"/>
            <a:ext cx="2148840" cy="411480"/>
          </a:xfrm>
          <a:prstGeom prst="rect">
            <a:avLst/>
          </a:prstGeom>
          <a:noFill/>
          <a:ln/>
        </p:spPr>
        <p:txBody>
          <a:bodyPr wrap="square" lIns="0" tIns="0" rIns="0" bIns="0" rtlCol="0" anchor="ctr"/>
          <a:lstStyle/>
          <a:p>
            <a:pPr indent="0" marL="0">
              <a:buNone/>
            </a:pPr>
            <a:r>
              <a:rPr lang="en-US" sz="1800" b="1" dirty="0">
                <a:solidFill>
                  <a:schemeClr val="bg1"/>
                </a:solidFill>
                <a:latin typeface="Bahnschrift" pitchFamily="34" charset="0"/>
                <a:ea typeface="Bahnschrift" pitchFamily="34" charset="-122"/>
                <a:cs typeface="Bahnschrift" pitchFamily="34" charset="-120"/>
              </a:rPr>
              <a:t>Pickling error</a:t>
            </a:r>
            <a:endParaRPr lang="en-US" sz="1800" dirty="0"/>
          </a:p>
        </p:txBody>
      </p:sp>
      <p:sp>
        <p:nvSpPr>
          <p:cNvPr id="12" name="text-177"/>
          <p:cNvSpPr txBox="1"/>
          <p:nvPr/>
        </p:nvSpPr>
        <p:spPr>
          <a:xfrm>
            <a:off x="3474720" y="2651760"/>
            <a:ext cx="2148840" cy="1600200"/>
          </a:xfrm>
          <a:prstGeom prst="rect">
            <a:avLst/>
          </a:prstGeom>
          <a:noFill/>
          <a:ln/>
        </p:spPr>
        <p:txBody>
          <a:bodyPr wrap="square" lIns="0" tIns="0" rIns="0" bIns="0" rtlCol="0" anchor="t"/>
          <a:lstStyle/>
          <a:p>
            <a:pPr indent="0" marL="0">
              <a:buNone/>
            </a:pPr>
            <a:r>
              <a:rPr lang="en-US" sz="1400" dirty="0">
                <a:solidFill>
                  <a:schemeClr val="bg1"/>
                </a:solidFill>
                <a:latin typeface="Cambria" pitchFamily="34" charset="0"/>
                <a:ea typeface="Cambria" pitchFamily="34" charset="-122"/>
                <a:cs typeface="Cambria" pitchFamily="34" charset="-120"/>
              </a:rPr>
              <a:t>cv2.KeyPoint can't be pickled, which blocks saving results and multiprocessing. Fixed by passing plain tuples.</a:t>
            </a:r>
            <a:endParaRPr lang="en-US" sz="1400" dirty="0"/>
          </a:p>
        </p:txBody>
      </p:sp>
      <p:sp>
        <p:nvSpPr>
          <p:cNvPr id="13" name="card-178"/>
          <p:cNvSpPr/>
          <p:nvPr/>
        </p:nvSpPr>
        <p:spPr>
          <a:xfrm>
            <a:off x="6035040" y="1234440"/>
            <a:ext cx="2606040" cy="3108960"/>
          </a:xfrm>
          <a:prstGeom prst="roundRect">
            <a:avLst>
              <a:gd name="adj" fmla="val 2807"/>
            </a:avLst>
          </a:prstGeom>
          <a:solidFill>
            <a:schemeClr val="accent6"/>
          </a:solidFill>
          <a:ln/>
        </p:spPr>
      </p:sp>
      <p:sp>
        <p:nvSpPr>
          <p:cNvPr id="14" name="icon-bg-179"/>
          <p:cNvSpPr/>
          <p:nvPr/>
        </p:nvSpPr>
        <p:spPr>
          <a:xfrm>
            <a:off x="6263640" y="1463040"/>
            <a:ext cx="548640" cy="548640"/>
          </a:xfrm>
          <a:prstGeom prst="ellipse">
            <a:avLst/>
          </a:prstGeom>
          <a:solidFill>
            <a:schemeClr val="accent1"/>
          </a:solidFill>
          <a:ln/>
        </p:spPr>
      </p:sp>
      <p:pic>
        <p:nvPicPr>
          <p:cNvPr id="15" name="icon-180" descr="preencoded.png">    </p:cNvPr>
          <p:cNvPicPr>
            <a:picLocks noChangeAspect="1"/>
          </p:cNvPicPr>
          <p:nvPr/>
        </p:nvPicPr>
        <p:blipFill>
          <a:blip r:embed="rId3"/>
          <a:stretch>
            <a:fillRect/>
          </a:stretch>
        </p:blipFill>
        <p:spPr>
          <a:xfrm>
            <a:off x="6384341" y="1583741"/>
            <a:ext cx="307238" cy="307238"/>
          </a:xfrm>
          <a:prstGeom prst="rect">
            <a:avLst/>
          </a:prstGeom>
        </p:spPr>
      </p:pic>
      <p:sp>
        <p:nvSpPr>
          <p:cNvPr id="16" name="text-181"/>
          <p:cNvSpPr txBox="1"/>
          <p:nvPr/>
        </p:nvSpPr>
        <p:spPr>
          <a:xfrm>
            <a:off x="6263640" y="2194560"/>
            <a:ext cx="2148840" cy="411480"/>
          </a:xfrm>
          <a:prstGeom prst="rect">
            <a:avLst/>
          </a:prstGeom>
          <a:noFill/>
          <a:ln/>
        </p:spPr>
        <p:txBody>
          <a:bodyPr wrap="square" lIns="0" tIns="0" rIns="0" bIns="0" rtlCol="0" anchor="ctr"/>
          <a:lstStyle/>
          <a:p>
            <a:pPr indent="0" marL="0">
              <a:buNone/>
            </a:pPr>
            <a:r>
              <a:rPr lang="en-US" sz="1800" b="1" dirty="0">
                <a:solidFill>
                  <a:schemeClr val="bg1"/>
                </a:solidFill>
                <a:latin typeface="Bahnschrift" pitchFamily="34" charset="0"/>
                <a:ea typeface="Bahnschrift" pitchFamily="34" charset="-122"/>
                <a:cs typeface="Bahnschrift" pitchFamily="34" charset="-120"/>
              </a:rPr>
              <a:t>Matching crash</a:t>
            </a:r>
            <a:endParaRPr lang="en-US" sz="1800" dirty="0"/>
          </a:p>
        </p:txBody>
      </p:sp>
      <p:sp>
        <p:nvSpPr>
          <p:cNvPr id="17" name="text-182"/>
          <p:cNvSpPr txBox="1"/>
          <p:nvPr/>
        </p:nvSpPr>
        <p:spPr>
          <a:xfrm>
            <a:off x="6263640" y="2651760"/>
            <a:ext cx="2148840" cy="1600200"/>
          </a:xfrm>
          <a:prstGeom prst="rect">
            <a:avLst/>
          </a:prstGeom>
          <a:noFill/>
          <a:ln/>
        </p:spPr>
        <p:txBody>
          <a:bodyPr wrap="square" lIns="0" tIns="0" rIns="0" bIns="0" rtlCol="0" anchor="t"/>
          <a:lstStyle/>
          <a:p>
            <a:pPr indent="0" marL="0">
              <a:buNone/>
            </a:pPr>
            <a:r>
              <a:rPr lang="en-US" sz="1400" dirty="0">
                <a:solidFill>
                  <a:schemeClr val="bg1"/>
                </a:solidFill>
                <a:latin typeface="Cambria" pitchFamily="34" charset="0"/>
                <a:ea typeface="Cambria" pitchFamily="34" charset="-122"/>
                <a:cs typeface="Cambria" pitchFamily="34" charset="-120"/>
              </a:rPr>
              <a:t>The retrieval step passed the wrong image shape to perspectiveTransform.</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183"/>
          <p:cNvSpPr txBox="1"/>
          <p:nvPr/>
        </p:nvSpPr>
        <p:spPr>
          <a:xfrm>
            <a:off x="548640" y="1554480"/>
            <a:ext cx="8046720" cy="411480"/>
          </a:xfrm>
          <a:prstGeom prst="rect">
            <a:avLst/>
          </a:prstGeom>
          <a:noFill/>
          <a:ln/>
        </p:spPr>
        <p:txBody>
          <a:bodyPr wrap="square" lIns="0" tIns="0" rIns="0" bIns="0" rtlCol="0" anchor="ctr"/>
          <a:lstStyle/>
          <a:p>
            <a:pPr indent="0" marL="0">
              <a:buNone/>
            </a:pPr>
            <a:r>
              <a:rPr lang="en-US" sz="1800" dirty="0">
                <a:solidFill>
                  <a:schemeClr val="accent1"/>
                </a:solidFill>
                <a:latin typeface="Cambria" pitchFamily="34" charset="0"/>
                <a:ea typeface="Cambria" pitchFamily="34" charset="-122"/>
                <a:cs typeface="Cambria" pitchFamily="34" charset="-120"/>
              </a:rPr>
              <a:t>Part 5</a:t>
            </a:r>
            <a:endParaRPr lang="en-US" sz="1800" dirty="0"/>
          </a:p>
        </p:txBody>
      </p:sp>
      <p:sp>
        <p:nvSpPr>
          <p:cNvPr id="3" name="Text 0"/>
          <p:cNvSpPr/>
          <p:nvPr>
            <p:ph idx="100" type="title" hasCustomPrompt="1"/>
          </p:nvPr>
        </p:nvSpPr>
        <p:spPr>
          <a:xfrm>
            <a:off x="548640" y="2011680"/>
            <a:ext cx="8046720" cy="1097280"/>
          </a:xfrm>
          <a:prstGeom prst="rect">
            <a:avLst/>
          </a:prstGeom>
          <a:noFill/>
          <a:ln/>
        </p:spPr>
        <p:txBody>
          <a:bodyPr wrap="square" lIns="0" tIns="0" rIns="0" bIns="0" rtlCol="0" anchor="t"/>
          <a:lstStyle/>
          <a:p>
            <a:pPr algn="l" indent="0" marL="0">
              <a:buNone/>
            </a:pPr>
            <a:r>
              <a:rPr lang="en-US" sz="4000" b="1" dirty="0">
                <a:solidFill>
                  <a:schemeClr val="bg1"/>
                </a:solidFill>
              </a:rPr>
              <a:t>Conclusions and future work</a:t>
            </a:r>
            <a:endParaRPr lang="en-US" sz="4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bg1"/>
                </a:solidFill>
              </a:rPr>
              <a:t>Conclusions</a:t>
            </a:r>
            <a:endParaRPr lang="en-US" sz="3000" dirty="0"/>
          </a:p>
        </p:txBody>
      </p:sp>
      <p:sp>
        <p:nvSpPr>
          <p:cNvPr id="3" name="num-184"/>
          <p:cNvSpPr/>
          <p:nvPr/>
        </p:nvSpPr>
        <p:spPr>
          <a:xfrm>
            <a:off x="457200" y="1280160"/>
            <a:ext cx="548640" cy="548640"/>
          </a:xfrm>
          <a:prstGeom prst="ellipse">
            <a:avLst/>
          </a:prstGeom>
          <a:solidFill>
            <a:schemeClr val="accent1"/>
          </a:solidFill>
          <a:ln/>
        </p:spPr>
      </p:sp>
      <p:sp>
        <p:nvSpPr>
          <p:cNvPr id="4" name="text-185"/>
          <p:cNvSpPr txBox="1"/>
          <p:nvPr/>
        </p:nvSpPr>
        <p:spPr>
          <a:xfrm>
            <a:off x="457200" y="1280160"/>
            <a:ext cx="548640" cy="548640"/>
          </a:xfrm>
          <a:prstGeom prst="rect">
            <a:avLst/>
          </a:prstGeom>
          <a:noFill/>
          <a:ln/>
        </p:spPr>
        <p:txBody>
          <a:bodyPr wrap="square" lIns="0" tIns="0" rIns="0" bIns="0" rtlCol="0" anchor="ctr"/>
          <a:lstStyle/>
          <a:p>
            <a:pPr algn="ctr" indent="0" marL="0">
              <a:buNone/>
            </a:pPr>
            <a:r>
              <a:rPr lang="en-US" sz="2200" b="1" dirty="0">
                <a:solidFill>
                  <a:schemeClr val="tx1"/>
                </a:solidFill>
                <a:latin typeface="Bahnschrift" pitchFamily="34" charset="0"/>
                <a:ea typeface="Bahnschrift" pitchFamily="34" charset="-122"/>
                <a:cs typeface="Bahnschrift" pitchFamily="34" charset="-120"/>
              </a:rPr>
              <a:t>1</a:t>
            </a:r>
            <a:endParaRPr lang="en-US" sz="2200" dirty="0"/>
          </a:p>
        </p:txBody>
      </p:sp>
      <p:sp>
        <p:nvSpPr>
          <p:cNvPr id="5" name="text-186"/>
          <p:cNvSpPr txBox="1"/>
          <p:nvPr/>
        </p:nvSpPr>
        <p:spPr>
          <a:xfrm>
            <a:off x="1234440" y="1188720"/>
            <a:ext cx="7406640" cy="411480"/>
          </a:xfrm>
          <a:prstGeom prst="rect">
            <a:avLst/>
          </a:prstGeom>
          <a:noFill/>
          <a:ln/>
        </p:spPr>
        <p:txBody>
          <a:bodyPr wrap="square" lIns="0" tIns="0" rIns="0" bIns="0" rtlCol="0" anchor="ctr"/>
          <a:lstStyle/>
          <a:p>
            <a:pPr indent="0" marL="0">
              <a:buNone/>
            </a:pPr>
            <a:r>
              <a:rPr lang="en-US" sz="2000" b="1" dirty="0">
                <a:solidFill>
                  <a:schemeClr val="bg1"/>
                </a:solidFill>
                <a:latin typeface="Bahnschrift" pitchFamily="34" charset="0"/>
                <a:ea typeface="Bahnschrift" pitchFamily="34" charset="-122"/>
                <a:cs typeface="Bahnschrift" pitchFamily="34" charset="-120"/>
              </a:rPr>
              <a:t>The GIL, not the idea, sank 2023</a:t>
            </a:r>
            <a:endParaRPr lang="en-US" sz="2000" dirty="0"/>
          </a:p>
        </p:txBody>
      </p:sp>
      <p:sp>
        <p:nvSpPr>
          <p:cNvPr id="6" name="text-187"/>
          <p:cNvSpPr txBox="1"/>
          <p:nvPr/>
        </p:nvSpPr>
        <p:spPr>
          <a:xfrm>
            <a:off x="1234440" y="1600200"/>
            <a:ext cx="7406640" cy="365760"/>
          </a:xfrm>
          <a:prstGeom prst="rect">
            <a:avLst/>
          </a:prstGeom>
          <a:noFill/>
          <a:ln/>
        </p:spPr>
        <p:txBody>
          <a:bodyPr wrap="square" lIns="0" tIns="0" rIns="0" bIns="0" rtlCol="0" anchor="ctr"/>
          <a:lstStyle/>
          <a:p>
            <a:pPr indent="0" marL="0">
              <a:buNone/>
            </a:pPr>
            <a:r>
              <a:rPr lang="en-US" sz="1500" dirty="0">
                <a:solidFill>
                  <a:schemeClr val="bg2"/>
                </a:solidFill>
                <a:latin typeface="Cambria" pitchFamily="34" charset="0"/>
                <a:ea typeface="Cambria" pitchFamily="34" charset="-122"/>
                <a:cs typeface="Cambria" pitchFamily="34" charset="-120"/>
              </a:rPr>
              <a:t>Pure-Python loops on threads never used more than one core.</a:t>
            </a:r>
            <a:endParaRPr lang="en-US" sz="1500" dirty="0"/>
          </a:p>
        </p:txBody>
      </p:sp>
      <p:sp>
        <p:nvSpPr>
          <p:cNvPr id="7" name="num-188"/>
          <p:cNvSpPr/>
          <p:nvPr/>
        </p:nvSpPr>
        <p:spPr>
          <a:xfrm>
            <a:off x="457200" y="2377440"/>
            <a:ext cx="548640" cy="548640"/>
          </a:xfrm>
          <a:prstGeom prst="ellipse">
            <a:avLst/>
          </a:prstGeom>
          <a:solidFill>
            <a:schemeClr val="accent1"/>
          </a:solidFill>
          <a:ln/>
        </p:spPr>
      </p:sp>
      <p:sp>
        <p:nvSpPr>
          <p:cNvPr id="8" name="text-189"/>
          <p:cNvSpPr txBox="1"/>
          <p:nvPr/>
        </p:nvSpPr>
        <p:spPr>
          <a:xfrm>
            <a:off x="457200" y="2377440"/>
            <a:ext cx="548640" cy="548640"/>
          </a:xfrm>
          <a:prstGeom prst="rect">
            <a:avLst/>
          </a:prstGeom>
          <a:noFill/>
          <a:ln/>
        </p:spPr>
        <p:txBody>
          <a:bodyPr wrap="square" lIns="0" tIns="0" rIns="0" bIns="0" rtlCol="0" anchor="ctr"/>
          <a:lstStyle/>
          <a:p>
            <a:pPr algn="ctr" indent="0" marL="0">
              <a:buNone/>
            </a:pPr>
            <a:r>
              <a:rPr lang="en-US" sz="2200" b="1" dirty="0">
                <a:solidFill>
                  <a:schemeClr val="tx1"/>
                </a:solidFill>
                <a:latin typeface="Bahnschrift" pitchFamily="34" charset="0"/>
                <a:ea typeface="Bahnschrift" pitchFamily="34" charset="-122"/>
                <a:cs typeface="Bahnschrift" pitchFamily="34" charset="-120"/>
              </a:rPr>
              <a:t>2</a:t>
            </a:r>
            <a:endParaRPr lang="en-US" sz="2200" dirty="0"/>
          </a:p>
        </p:txBody>
      </p:sp>
      <p:sp>
        <p:nvSpPr>
          <p:cNvPr id="9" name="text-190"/>
          <p:cNvSpPr txBox="1"/>
          <p:nvPr/>
        </p:nvSpPr>
        <p:spPr>
          <a:xfrm>
            <a:off x="1234440" y="2286000"/>
            <a:ext cx="7406640" cy="411480"/>
          </a:xfrm>
          <a:prstGeom prst="rect">
            <a:avLst/>
          </a:prstGeom>
          <a:noFill/>
          <a:ln/>
        </p:spPr>
        <p:txBody>
          <a:bodyPr wrap="square" lIns="0" tIns="0" rIns="0" bIns="0" rtlCol="0" anchor="ctr"/>
          <a:lstStyle/>
          <a:p>
            <a:pPr indent="0" marL="0">
              <a:buNone/>
            </a:pPr>
            <a:r>
              <a:rPr lang="en-US" sz="2000" b="1" dirty="0">
                <a:solidFill>
                  <a:schemeClr val="bg1"/>
                </a:solidFill>
                <a:latin typeface="Bahnschrift" pitchFamily="34" charset="0"/>
                <a:ea typeface="Bahnschrift" pitchFamily="34" charset="-122"/>
                <a:cs typeface="Bahnschrift" pitchFamily="34" charset="-120"/>
              </a:rPr>
              <a:t>The small 2023 gain came from tiling</a:t>
            </a:r>
            <a:endParaRPr lang="en-US" sz="2000" dirty="0"/>
          </a:p>
        </p:txBody>
      </p:sp>
      <p:sp>
        <p:nvSpPr>
          <p:cNvPr id="10" name="text-191"/>
          <p:cNvSpPr txBox="1"/>
          <p:nvPr/>
        </p:nvSpPr>
        <p:spPr>
          <a:xfrm>
            <a:off x="1234440" y="2697480"/>
            <a:ext cx="7406640" cy="365760"/>
          </a:xfrm>
          <a:prstGeom prst="rect">
            <a:avLst/>
          </a:prstGeom>
          <a:noFill/>
          <a:ln/>
        </p:spPr>
        <p:txBody>
          <a:bodyPr wrap="square" lIns="0" tIns="0" rIns="0" bIns="0" rtlCol="0" anchor="ctr"/>
          <a:lstStyle/>
          <a:p>
            <a:pPr indent="0" marL="0">
              <a:buNone/>
            </a:pPr>
            <a:r>
              <a:rPr lang="en-US" sz="1500" dirty="0">
                <a:solidFill>
                  <a:schemeClr val="bg2"/>
                </a:solidFill>
                <a:latin typeface="Cambria" pitchFamily="34" charset="0"/>
                <a:ea typeface="Cambria" pitchFamily="34" charset="-122"/>
                <a:cs typeface="Cambria" pitchFamily="34" charset="-120"/>
              </a:rPr>
              <a:t>Fewer keypoints meant less work, at the cost of accuracy.</a:t>
            </a:r>
            <a:endParaRPr lang="en-US" sz="1500" dirty="0"/>
          </a:p>
        </p:txBody>
      </p:sp>
      <p:sp>
        <p:nvSpPr>
          <p:cNvPr id="11" name="num-192"/>
          <p:cNvSpPr/>
          <p:nvPr/>
        </p:nvSpPr>
        <p:spPr>
          <a:xfrm>
            <a:off x="457200" y="3474720"/>
            <a:ext cx="548640" cy="548640"/>
          </a:xfrm>
          <a:prstGeom prst="ellipse">
            <a:avLst/>
          </a:prstGeom>
          <a:solidFill>
            <a:schemeClr val="accent1"/>
          </a:solidFill>
          <a:ln/>
        </p:spPr>
      </p:sp>
      <p:sp>
        <p:nvSpPr>
          <p:cNvPr id="12" name="text-193"/>
          <p:cNvSpPr txBox="1"/>
          <p:nvPr/>
        </p:nvSpPr>
        <p:spPr>
          <a:xfrm>
            <a:off x="457200" y="3474720"/>
            <a:ext cx="548640" cy="548640"/>
          </a:xfrm>
          <a:prstGeom prst="rect">
            <a:avLst/>
          </a:prstGeom>
          <a:noFill/>
          <a:ln/>
        </p:spPr>
        <p:txBody>
          <a:bodyPr wrap="square" lIns="0" tIns="0" rIns="0" bIns="0" rtlCol="0" anchor="ctr"/>
          <a:lstStyle/>
          <a:p>
            <a:pPr algn="ctr" indent="0" marL="0">
              <a:buNone/>
            </a:pPr>
            <a:r>
              <a:rPr lang="en-US" sz="2200" b="1" dirty="0">
                <a:solidFill>
                  <a:schemeClr val="tx1"/>
                </a:solidFill>
                <a:latin typeface="Bahnschrift" pitchFamily="34" charset="0"/>
                <a:ea typeface="Bahnschrift" pitchFamily="34" charset="-122"/>
                <a:cs typeface="Bahnschrift" pitchFamily="34" charset="-120"/>
              </a:rPr>
              <a:t>3</a:t>
            </a:r>
            <a:endParaRPr lang="en-US" sz="2200" dirty="0"/>
          </a:p>
        </p:txBody>
      </p:sp>
      <p:sp>
        <p:nvSpPr>
          <p:cNvPr id="13" name="text-194"/>
          <p:cNvSpPr txBox="1"/>
          <p:nvPr/>
        </p:nvSpPr>
        <p:spPr>
          <a:xfrm>
            <a:off x="1234440" y="3383280"/>
            <a:ext cx="7406640" cy="411480"/>
          </a:xfrm>
          <a:prstGeom prst="rect">
            <a:avLst/>
          </a:prstGeom>
          <a:noFill/>
          <a:ln/>
        </p:spPr>
        <p:txBody>
          <a:bodyPr wrap="square" lIns="0" tIns="0" rIns="0" bIns="0" rtlCol="0" anchor="ctr"/>
          <a:lstStyle/>
          <a:p>
            <a:pPr indent="0" marL="0">
              <a:buNone/>
            </a:pPr>
            <a:r>
              <a:rPr lang="en-US" sz="2000" b="1" dirty="0">
                <a:solidFill>
                  <a:schemeClr val="bg1"/>
                </a:solidFill>
                <a:latin typeface="Bahnschrift" pitchFamily="34" charset="0"/>
                <a:ea typeface="Bahnschrift" pitchFamily="34" charset="-122"/>
                <a:cs typeface="Bahnschrift" pitchFamily="34" charset="-120"/>
              </a:rPr>
              <a:t>Real parallelism works</a:t>
            </a:r>
            <a:endParaRPr lang="en-US" sz="2000" dirty="0"/>
          </a:p>
        </p:txBody>
      </p:sp>
      <p:sp>
        <p:nvSpPr>
          <p:cNvPr id="14" name="text-195"/>
          <p:cNvSpPr txBox="1"/>
          <p:nvPr/>
        </p:nvSpPr>
        <p:spPr>
          <a:xfrm>
            <a:off x="1234440" y="3794760"/>
            <a:ext cx="7406640" cy="365760"/>
          </a:xfrm>
          <a:prstGeom prst="rect">
            <a:avLst/>
          </a:prstGeom>
          <a:noFill/>
          <a:ln/>
        </p:spPr>
        <p:txBody>
          <a:bodyPr wrap="square" lIns="0" tIns="0" rIns="0" bIns="0" rtlCol="0" anchor="ctr"/>
          <a:lstStyle/>
          <a:p>
            <a:pPr indent="0" marL="0">
              <a:buNone/>
            </a:pPr>
            <a:r>
              <a:rPr lang="en-US" sz="1500" dirty="0">
                <a:solidFill>
                  <a:schemeClr val="bg2"/>
                </a:solidFill>
                <a:latin typeface="Cambria" pitchFamily="34" charset="0"/>
                <a:ea typeface="Cambria" pitchFamily="34" charset="-122"/>
                <a:cs typeface="Cambria" pitchFamily="34" charset="-120"/>
              </a:rPr>
              <a:t>Processes: 6.65×. No-GIL threads: 5.82×. 16 tiles beat 4.</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bg1"/>
                </a:solidFill>
              </a:rPr>
              <a:t>Future work</a:t>
            </a:r>
            <a:endParaRPr lang="en-US" sz="3000" dirty="0"/>
          </a:p>
        </p:txBody>
      </p:sp>
      <p:sp>
        <p:nvSpPr>
          <p:cNvPr id="3" name="card-196"/>
          <p:cNvSpPr/>
          <p:nvPr/>
        </p:nvSpPr>
        <p:spPr>
          <a:xfrm>
            <a:off x="457200" y="1143000"/>
            <a:ext cx="4023360" cy="1463040"/>
          </a:xfrm>
          <a:prstGeom prst="roundRect">
            <a:avLst>
              <a:gd name="adj" fmla="val 5000"/>
            </a:avLst>
          </a:prstGeom>
          <a:solidFill>
            <a:schemeClr val="accent6"/>
          </a:solidFill>
          <a:ln/>
        </p:spPr>
      </p:sp>
      <p:sp>
        <p:nvSpPr>
          <p:cNvPr id="4" name="icon-bg-197"/>
          <p:cNvSpPr/>
          <p:nvPr/>
        </p:nvSpPr>
        <p:spPr>
          <a:xfrm>
            <a:off x="640080" y="1325880"/>
            <a:ext cx="502920" cy="502920"/>
          </a:xfrm>
          <a:prstGeom prst="ellipse">
            <a:avLst/>
          </a:prstGeom>
          <a:solidFill>
            <a:schemeClr val="accent1"/>
          </a:solidFill>
          <a:ln/>
        </p:spPr>
      </p:sp>
      <p:pic>
        <p:nvPicPr>
          <p:cNvPr id="5" name="icon-198" descr="preencoded.png">    </p:cNvPr>
          <p:cNvPicPr>
            <a:picLocks noChangeAspect="1"/>
          </p:cNvPicPr>
          <p:nvPr/>
        </p:nvPicPr>
        <p:blipFill>
          <a:blip r:embed="rId1"/>
          <a:stretch>
            <a:fillRect/>
          </a:stretch>
        </p:blipFill>
        <p:spPr>
          <a:xfrm>
            <a:off x="750722" y="1436522"/>
            <a:ext cx="281635" cy="281635"/>
          </a:xfrm>
          <a:prstGeom prst="rect">
            <a:avLst/>
          </a:prstGeom>
        </p:spPr>
      </p:pic>
      <p:sp>
        <p:nvSpPr>
          <p:cNvPr id="6" name="text-199"/>
          <p:cNvSpPr txBox="1"/>
          <p:nvPr/>
        </p:nvSpPr>
        <p:spPr>
          <a:xfrm>
            <a:off x="1325880" y="1325880"/>
            <a:ext cx="3017520" cy="365760"/>
          </a:xfrm>
          <a:prstGeom prst="rect">
            <a:avLst/>
          </a:prstGeom>
          <a:noFill/>
          <a:ln/>
        </p:spPr>
        <p:txBody>
          <a:bodyPr wrap="square" lIns="0" tIns="0" rIns="0" bIns="0" rtlCol="0" anchor="ctr"/>
          <a:lstStyle/>
          <a:p>
            <a:pPr indent="0" marL="0">
              <a:buNone/>
            </a:pPr>
            <a:r>
              <a:rPr lang="en-US" sz="1700" b="1" dirty="0">
                <a:solidFill>
                  <a:schemeClr val="bg1"/>
                </a:solidFill>
                <a:latin typeface="Bahnschrift" pitchFamily="34" charset="0"/>
                <a:ea typeface="Bahnschrift" pitchFamily="34" charset="-122"/>
                <a:cs typeface="Bahnschrift" pitchFamily="34" charset="-120"/>
              </a:rPr>
              <a:t>Get further around the GIL</a:t>
            </a:r>
            <a:endParaRPr lang="en-US" sz="1700" dirty="0"/>
          </a:p>
        </p:txBody>
      </p:sp>
      <p:sp>
        <p:nvSpPr>
          <p:cNvPr id="7" name="text-200"/>
          <p:cNvSpPr txBox="1"/>
          <p:nvPr/>
        </p:nvSpPr>
        <p:spPr>
          <a:xfrm>
            <a:off x="1325880" y="1709928"/>
            <a:ext cx="3017520" cy="822960"/>
          </a:xfrm>
          <a:prstGeom prst="rect">
            <a:avLst/>
          </a:prstGeom>
          <a:noFill/>
          <a:ln/>
        </p:spPr>
        <p:txBody>
          <a:bodyPr wrap="square" lIns="0" tIns="0" rIns="0" bIns="0" rtlCol="0" anchor="t"/>
          <a:lstStyle/>
          <a:p>
            <a:pPr indent="0" marL="0">
              <a:buNone/>
            </a:pPr>
            <a:r>
              <a:rPr lang="en-US" sz="1300" dirty="0">
                <a:solidFill>
                  <a:schemeClr val="bg1"/>
                </a:solidFill>
                <a:latin typeface="Cambria" pitchFamily="34" charset="0"/>
                <a:ea typeface="Cambria" pitchFamily="34" charset="-122"/>
                <a:cs typeface="Cambria" pitchFamily="34" charset="-120"/>
              </a:rPr>
              <a:t>Compile hot loops with Numba or Cython so they release the GIL; vectorise with NumPy; scale across machines</a:t>
            </a:r>
            <a:endParaRPr lang="en-US" sz="1300" dirty="0"/>
          </a:p>
        </p:txBody>
      </p:sp>
      <p:sp>
        <p:nvSpPr>
          <p:cNvPr id="8" name="card-201"/>
          <p:cNvSpPr/>
          <p:nvPr/>
        </p:nvSpPr>
        <p:spPr>
          <a:xfrm>
            <a:off x="4663440" y="1143000"/>
            <a:ext cx="4023360" cy="1463040"/>
          </a:xfrm>
          <a:prstGeom prst="roundRect">
            <a:avLst>
              <a:gd name="adj" fmla="val 5000"/>
            </a:avLst>
          </a:prstGeom>
          <a:solidFill>
            <a:schemeClr val="accent6"/>
          </a:solidFill>
          <a:ln/>
        </p:spPr>
      </p:sp>
      <p:sp>
        <p:nvSpPr>
          <p:cNvPr id="9" name="icon-bg-202"/>
          <p:cNvSpPr/>
          <p:nvPr/>
        </p:nvSpPr>
        <p:spPr>
          <a:xfrm>
            <a:off x="4846320" y="1325880"/>
            <a:ext cx="502920" cy="502920"/>
          </a:xfrm>
          <a:prstGeom prst="ellipse">
            <a:avLst/>
          </a:prstGeom>
          <a:solidFill>
            <a:schemeClr val="accent1"/>
          </a:solidFill>
          <a:ln/>
        </p:spPr>
      </p:sp>
      <p:pic>
        <p:nvPicPr>
          <p:cNvPr id="10" name="icon-203" descr="preencoded.png">    </p:cNvPr>
          <p:cNvPicPr>
            <a:picLocks noChangeAspect="1"/>
          </p:cNvPicPr>
          <p:nvPr/>
        </p:nvPicPr>
        <p:blipFill>
          <a:blip r:embed="rId2"/>
          <a:stretch>
            <a:fillRect/>
          </a:stretch>
        </p:blipFill>
        <p:spPr>
          <a:xfrm>
            <a:off x="4956962" y="1436522"/>
            <a:ext cx="281635" cy="281635"/>
          </a:xfrm>
          <a:prstGeom prst="rect">
            <a:avLst/>
          </a:prstGeom>
        </p:spPr>
      </p:pic>
      <p:sp>
        <p:nvSpPr>
          <p:cNvPr id="11" name="text-204"/>
          <p:cNvSpPr txBox="1"/>
          <p:nvPr/>
        </p:nvSpPr>
        <p:spPr>
          <a:xfrm>
            <a:off x="5532120" y="1325880"/>
            <a:ext cx="3017520" cy="365760"/>
          </a:xfrm>
          <a:prstGeom prst="rect">
            <a:avLst/>
          </a:prstGeom>
          <a:noFill/>
          <a:ln/>
        </p:spPr>
        <p:txBody>
          <a:bodyPr wrap="square" lIns="0" tIns="0" rIns="0" bIns="0" rtlCol="0" anchor="ctr"/>
          <a:lstStyle/>
          <a:p>
            <a:pPr indent="0" marL="0">
              <a:buNone/>
            </a:pPr>
            <a:r>
              <a:rPr lang="en-US" sz="1700" b="1" dirty="0">
                <a:solidFill>
                  <a:schemeClr val="bg1"/>
                </a:solidFill>
                <a:latin typeface="Bahnschrift" pitchFamily="34" charset="0"/>
                <a:ea typeface="Bahnschrift" pitchFamily="34" charset="-122"/>
                <a:cs typeface="Bahnschrift" pitchFamily="34" charset="-120"/>
              </a:rPr>
              <a:t>Move SIFT to a GPU</a:t>
            </a:r>
            <a:endParaRPr lang="en-US" sz="1700" dirty="0"/>
          </a:p>
        </p:txBody>
      </p:sp>
      <p:sp>
        <p:nvSpPr>
          <p:cNvPr id="12" name="text-205"/>
          <p:cNvSpPr txBox="1"/>
          <p:nvPr/>
        </p:nvSpPr>
        <p:spPr>
          <a:xfrm>
            <a:off x="5532120" y="1709928"/>
            <a:ext cx="3017520" cy="822960"/>
          </a:xfrm>
          <a:prstGeom prst="rect">
            <a:avLst/>
          </a:prstGeom>
          <a:noFill/>
          <a:ln/>
        </p:spPr>
        <p:txBody>
          <a:bodyPr wrap="square" lIns="0" tIns="0" rIns="0" bIns="0" rtlCol="0" anchor="t"/>
          <a:lstStyle/>
          <a:p>
            <a:pPr indent="0" marL="0">
              <a:buNone/>
            </a:pPr>
            <a:r>
              <a:rPr lang="en-US" sz="1300" dirty="0">
                <a:solidFill>
                  <a:schemeClr val="bg1"/>
                </a:solidFill>
                <a:latin typeface="Cambria" pitchFamily="34" charset="0"/>
                <a:ea typeface="Cambria" pitchFamily="34" charset="-122"/>
                <a:cs typeface="Cambria" pitchFamily="34" charset="-120"/>
              </a:rPr>
              <a:t>Per-pixel and per-keypoint work is ideal for GPUs (e.g. CudaSift, PopSift). Batch images to hide transfer costs</a:t>
            </a:r>
            <a:endParaRPr lang="en-US" sz="1300" dirty="0"/>
          </a:p>
        </p:txBody>
      </p:sp>
      <p:sp>
        <p:nvSpPr>
          <p:cNvPr id="13" name="card-206"/>
          <p:cNvSpPr/>
          <p:nvPr/>
        </p:nvSpPr>
        <p:spPr>
          <a:xfrm>
            <a:off x="457200" y="2743200"/>
            <a:ext cx="4023360" cy="1463040"/>
          </a:xfrm>
          <a:prstGeom prst="roundRect">
            <a:avLst>
              <a:gd name="adj" fmla="val 5000"/>
            </a:avLst>
          </a:prstGeom>
          <a:solidFill>
            <a:schemeClr val="accent6"/>
          </a:solidFill>
          <a:ln/>
        </p:spPr>
      </p:sp>
      <p:sp>
        <p:nvSpPr>
          <p:cNvPr id="14" name="icon-bg-207"/>
          <p:cNvSpPr/>
          <p:nvPr/>
        </p:nvSpPr>
        <p:spPr>
          <a:xfrm>
            <a:off x="640080" y="2926080"/>
            <a:ext cx="502920" cy="502920"/>
          </a:xfrm>
          <a:prstGeom prst="ellipse">
            <a:avLst/>
          </a:prstGeom>
          <a:solidFill>
            <a:schemeClr val="accent1"/>
          </a:solidFill>
          <a:ln/>
        </p:spPr>
      </p:sp>
      <p:pic>
        <p:nvPicPr>
          <p:cNvPr id="15" name="icon-208" descr="preencoded.png">    </p:cNvPr>
          <p:cNvPicPr>
            <a:picLocks noChangeAspect="1"/>
          </p:cNvPicPr>
          <p:nvPr/>
        </p:nvPicPr>
        <p:blipFill>
          <a:blip r:embed="rId3"/>
          <a:stretch>
            <a:fillRect/>
          </a:stretch>
        </p:blipFill>
        <p:spPr>
          <a:xfrm>
            <a:off x="750722" y="3036722"/>
            <a:ext cx="281635" cy="281635"/>
          </a:xfrm>
          <a:prstGeom prst="rect">
            <a:avLst/>
          </a:prstGeom>
        </p:spPr>
      </p:pic>
      <p:sp>
        <p:nvSpPr>
          <p:cNvPr id="16" name="text-209"/>
          <p:cNvSpPr txBox="1"/>
          <p:nvPr/>
        </p:nvSpPr>
        <p:spPr>
          <a:xfrm>
            <a:off x="1325880" y="2926080"/>
            <a:ext cx="3017520" cy="365760"/>
          </a:xfrm>
          <a:prstGeom prst="rect">
            <a:avLst/>
          </a:prstGeom>
          <a:noFill/>
          <a:ln/>
        </p:spPr>
        <p:txBody>
          <a:bodyPr wrap="square" lIns="0" tIns="0" rIns="0" bIns="0" rtlCol="0" anchor="ctr"/>
          <a:lstStyle/>
          <a:p>
            <a:pPr indent="0" marL="0">
              <a:buNone/>
            </a:pPr>
            <a:r>
              <a:rPr lang="en-US" sz="1700" b="1" dirty="0">
                <a:solidFill>
                  <a:schemeClr val="bg1"/>
                </a:solidFill>
                <a:latin typeface="Bahnschrift" pitchFamily="34" charset="0"/>
                <a:ea typeface="Bahnschrift" pitchFamily="34" charset="-122"/>
                <a:cs typeface="Bahnschrift" pitchFamily="34" charset="-120"/>
              </a:rPr>
              <a:t>Stop losing keypoints</a:t>
            </a:r>
            <a:endParaRPr lang="en-US" sz="1700" dirty="0"/>
          </a:p>
        </p:txBody>
      </p:sp>
      <p:sp>
        <p:nvSpPr>
          <p:cNvPr id="17" name="text-210"/>
          <p:cNvSpPr txBox="1"/>
          <p:nvPr/>
        </p:nvSpPr>
        <p:spPr>
          <a:xfrm>
            <a:off x="1325880" y="3310128"/>
            <a:ext cx="3017520" cy="822960"/>
          </a:xfrm>
          <a:prstGeom prst="rect">
            <a:avLst/>
          </a:prstGeom>
          <a:noFill/>
          <a:ln/>
        </p:spPr>
        <p:txBody>
          <a:bodyPr wrap="square" lIns="0" tIns="0" rIns="0" bIns="0" rtlCol="0" anchor="t"/>
          <a:lstStyle/>
          <a:p>
            <a:pPr indent="0" marL="0">
              <a:buNone/>
            </a:pPr>
            <a:r>
              <a:rPr lang="en-US" sz="1300" dirty="0">
                <a:solidFill>
                  <a:schemeClr val="bg1"/>
                </a:solidFill>
                <a:latin typeface="Cambria" pitchFamily="34" charset="0"/>
                <a:ea typeface="Cambria" pitchFamily="34" charset="-122"/>
                <a:cs typeface="Cambria" pitchFamily="34" charset="-120"/>
              </a:rPr>
              <a:t>Overlapping tiles plus NMS across seams, or detect on the whole image and parallelise only descriptors</a:t>
            </a:r>
            <a:endParaRPr lang="en-US" sz="1300" dirty="0"/>
          </a:p>
        </p:txBody>
      </p:sp>
      <p:sp>
        <p:nvSpPr>
          <p:cNvPr id="18" name="card-211"/>
          <p:cNvSpPr/>
          <p:nvPr/>
        </p:nvSpPr>
        <p:spPr>
          <a:xfrm>
            <a:off x="4663440" y="2743200"/>
            <a:ext cx="4023360" cy="1463040"/>
          </a:xfrm>
          <a:prstGeom prst="roundRect">
            <a:avLst>
              <a:gd name="adj" fmla="val 5000"/>
            </a:avLst>
          </a:prstGeom>
          <a:solidFill>
            <a:schemeClr val="accent6"/>
          </a:solidFill>
          <a:ln/>
        </p:spPr>
      </p:sp>
      <p:sp>
        <p:nvSpPr>
          <p:cNvPr id="19" name="icon-bg-212"/>
          <p:cNvSpPr/>
          <p:nvPr/>
        </p:nvSpPr>
        <p:spPr>
          <a:xfrm>
            <a:off x="4846320" y="2926080"/>
            <a:ext cx="502920" cy="502920"/>
          </a:xfrm>
          <a:prstGeom prst="ellipse">
            <a:avLst/>
          </a:prstGeom>
          <a:solidFill>
            <a:schemeClr val="accent1"/>
          </a:solidFill>
          <a:ln/>
        </p:spPr>
      </p:sp>
      <p:pic>
        <p:nvPicPr>
          <p:cNvPr id="20" name="icon-213" descr="preencoded.png">    </p:cNvPr>
          <p:cNvPicPr>
            <a:picLocks noChangeAspect="1"/>
          </p:cNvPicPr>
          <p:nvPr/>
        </p:nvPicPr>
        <p:blipFill>
          <a:blip r:embed="rId4"/>
          <a:stretch>
            <a:fillRect/>
          </a:stretch>
        </p:blipFill>
        <p:spPr>
          <a:xfrm>
            <a:off x="4956962" y="3036722"/>
            <a:ext cx="281635" cy="281635"/>
          </a:xfrm>
          <a:prstGeom prst="rect">
            <a:avLst/>
          </a:prstGeom>
        </p:spPr>
      </p:pic>
      <p:sp>
        <p:nvSpPr>
          <p:cNvPr id="21" name="text-214"/>
          <p:cNvSpPr txBox="1"/>
          <p:nvPr/>
        </p:nvSpPr>
        <p:spPr>
          <a:xfrm>
            <a:off x="5532120" y="2926080"/>
            <a:ext cx="3017520" cy="365760"/>
          </a:xfrm>
          <a:prstGeom prst="rect">
            <a:avLst/>
          </a:prstGeom>
          <a:noFill/>
          <a:ln/>
        </p:spPr>
        <p:txBody>
          <a:bodyPr wrap="square" lIns="0" tIns="0" rIns="0" bIns="0" rtlCol="0" anchor="ctr"/>
          <a:lstStyle/>
          <a:p>
            <a:pPr indent="0" marL="0">
              <a:buNone/>
            </a:pPr>
            <a:r>
              <a:rPr lang="en-US" sz="1700" b="1" dirty="0">
                <a:solidFill>
                  <a:schemeClr val="bg1"/>
                </a:solidFill>
                <a:latin typeface="Bahnschrift" pitchFamily="34" charset="0"/>
                <a:ea typeface="Bahnschrift" pitchFamily="34" charset="-122"/>
                <a:cs typeface="Bahnschrift" pitchFamily="34" charset="-120"/>
              </a:rPr>
              <a:t>Measure retrieval quality</a:t>
            </a:r>
            <a:endParaRPr lang="en-US" sz="1700" dirty="0"/>
          </a:p>
        </p:txBody>
      </p:sp>
      <p:sp>
        <p:nvSpPr>
          <p:cNvPr id="22" name="text-215"/>
          <p:cNvSpPr txBox="1"/>
          <p:nvPr/>
        </p:nvSpPr>
        <p:spPr>
          <a:xfrm>
            <a:off x="5532120" y="3310128"/>
            <a:ext cx="3017520" cy="822960"/>
          </a:xfrm>
          <a:prstGeom prst="rect">
            <a:avLst/>
          </a:prstGeom>
          <a:noFill/>
          <a:ln/>
        </p:spPr>
        <p:txBody>
          <a:bodyPr wrap="square" lIns="0" tIns="0" rIns="0" bIns="0" rtlCol="0" anchor="t"/>
          <a:lstStyle/>
          <a:p>
            <a:pPr indent="0" marL="0">
              <a:buNone/>
            </a:pPr>
            <a:r>
              <a:rPr lang="en-US" sz="1300" dirty="0">
                <a:solidFill>
                  <a:schemeClr val="bg1"/>
                </a:solidFill>
                <a:latin typeface="Cambria" pitchFamily="34" charset="0"/>
                <a:ea typeface="Cambria" pitchFamily="34" charset="-122"/>
                <a:cs typeface="Cambria" pitchFamily="34" charset="-120"/>
              </a:rPr>
              <a:t>Rerun FLANN + RANSAC matching to see whether lost keypoints hurt accuracy</a:t>
            </a:r>
            <a:endParaRPr lang="en-US" sz="1300" dirty="0"/>
          </a:p>
        </p:txBody>
      </p:sp>
      <p:sp>
        <p:nvSpPr>
          <p:cNvPr id="23" name="text-216"/>
          <p:cNvSpPr txBox="1"/>
          <p:nvPr/>
        </p:nvSpPr>
        <p:spPr>
          <a:xfrm>
            <a:off x="457200" y="4343400"/>
            <a:ext cx="8229600" cy="320040"/>
          </a:xfrm>
          <a:prstGeom prst="rect">
            <a:avLst/>
          </a:prstGeom>
          <a:noFill/>
          <a:ln/>
        </p:spPr>
        <p:txBody>
          <a:bodyPr wrap="square" lIns="0" tIns="0" rIns="0" bIns="0" rtlCol="0" anchor="ctr"/>
          <a:lstStyle/>
          <a:p>
            <a:pPr indent="0" marL="0">
              <a:buNone/>
            </a:pPr>
            <a:r>
              <a:rPr lang="en-US" sz="1300" b="1" dirty="0">
                <a:solidFill>
                  <a:schemeClr val="accent1"/>
                </a:solidFill>
                <a:latin typeface="Cambria" pitchFamily="34" charset="0"/>
                <a:ea typeface="Cambria" pitchFamily="34" charset="-122"/>
                <a:cs typeface="Cambria" pitchFamily="34" charset="-120"/>
              </a:rPr>
              <a:t>Perspective: </a:t>
            </a:r>
            <a:pPr indent="0" marL="0">
              <a:buNone/>
            </a:pPr>
            <a:r>
              <a:rPr lang="en-US" sz="1300" dirty="0">
                <a:solidFill>
                  <a:schemeClr val="bg1"/>
                </a:solidFill>
                <a:latin typeface="Cambria" pitchFamily="34" charset="0"/>
                <a:ea typeface="Cambria" pitchFamily="34" charset="-122"/>
                <a:cs typeface="Cambria" pitchFamily="34" charset="-120"/>
              </a:rPr>
              <a:t>compiled C++ SIFT is about 600× faster (88 ms vs 52 s). Faster cores first, then more cores.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bg1"/>
                </a:solidFill>
              </a:rPr>
              <a:t>References</a:t>
            </a:r>
            <a:endParaRPr lang="en-US" sz="3000" dirty="0"/>
          </a:p>
        </p:txBody>
      </p:sp>
      <p:sp>
        <p:nvSpPr>
          <p:cNvPr id="3" name="text-217"/>
          <p:cNvSpPr txBox="1"/>
          <p:nvPr/>
        </p:nvSpPr>
        <p:spPr>
          <a:xfrm>
            <a:off x="457200" y="1143000"/>
            <a:ext cx="8229600" cy="3474720"/>
          </a:xfrm>
          <a:prstGeom prst="rect">
            <a:avLst/>
          </a:prstGeom>
          <a:noFill/>
          <a:ln/>
        </p:spPr>
        <p:txBody>
          <a:bodyPr wrap="square" lIns="0" tIns="0" rIns="0" bIns="0" rtlCol="0" anchor="t"/>
          <a:lstStyle/>
          <a:p>
            <a:pPr indent="0" marL="0">
              <a:spcAft>
                <a:spcPts val="600"/>
              </a:spcAft>
              <a:buNone/>
            </a:pPr>
            <a:r>
              <a:rPr lang="en-US" sz="1200" dirty="0">
                <a:solidFill>
                  <a:schemeClr val="bg1"/>
                </a:solidFill>
                <a:latin typeface="Cambria" pitchFamily="34" charset="0"/>
                <a:ea typeface="Cambria" pitchFamily="34" charset="-122"/>
                <a:cs typeface="Cambria" pitchFamily="34" charset="-120"/>
              </a:rPr>
              <a:t>[1] Statista, "Data growth worldwide 2010–2025." Accessed Nov. 2023.</a:t>
            </a:r>
            <a:endParaRPr lang="en-US" sz="1200" dirty="0"/>
          </a:p>
          <a:p>
            <a:pPr indent="0" marL="0">
              <a:spcAft>
                <a:spcPts val="600"/>
              </a:spcAft>
              <a:buNone/>
            </a:pPr>
            <a:r>
              <a:rPr lang="en-US" sz="1200" dirty="0">
                <a:solidFill>
                  <a:schemeClr val="bg1"/>
                </a:solidFill>
                <a:latin typeface="Cambria" pitchFamily="34" charset="0"/>
                <a:ea typeface="Cambria" pitchFamily="34" charset="-122"/>
                <a:cs typeface="Cambria" pitchFamily="34" charset="-120"/>
              </a:rPr>
              <a:t>[2] Baeldung, "What is content-based image retrieval?" Accessed Nov. 2023.</a:t>
            </a:r>
            <a:endParaRPr lang="en-US" sz="1200" dirty="0"/>
          </a:p>
          <a:p>
            <a:pPr indent="0" marL="0">
              <a:spcAft>
                <a:spcPts val="600"/>
              </a:spcAft>
              <a:buNone/>
            </a:pPr>
            <a:r>
              <a:rPr lang="en-US" sz="1200" dirty="0">
                <a:solidFill>
                  <a:schemeClr val="bg1"/>
                </a:solidFill>
                <a:latin typeface="Cambria" pitchFamily="34" charset="0"/>
                <a:ea typeface="Cambria" pitchFamily="34" charset="-122"/>
                <a:cs typeface="Cambria" pitchFamily="34" charset="-120"/>
              </a:rPr>
              <a:t>[3] G. Kumar, P. K. Bhatia, "A detailed review of feature extraction in image processing systems," ACCT, 2014.</a:t>
            </a:r>
            <a:endParaRPr lang="en-US" sz="1200" dirty="0"/>
          </a:p>
          <a:p>
            <a:pPr indent="0" marL="0">
              <a:spcAft>
                <a:spcPts val="600"/>
              </a:spcAft>
              <a:buNone/>
            </a:pPr>
            <a:r>
              <a:rPr lang="en-US" sz="1200" dirty="0">
                <a:solidFill>
                  <a:schemeClr val="bg1"/>
                </a:solidFill>
                <a:latin typeface="Cambria" pitchFamily="34" charset="0"/>
                <a:ea typeface="Cambria" pitchFamily="34" charset="-122"/>
                <a:cs typeface="Cambria" pitchFamily="34" charset="-120"/>
              </a:rPr>
              <a:t>[4] D. G. Lowe, "Object recognition from local scale-invariant features," ICCV, 1999.</a:t>
            </a:r>
            <a:endParaRPr lang="en-US" sz="1200" dirty="0"/>
          </a:p>
          <a:p>
            <a:pPr indent="0" marL="0">
              <a:spcAft>
                <a:spcPts val="600"/>
              </a:spcAft>
              <a:buNone/>
            </a:pPr>
            <a:r>
              <a:rPr lang="en-US" sz="1200" dirty="0">
                <a:solidFill>
                  <a:schemeClr val="bg1"/>
                </a:solidFill>
                <a:latin typeface="Cambria" pitchFamily="34" charset="0"/>
                <a:ea typeface="Cambria" pitchFamily="34" charset="-122"/>
                <a:cs typeface="Cambria" pitchFamily="34" charset="-120"/>
              </a:rPr>
              <a:t>[5] J. Hosang, R. Benenson, B. Schiele, "Learning non-maximum suppression," CVPR, 2017.</a:t>
            </a:r>
            <a:endParaRPr lang="en-US" sz="1200" dirty="0"/>
          </a:p>
          <a:p>
            <a:pPr indent="0" marL="0">
              <a:spcAft>
                <a:spcPts val="600"/>
              </a:spcAft>
              <a:buNone/>
            </a:pPr>
            <a:r>
              <a:rPr lang="en-US" sz="1200" dirty="0">
                <a:solidFill>
                  <a:schemeClr val="bg1"/>
                </a:solidFill>
                <a:latin typeface="Cambria" pitchFamily="34" charset="0"/>
                <a:ea typeface="Cambria" pitchFamily="34" charset="-122"/>
                <a:cs typeface="Cambria" pitchFamily="34" charset="-120"/>
              </a:rPr>
              <a:t>[6] M.-E. Nilsback, A. Zisserman, "Automated flower classification over a large number of classes," ICVGIP, 2008.</a:t>
            </a:r>
            <a:endParaRPr lang="en-US" sz="1200" dirty="0"/>
          </a:p>
          <a:p>
            <a:pPr indent="0" marL="0">
              <a:spcAft>
                <a:spcPts val="600"/>
              </a:spcAft>
              <a:buNone/>
            </a:pPr>
            <a:r>
              <a:rPr lang="en-US" sz="1200" dirty="0">
                <a:solidFill>
                  <a:schemeClr val="bg1"/>
                </a:solidFill>
                <a:latin typeface="Cambria" pitchFamily="34" charset="0"/>
                <a:ea typeface="Cambria" pitchFamily="34" charset="-122"/>
                <a:cs typeface="Cambria" pitchFamily="34" charset="-120"/>
              </a:rPr>
              <a:t>[7] S. Gross, "PEP 703: Making the Global Interpreter Lock optional in CPython," 2023.</a:t>
            </a:r>
            <a:endParaRPr lang="en-US" sz="1200" dirty="0"/>
          </a:p>
          <a:p>
            <a:pPr indent="0" marL="0">
              <a:spcAft>
                <a:spcPts val="600"/>
              </a:spcAft>
              <a:buNone/>
            </a:pPr>
            <a:r>
              <a:rPr lang="en-US" sz="1200" dirty="0">
                <a:solidFill>
                  <a:schemeClr val="bg1"/>
                </a:solidFill>
                <a:latin typeface="Cambria" pitchFamily="34" charset="0"/>
                <a:ea typeface="Cambria" pitchFamily="34" charset="-122"/>
                <a:cs typeface="Cambria" pitchFamily="34" charset="-120"/>
              </a:rPr>
              <a:t>[8] M. Singh et al., "A comparative study of feature extraction techniques and similarity measures for image retrieval," INCOFT, 2022.</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463040"/>
          </a:xfrm>
          <a:prstGeom prst="rect">
            <a:avLst/>
          </a:prstGeom>
          <a:noFill/>
          <a:ln/>
        </p:spPr>
        <p:txBody>
          <a:bodyPr wrap="square" lIns="0" tIns="0" rIns="0" bIns="0" rtlCol="0" anchor="b"/>
          <a:lstStyle/>
          <a:p>
            <a:pPr algn="l" indent="0" marL="0">
              <a:buNone/>
            </a:pPr>
            <a:r>
              <a:rPr lang="en-US" sz="4000" b="1" dirty="0">
                <a:solidFill>
                  <a:schemeClr val="bg1"/>
                </a:solidFill>
              </a:rPr>
              <a:t>Thank you</a:t>
            </a:r>
            <a:endParaRPr lang="en-US" sz="4000" dirty="0"/>
          </a:p>
        </p:txBody>
      </p:sp>
      <p:sp>
        <p:nvSpPr>
          <p:cNvPr id="3" name="Text 0"/>
          <p:cNvSpPr/>
          <p:nvPr>
            <p:ph idx="101" type="body" hasCustomPrompt="1"/>
          </p:nvPr>
        </p:nvSpPr>
        <p:spPr>
          <a:xfrm>
            <a:off x="548640" y="2834640"/>
            <a:ext cx="8046720" cy="548640"/>
          </a:xfrm>
          <a:prstGeom prst="rect">
            <a:avLst/>
          </a:prstGeom>
          <a:noFill/>
          <a:ln/>
        </p:spPr>
        <p:txBody>
          <a:bodyPr wrap="square" lIns="0" tIns="0" rIns="0" bIns="0" rtlCol="0"/>
          <a:lstStyle/>
          <a:p>
            <a:pPr indent="0" marL="0">
              <a:buNone/>
            </a:pPr>
            <a:r>
              <a:rPr lang="en-US" sz="2000" dirty="0">
                <a:solidFill>
                  <a:schemeClr val="accent1"/>
                </a:solidFill>
              </a:rPr>
              <a:t>github.com/musawaghu/parallel-sift</a:t>
            </a:r>
            <a:endParaRPr lang="en-US" sz="2000" dirty="0"/>
          </a:p>
        </p:txBody>
      </p:sp>
      <p:sp>
        <p:nvSpPr>
          <p:cNvPr id="4" name="text-218"/>
          <p:cNvSpPr txBox="1"/>
          <p:nvPr/>
        </p:nvSpPr>
        <p:spPr>
          <a:xfrm>
            <a:off x="548640" y="3749040"/>
            <a:ext cx="8046720" cy="548640"/>
          </a:xfrm>
          <a:prstGeom prst="rect">
            <a:avLst/>
          </a:prstGeom>
          <a:noFill/>
          <a:ln/>
        </p:spPr>
        <p:txBody>
          <a:bodyPr wrap="square" lIns="0" tIns="0" rIns="0" bIns="0" rtlCol="0" anchor="ctr"/>
          <a:lstStyle/>
          <a:p>
            <a:pPr indent="0" marL="0">
              <a:buNone/>
            </a:pPr>
            <a:r>
              <a:rPr lang="en-US" sz="1400" dirty="0">
                <a:solidFill>
                  <a:schemeClr val="bg2"/>
                </a:solidFill>
                <a:latin typeface="Cambria" pitchFamily="34" charset="0"/>
                <a:ea typeface="Cambria" pitchFamily="34" charset="-122"/>
                <a:cs typeface="Cambria" pitchFamily="34" charset="-120"/>
              </a:rPr>
              <a:t>NMS-SIFT code originally by Sairaj Jadhav and Dr. John Korah. Code, data, notebook and charts are in the repository.</a:t>
            </a:r>
            <a:endParaRPr lang="en-US" sz="1400" dirty="0"/>
          </a:p>
        </p:txBody>
      </p:sp>
    </p:spTree>
  </p:cSld>
  <p:clrMapOvr>
    <a:masterClrMapping/>
  </p:clrMapOvr>
</p:sld>
</file>

<file path=ppt/theme/theme1.xml><?xml version="1.0" encoding="utf-8"?>
<a:theme xmlns:a="http://schemas.openxmlformats.org/drawingml/2006/main" name="Parallel NMS-SIFT">
  <a:themeElements>
    <a:clrScheme name="Parallel NMS-SIFT">
      <a:dk1>
        <a:srgbClr val="263238"/>
      </a:dk1>
      <a:lt1>
        <a:srgbClr val="FFFFFF"/>
      </a:lt1>
      <a:dk2>
        <a:srgbClr val="37474F"/>
      </a:dk2>
      <a:lt2>
        <a:srgbClr val="CFD8DC"/>
      </a:lt2>
      <a:accent1>
        <a:srgbClr val="F2B830"/>
      </a:accent1>
      <a:accent2>
        <a:srgbClr val="3987E5"/>
      </a:accent2>
      <a:accent3>
        <a:srgbClr val="E8703A"/>
      </a:accent3>
      <a:accent4>
        <a:srgbClr val="25B07F"/>
      </a:accent4>
      <a:accent5>
        <a:srgbClr val="9AA5AB"/>
      </a:accent5>
      <a:accent6>
        <a:srgbClr val="455A64"/>
      </a:accent6>
      <a:hlink>
        <a:srgbClr val="F2B830"/>
      </a:hlink>
      <a:folHlink>
        <a:srgbClr val="F2B830"/>
      </a:folHlink>
    </a:clrScheme>
    <a:fontScheme name="Parallel NMS-SIFT">
      <a:majorFont>
        <a:latin typeface="Bahnschrif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mbri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Parallel NMS-SIFT for Content-Based Image Retrieval</dc:title>
  <dc:subject>PptxGenJS Presentation</dc:subject>
  <dc:creator>Musa Waghu</dc:creator>
  <cp:lastModifiedBy>Musa Waghu</cp:lastModifiedBy>
  <cp:revision>1</cp:revision>
  <dcterms:created xsi:type="dcterms:W3CDTF">2026-10-14T20:10:50Z</dcterms:created>
  <dcterms:modified xsi:type="dcterms:W3CDTF">2026-10-14T20:10:50Z</dcterms:modified>
</cp:coreProperties>
</file>